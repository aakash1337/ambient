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thesis
Cybic has a working, pre-existing voice-intelligence foundation. The unified customer-engagement platform is the next and substantially larger build. The purpose of this presentation is to show where the current work genuinely reduces delivery risk, where the patterns are reusable, and where new platform engineering is required.
Position this as a working prototype plus a proposed roadmap. Do not call the current demo an omnichannel platform or autonomous call 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statement
The requirement is not merely a voice bot, chatbot, or scheduling tool. The business problem is that customers encounter disconnected channels, systems, and employees. Information collected in one interaction is unavailable in the next; qualification is repeated after transfers; and scheduling, follow-up, and CRM changes require manual work.
The target is an identity-resolved customer-engagement platform that can operate as a 24/7 virtual sales and service representative while involving a person whenever customer preference, policy, confidence, or failure demands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North star
The unified customer and conversation record is the architectural center of the product, not a later integration. Every interaction is normalized into one timeline and linked, when safely possible, to a canonical customer profile.
Identity rules must include confidence, verification, consent, provenance, collision handling, manual review, and merge/unmerge controls. Caller ID is a useful candidate signal but must not authenticate sensitive changes.
Before every AI or employee interaction, assemble the authorized context packet shown on the slide, including prior purchases where relevant and source/freshness timestamps.
Google Business Messages, named in the original proposal, was discontinued on July 31, 2024. Select a current Google or third-party entry point during discovery. Official notice: https://developers.google.com/business-communications/business-messages/resources/release-notes/update-on-gbm?hl=en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 capability
The live repository captures both the agent microphone and customer/system audio from desktop softphones or WebRTC dialers without a telephony integration. It performs local speech transcription, detects information-seeking utterances, assembles a short current-session context window, generates concise answer cards, audits answers, recovers missed questions, and writes replayable local JSONL session logs.
Switchable Markdown profiles provide Topic, Background, and Vocabulary context. They are not an enterprise knowledge base or guided workflow builder.
An optional local Linux voice mode uses Kokoro with an espeak fallback. It plays through the workstation speakers; it does not inject speech into a phone media stream and is not full-duplex autonomous Voice AI.
Source: current Ambient repository and docs/demo/CALLCENTER-DEMO.md, reviewed August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Prototype evidence
The original call-center demo documents warm GPU transcription at approximately 0.2–0.3 seconds per utterance, local LLM gating at approximately 0.5–0.6 seconds, and a readable answer card approximately 3.5–4.5 seconds after the question ends. Audit correction, when required, runs behind the card; the missed-question sweep runs every 25 seconds.
The labelled balanced-mode gate evaluation set documented in the demo had 26 of 26 correct decisions and no false positives. This is a small internal set and must not be presented as a production accuracy claim.
Do not quote the stale automated-test count from the older HTML deck. Current engineering verification should be re-run before an external technical diligence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Selective alignment
Do not try to map every line of the proposal onto the demo. The current repository has direct overlap with a limited slice of the voice and conversation-intelligence layer, adjacent experience in a few operational patterns, and substantial non-overlap.
This is intentional. It shows prior experience without creating the impression that a deck or prototype was assembled to mirror the prospect's language. Most of the requested platform remains a meaningful implementation engagement.
Use the exact status vocabulary consistently: Demonstrated, Reusable pattern, Proposed MVP, and Later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Recommended live-demo sequence
1. Stage a caller, helpline, and call-center employee desktop.
2. Let the agent speak first and show that nothing appears; the information-request gate is the product.
3. Let the customer ask a clear question and show the concise answer card.
4. Ask an indirect or command-form question.
5. Ask a contextual follow-up.
6. Show profile switching, answer correction or missed-question recovery, and session replay if time allows.
Do not simulate CRM, booking, customer identity, warm transfer, or omnichannel continuity. The demo should establish the voice-intelligence foundation; the architecture and MVP slides explain how it is extended.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MVP customer journey
The customer discusses roof damage in web chat, provides and verifies a mobile number, then calls five minutes later. The AI or employee receives the earlier history and summary; qualification continues without repetition. Service-area, urgency, and required-skill rules are validated. The platform offers a valid representative and slot, receives confirmation once, updates the CRM, sends transactional SMS, and prepares a warm-transfer packet if escalation occurs.
This journey is proposed, not demonstrated today. It should be the principal MVP acceptance scenario because it tests persistent identity, cross-channel continuity, knowledge, qualification, policy, scheduling, CRM, messaging, handoff, and audit in one business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MVP boundary
The launch scope should be deliberately narrow while the data model and authorization boundaries remain ready for multiple companies, brands, locations, and business units. Select one CRM, one calendar ecosystem, and the most valuable three to five journeys during discovery.
Knowledge for MVP should support controlled ingestion, parsing, indexing, permission-aware retrieval, citations, versioning, administrator approval, publishing, rollback, and freshness checks. "Continuous learning" must mean approved knowledge and evaluation-driven improvement, not uncontrolled training from customer calls.
Website chat requires anonymous/authenticated session handling, cross-channel resume, and safe document/photo upload if included. File upload requires type/size validation, malware scanning, object storage, access control, and retention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architecture
Each channel has its own adapter but publishes the same canonical interaction event. The platform owns conversation history, summaries, consent evidence, AI decisions, and action audit. The CRM remains authoritative for contacts and opportunities; calendar and dispatch systems remain authoritative for availability.
Models never receive unrestricted CRM or database access. Tools must be tenant-scoped, least-privilege, schema-validated, idempotent, retryable, replay-protected, observable, and audited. Sensitive actions require customer confirmation or employee approval according to deterministic policy.
Long-running reminders, campaigns, retries, and follow-ups use a durable workflow engine—not model memory or an in-process queue. Production business actions must never be silently dropped.
The stack shown is directional and provider-adaptable, not a final commitment. Current Python/asyncio, Whisper, gate, answer, TTS, and test assets can inform reuse; the Textual UI, JSONL store, local playback, and command-line model invocation are not the production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Expansion detail
Scheduling should be a policy and optimization service, not merely a free-slot search. Separate hard constraints from weighted preferences; use temporary slot holds, concurrency controls, idempotent booking, explainable assignment, and explicit customer confirmation. The requested factors include duration, territory, ZIP, driving distance, travel time, GPS where available, representative/technician availability, specialization, skills, workload, priority, emergency status, and approved performance factors.
The connector framework should support lookup, create, update, notes, lead status, follow-up tasks, appointments, recording/transcript references, and workflow triggers. Select the first CRM during discovery; do not attempt every vendor in MVP.
Voice expansion includes inbound/outbound call lifecycle, barge-in, voicemail detection/drop, appointment changes, follow-up SMS, recording/consent, warm transfer metadata, and full context for the receiving representative.
Google Business Messages correction source: https://developers.google.com/business-communications/business-messages/resources/release-notes/update-on-gbm?hl=en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Phasing
Phase 1 — Discovery and solution definition (3–4 weeks): select launch journeys, systems, channels, identity rules, compliance obligations, metrics, source/IP terms, and acceptance tests.
Phase 2 — Platform spine and shadow mode (6–8 weeks): tenant/auth foundation, canonical events, conversation store, verified identity, knowledge ingestion, adapter framework, audit, and AI recommendations without autonomous writes.
Phase 3 — End-to-end MVP (8–12 weeks): web, inbound voice, transactional SMS, cross-channel continuity, qualification, service-area validation, grounded answers, one calendar, one CRM, handoff, basic administration, and reporting.
Phase 4 — Controlled pilot (6–8 weeks): limited locations/traffic, security/load testing, monitoring, recovery, employee approvals, outcome reconciliation, domain evaluation, and measured automation.
Phase 5 — Expansion (8–12 weeks per wave): outbound, email/social, more connectors, campaigns, uploads, advanced scheduling, richer BI, and multi-company self-service.
Dependencies include a dedicated cross-functional team and timely sandbox, policy, and data access. The 17–24 week MVP range is directional, not a quote.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strategy
Use a provider-neutral model gateway. Select speech providers for call quality, language, latency, barge-in/interruption support, privacy/data-use terms, reliability, and unit cost. Use smaller models for classification and structured extraction; stronger models for complex dialogue and orchestration; embeddings and rerankers for permission-aware grounded knowledge.
Business decisions and writes remain deterministic and tool-mediated. Establish primary/fallback providers through client-domain evaluations covering accuracy, latency, privacy, reliability, and cost. Version every model, prompt, knowledge publication, workflow, and connector so regression tests can block unsafe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Enterprise controls
Security should include tenant, brand, location, customer, journey, and channel identifiers in every record; verified identity for sensitive actions; SSO/OIDC; MFA where appropriate; RBAC and scoped attributes; encryption in transit/at rest; managed secrets; PII handling; data residency; retention and deletion; immutable audit; backups/DR; dependency and vulnerability scanning; incident response; and explicit model/vendor data-use policy.
Evaluation should separately test intent, extraction, grounding, response, qualification, scheduling, routing, handoff, and action correctness. Employee suggestions can tolerate a different threshold than autonomous actions.
Current privacy must be described precisely: audio capture, speech-to-text, and the first request gate are local. Confirmed question text, recent transcript/context, and active profile material can reach the configured answer model. Local JSONL logs do not have enterprise access control, encryption, or retention enforcement.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Administration, analytics, and workflow detail
The current desktop profile picker, TOML configuration, and local session replay are not an administrative portal. The proposed portal needs user/permission management, knowledge approval and rollback, prompt/behavior configuration, workflow building, integration credential and health management, transcript/recording review, templates, automation rules, and reporting.
Business dashboards require a canonical event model and metric dictionary. Define each metric's numerator, denominator, time window, attribution, source, owner, and segmentation. Current local telemetry provides technical decisions and latency only; it does not implement sales, marketing, contact-center, or business-outcome dashboards.
Workflow automation must be durable: retries, idempotency, timeouts, dead-letter handling, manual recovery, and approval gates. Messaging automation also requires consent/preferences, opt-out, quiet hours, template review, deliverability/bounce handling, provider webhooks, and attribution.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Technology and hosting
Favor managed, horizontally scalable services with explicit service boundaries. Use separate low-latency media workers for voice. Build versioned, tenant-scoped REST APIs and events with OAuth2/OIDC or service accounts, scoped permissions, schema validation, rate limits, idempotency keys, signed and replay-protected webhooks, audit, and observability.
Operational requirements include health/metrics/traces, tenant-aware alerting, on-call response, autoscaling, backups and restore tests, RTO/RPO/SLO agreements, release/rollback, data residency, and capacity/load tests.
The exact cloud, database topology, event bus, workflow engine, and provider set should be selected through discovery against region, compliance, latency, availability, team, and commercial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decisions and commercial structure
Discovery should define launch scope, authoritative systems, identity matching/verification/merge rules, mandatory scheduling constraints, autonomous versus confirm/approve actions, regulatory obligations, technical SLOs, migration, KPI definitions, and ownership/licensing expectations.
Cost must separate one-time delivery from recurring usage and operations. Build sensitivities for conversation minutes, messages, model usage, recordings, retention, concurrency, locations, integrations, and support level.
Source/IP terms require legal review. A sensible discussion separates customer data and bespoke deliverables from Cybic's pre-existing/general IP and third-party/open-source/model license pass-through. Define repository, build/deploy documentation, credential handoff, model/data-use rights, and whether customer data may be used for training. Do not make an unqualified legal promise in the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The current demo validates reusable elements of speech capture, local transcription, request detection, short-session context, response generation, evaluation, and interaction records. It does not execute the requested business workflows today.
The proposed MVP adds persistent identity and conversation state, channel adapters, qualification, controlled knowledge, scheduling, CRM, SMS, handoff, administration, analytics, security, and operational foundations. The long-term platform extends channels, connectors, automation, optimization, multitenancy, and scale.
Recommended next step: a 3–4 week discovery and solution-definition engagement that produces a confirmed journey and launch scope, integration spike results, domain evaluation set, target architecture, security/hosting plan, delivery backlog, phased estimate, ROM cost, operational model, and source/IP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Capability status notes
Inbound/outbound voice: the repository does not answer, originate, transfer, or control calls. Desktop audio capture and workstation TTS are reusable components only.
Intent: the current gate decides whether an utterance seeks information and rewrites it as a query. It does not classify business intent, extract lead fields, identify urgency, or select business actions.
Context: approximately six recent transcript lines and up to eight Q&amp;A pairs during one running process. It is not customer-linked durable history.
Profiles: static Topic, Background, and Vocabulary Markdown. No ingestion, retrieval, permissions, citations, or admin publishing workflow.
Logs: local plaintext JSONL and replay. No customer ID, durable cross-channel store, enterprise access control, or retention enforcement.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Functional catalog
This appendix preserves the breadth of the proposal while keeping the main narrative focused. It is a requirements/discovery checklist, not an estimate or implementation statement.
Live-agent transfer requires triggers, queue selection, accept/decline/fallback, AI pause/resume, and a complete context packet. The current human-in-the-loop desktop assist mode is not a bot-to-agent handoff.
APIs and webhooks require versioning, tenant scope, OAuth2/OIDC/service accounts, schema validation, rate limits, idempotency, signed and replay-protected delivery, audit, and observability.
Source proposal: docs/demo/AGENTIC-AI-PLATFORM-PROPOSAL.md.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rules
Use the customer-engagement alignment document as the narrative source of truth. The older HTML call-center deck remains the visual-style reference but contains stale wording and an outdated automated-test count.
Do not use private session log contents in the presentation. The fictional roaming scenario is intentionally synthetic.
No official Cybic logo asset exists in the repository; this deck therefore uses a text-only CYBIC wordmark rather than inventing a mark.
External source: Google Business Messages discontinuation announcement at https://developers.google.com/business-communications/business-messages/resources/release-notes/update-on-gbm?hl=en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YBIC_MASTER">
    <p:bg>
      <p:bgPr>
        <a:solidFill>
          <a:srgbClr val="16161D"/>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83096"/>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9A97A3"/>
                </a:solidFill>
                <a:latin typeface="Courier New"/>
                <a:ea typeface="Courier New"/>
                <a:cs typeface="Courier New"/>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83096"/>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9A97A3"/>
                </a:solidFill>
                <a:latin typeface="Courier New"/>
                <a:ea typeface="Courier New"/>
                <a:cs typeface="Courier New"/>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developers.google.com/business-communications/business-messages/resources/release-notes/update-on-gbm?hl=en" TargetMode="Externa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developers.google.com/business-communications/business-messages/resources/release-notes/update-on-gbm?hl=en" TargetMode="External"/><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61D"/>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E8A33D"/>
          </a:solidFill>
          <a:ln w="12700">
            <a:solidFill>
              <a:srgbClr val="E8A33D"/>
            </a:solidFill>
            <a:prstDash val="solid"/>
          </a:ln>
        </p:spPr>
      </p:sp>
      <p:sp>
        <p:nvSpPr>
          <p:cNvPr id="3" name="Text 1"/>
          <p:cNvSpPr txBox="1"/>
          <p:nvPr/>
        </p:nvSpPr>
        <p:spPr>
          <a:xfrm>
            <a:off x="777240" y="530352"/>
            <a:ext cx="5303520" cy="228600"/>
          </a:xfrm>
          <a:prstGeom prst="rect">
            <a:avLst/>
          </a:prstGeom>
          <a:noFill/>
          <a:ln/>
        </p:spPr>
        <p:txBody>
          <a:bodyPr wrap="square" lIns="0" tIns="0" rIns="0" bIns="0" rtlCol="0" anchor="t">
            <a:normAutofit/>
          </a:bodyPr>
          <a:lstStyle/>
          <a:p>
            <a:pPr algn="l" indent="0" marL="0">
              <a:buNone/>
            </a:pPr>
            <a:r>
              <a:rPr lang="en-US" sz="900" b="1" spc="180" kern="0" dirty="0">
                <a:solidFill>
                  <a:srgbClr val="9A97A3"/>
                </a:solidFill>
                <a:latin typeface="Courier New" pitchFamily="34" charset="0"/>
                <a:ea typeface="Courier New" pitchFamily="34" charset="-122"/>
                <a:cs typeface="Courier New" pitchFamily="34" charset="-120"/>
              </a:rPr>
              <a:t>WORKING PROTOTYPE  +  PROPOSED ROADMAP</a:t>
            </a:r>
            <a:endParaRPr lang="en-US" sz="900" dirty="0"/>
          </a:p>
        </p:txBody>
      </p:sp>
      <p:sp>
        <p:nvSpPr>
          <p:cNvPr id="4" name="Text 2"/>
          <p:cNvSpPr txBox="1"/>
          <p:nvPr/>
        </p:nvSpPr>
        <p:spPr>
          <a:xfrm>
            <a:off x="749808" y="1078992"/>
            <a:ext cx="6720840" cy="2148840"/>
          </a:xfrm>
          <a:prstGeom prst="rect">
            <a:avLst/>
          </a:prstGeom>
          <a:noFill/>
          <a:ln/>
        </p:spPr>
        <p:txBody>
          <a:bodyPr wrap="square" lIns="0" tIns="0" rIns="0" bIns="0" rtlCol="0" anchor="t">
            <a:normAutofit/>
          </a:bodyPr>
          <a:lstStyle/>
          <a:p>
            <a:pPr algn="l" indent="0" marL="0">
              <a:buNone/>
            </a:pPr>
            <a:r>
              <a:rPr lang="en-US" sz="3500" b="1" dirty="0">
                <a:solidFill>
                  <a:srgbClr val="E8A33D"/>
                </a:solidFill>
                <a:latin typeface="Arial" pitchFamily="34" charset="0"/>
                <a:ea typeface="Arial" pitchFamily="34" charset="-122"/>
                <a:cs typeface="Arial" pitchFamily="34" charset="-120"/>
              </a:rPr>
              <a:t>From Voice Intelligence</a:t>
            </a:r>
            <a:endParaRPr lang="en-US" sz="3500" dirty="0"/>
          </a:p>
          <a:p>
            <a:pPr algn="l" indent="0" marL="0">
              <a:buNone/>
            </a:pPr>
            <a:r>
              <a:rPr lang="en-US" sz="3500" b="1" dirty="0">
                <a:solidFill>
                  <a:srgbClr val="E8A33D"/>
                </a:solidFill>
                <a:latin typeface="Arial" pitchFamily="34" charset="0"/>
                <a:ea typeface="Arial" pitchFamily="34" charset="-122"/>
                <a:cs typeface="Arial" pitchFamily="34" charset="-120"/>
              </a:rPr>
              <a:t>to One Continuous</a:t>
            </a:r>
            <a:endParaRPr lang="en-US" sz="3500" dirty="0"/>
          </a:p>
          <a:p>
            <a:pPr algn="l" indent="0" marL="0">
              <a:buNone/>
            </a:pPr>
            <a:r>
              <a:rPr lang="en-US" sz="3500" b="1" dirty="0">
                <a:solidFill>
                  <a:srgbClr val="E8A33D"/>
                </a:solidFill>
                <a:latin typeface="Arial" pitchFamily="34" charset="0"/>
                <a:ea typeface="Arial" pitchFamily="34" charset="-122"/>
                <a:cs typeface="Arial" pitchFamily="34" charset="-120"/>
              </a:rPr>
              <a:t>Customer Journey</a:t>
            </a:r>
            <a:endParaRPr lang="en-US" sz="3500" dirty="0"/>
          </a:p>
        </p:txBody>
      </p:sp>
      <p:sp>
        <p:nvSpPr>
          <p:cNvPr id="5" name="Text 3"/>
          <p:cNvSpPr txBox="1"/>
          <p:nvPr/>
        </p:nvSpPr>
        <p:spPr>
          <a:xfrm>
            <a:off x="786384" y="3493008"/>
            <a:ext cx="5989320" cy="640080"/>
          </a:xfrm>
          <a:prstGeom prst="rect">
            <a:avLst/>
          </a:prstGeom>
          <a:noFill/>
          <a:ln/>
        </p:spPr>
        <p:txBody>
          <a:bodyPr wrap="square" lIns="0" tIns="0" rIns="0" bIns="0" rtlCol="0" anchor="t">
            <a:normAutofit/>
          </a:bodyPr>
          <a:lstStyle/>
          <a:p>
            <a:pPr algn="l" indent="0" marL="0">
              <a:buNone/>
            </a:pPr>
            <a:r>
              <a:rPr lang="en-US" sz="1700" dirty="0">
                <a:solidFill>
                  <a:srgbClr val="E8E6E0"/>
                </a:solidFill>
                <a:latin typeface="Arial" pitchFamily="34" charset="0"/>
                <a:ea typeface="Arial" pitchFamily="34" charset="-122"/>
                <a:cs typeface="Arial" pitchFamily="34" charset="-120"/>
              </a:rPr>
              <a:t>Cybic current capability, selective proposal alignment,</a:t>
            </a:r>
            <a:endParaRPr lang="en-US" sz="1700" dirty="0"/>
          </a:p>
          <a:p>
            <a:pPr algn="l" indent="0" marL="0">
              <a:buNone/>
            </a:pPr>
            <a:r>
              <a:rPr lang="en-US" sz="1700" dirty="0">
                <a:solidFill>
                  <a:srgbClr val="E8E6E0"/>
                </a:solidFill>
                <a:latin typeface="Arial" pitchFamily="34" charset="0"/>
                <a:ea typeface="Arial" pitchFamily="34" charset="-122"/>
                <a:cs typeface="Arial" pitchFamily="34" charset="-120"/>
              </a:rPr>
              <a:t>and a credible expansion path</a:t>
            </a:r>
            <a:endParaRPr lang="en-US" sz="1700" dirty="0"/>
          </a:p>
        </p:txBody>
      </p:sp>
      <p:sp>
        <p:nvSpPr>
          <p:cNvPr id="6" name="Shape 4"/>
          <p:cNvSpPr/>
          <p:nvPr/>
        </p:nvSpPr>
        <p:spPr>
          <a:xfrm>
            <a:off x="786384" y="4443984"/>
            <a:ext cx="1691640" cy="310896"/>
          </a:xfrm>
          <a:prstGeom prst="roundRect">
            <a:avLst/>
          </a:prstGeom>
          <a:solidFill>
            <a:srgbClr val="3D3320"/>
          </a:solidFill>
          <a:ln w="10160">
            <a:solidFill>
              <a:srgbClr val="E8A33D"/>
            </a:solidFill>
            <a:prstDash val="solid"/>
          </a:ln>
        </p:spPr>
      </p:sp>
      <p:sp>
        <p:nvSpPr>
          <p:cNvPr id="7" name="Text 5"/>
          <p:cNvSpPr txBox="1"/>
          <p:nvPr/>
        </p:nvSpPr>
        <p:spPr>
          <a:xfrm>
            <a:off x="832104" y="4480560"/>
            <a:ext cx="1600200" cy="246888"/>
          </a:xfrm>
          <a:prstGeom prst="rect">
            <a:avLst/>
          </a:prstGeom>
          <a:noFill/>
          <a:ln/>
        </p:spPr>
        <p:txBody>
          <a:bodyPr wrap="square" lIns="0" tIns="0" rIns="0" bIns="0" rtlCol="0" anchor="ctr">
            <a:normAutofit/>
          </a:bodyPr>
          <a:lstStyle/>
          <a:p>
            <a:pPr algn="ctr" indent="0" marL="0">
              <a:buNone/>
            </a:pPr>
            <a:r>
              <a:rPr lang="en-US" sz="850" b="1" spc="100" kern="0" dirty="0">
                <a:solidFill>
                  <a:srgbClr val="E8A33D"/>
                </a:solidFill>
                <a:latin typeface="Courier New" pitchFamily="34" charset="0"/>
                <a:ea typeface="Courier New" pitchFamily="34" charset="-122"/>
                <a:cs typeface="Courier New" pitchFamily="34" charset="-120"/>
              </a:rPr>
              <a:t>CURRENT CAPABILITY</a:t>
            </a:r>
            <a:endParaRPr lang="en-US" sz="850" dirty="0"/>
          </a:p>
        </p:txBody>
      </p:sp>
      <p:sp>
        <p:nvSpPr>
          <p:cNvPr id="8" name="Shape 6"/>
          <p:cNvSpPr/>
          <p:nvPr/>
        </p:nvSpPr>
        <p:spPr>
          <a:xfrm>
            <a:off x="2615184" y="4443984"/>
            <a:ext cx="1737360" cy="310896"/>
          </a:xfrm>
          <a:prstGeom prst="roundRect">
            <a:avLst/>
          </a:prstGeom>
          <a:solidFill>
            <a:srgbClr val="20382F"/>
          </a:solidFill>
          <a:ln w="10160">
            <a:solidFill>
              <a:srgbClr val="7CC7A5"/>
            </a:solidFill>
            <a:prstDash val="solid"/>
          </a:ln>
        </p:spPr>
      </p:sp>
      <p:sp>
        <p:nvSpPr>
          <p:cNvPr id="9" name="Text 7"/>
          <p:cNvSpPr txBox="1"/>
          <p:nvPr/>
        </p:nvSpPr>
        <p:spPr>
          <a:xfrm>
            <a:off x="2660904" y="4480560"/>
            <a:ext cx="1645920" cy="246888"/>
          </a:xfrm>
          <a:prstGeom prst="rect">
            <a:avLst/>
          </a:prstGeom>
          <a:noFill/>
          <a:ln/>
        </p:spPr>
        <p:txBody>
          <a:bodyPr wrap="square" lIns="0" tIns="0" rIns="0" bIns="0" rtlCol="0" anchor="ctr">
            <a:normAutofit/>
          </a:bodyPr>
          <a:lstStyle/>
          <a:p>
            <a:pPr algn="ctr" indent="0" marL="0">
              <a:buNone/>
            </a:pPr>
            <a:r>
              <a:rPr lang="en-US" sz="850" b="1" spc="100" kern="0" dirty="0">
                <a:solidFill>
                  <a:srgbClr val="7CC7A5"/>
                </a:solidFill>
                <a:latin typeface="Courier New" pitchFamily="34" charset="0"/>
                <a:ea typeface="Courier New" pitchFamily="34" charset="-122"/>
                <a:cs typeface="Courier New" pitchFamily="34" charset="-120"/>
              </a:rPr>
              <a:t>REUSABLE PATTERNS</a:t>
            </a:r>
            <a:endParaRPr lang="en-US" sz="850" dirty="0"/>
          </a:p>
        </p:txBody>
      </p:sp>
      <p:sp>
        <p:nvSpPr>
          <p:cNvPr id="10" name="Shape 8"/>
          <p:cNvSpPr/>
          <p:nvPr/>
        </p:nvSpPr>
        <p:spPr>
          <a:xfrm>
            <a:off x="4498848" y="4443984"/>
            <a:ext cx="1783080" cy="310896"/>
          </a:xfrm>
          <a:prstGeom prst="roundRect">
            <a:avLst/>
          </a:prstGeom>
          <a:solidFill>
            <a:srgbClr val="20303D"/>
          </a:solidFill>
          <a:ln w="10160">
            <a:solidFill>
              <a:srgbClr val="6FB3E8"/>
            </a:solidFill>
            <a:prstDash val="solid"/>
          </a:ln>
        </p:spPr>
      </p:sp>
      <p:sp>
        <p:nvSpPr>
          <p:cNvPr id="11" name="Text 9"/>
          <p:cNvSpPr txBox="1"/>
          <p:nvPr/>
        </p:nvSpPr>
        <p:spPr>
          <a:xfrm>
            <a:off x="4544568" y="4480560"/>
            <a:ext cx="1691640" cy="246888"/>
          </a:xfrm>
          <a:prstGeom prst="rect">
            <a:avLst/>
          </a:prstGeom>
          <a:noFill/>
          <a:ln/>
        </p:spPr>
        <p:txBody>
          <a:bodyPr wrap="square" lIns="0" tIns="0" rIns="0" bIns="0" rtlCol="0" anchor="ctr">
            <a:normAutofit/>
          </a:bodyPr>
          <a:lstStyle/>
          <a:p>
            <a:pPr algn="ctr" indent="0" marL="0">
              <a:buNone/>
            </a:pPr>
            <a:r>
              <a:rPr lang="en-US" sz="850" b="1" spc="100" kern="0" dirty="0">
                <a:solidFill>
                  <a:srgbClr val="6FB3E8"/>
                </a:solidFill>
                <a:latin typeface="Courier New" pitchFamily="34" charset="0"/>
                <a:ea typeface="Courier New" pitchFamily="34" charset="-122"/>
                <a:cs typeface="Courier New" pitchFamily="34" charset="-120"/>
              </a:rPr>
              <a:t>PROPOSED PLATFORM</a:t>
            </a:r>
            <a:endParaRPr lang="en-US" sz="850" dirty="0"/>
          </a:p>
        </p:txBody>
      </p:sp>
      <p:sp>
        <p:nvSpPr>
          <p:cNvPr id="12" name="Shape 10"/>
          <p:cNvSpPr/>
          <p:nvPr/>
        </p:nvSpPr>
        <p:spPr>
          <a:xfrm>
            <a:off x="7406640" y="658368"/>
            <a:ext cx="3977640" cy="5303520"/>
          </a:xfrm>
          <a:prstGeom prst="roundRect">
            <a:avLst/>
          </a:prstGeom>
          <a:solidFill>
            <a:srgbClr val="1E1E28"/>
          </a:solidFill>
          <a:ln w="12700">
            <a:solidFill>
              <a:srgbClr val="34323E"/>
            </a:solidFill>
            <a:prstDash val="solid"/>
          </a:ln>
        </p:spPr>
      </p:sp>
      <p:sp>
        <p:nvSpPr>
          <p:cNvPr id="13" name="Text 11"/>
          <p:cNvSpPr txBox="1"/>
          <p:nvPr/>
        </p:nvSpPr>
        <p:spPr>
          <a:xfrm>
            <a:off x="7726680" y="941832"/>
            <a:ext cx="3337560" cy="228600"/>
          </a:xfrm>
          <a:prstGeom prst="rect">
            <a:avLst/>
          </a:prstGeom>
          <a:noFill/>
          <a:ln/>
        </p:spPr>
        <p:txBody>
          <a:bodyPr wrap="square" lIns="0" tIns="0" rIns="0" bIns="0" rtlCol="0" anchor="t">
            <a:normAutofit/>
          </a:bodyPr>
          <a:lstStyle/>
          <a:p>
            <a:pPr algn="ctr" indent="0" marL="0">
              <a:buNone/>
            </a:pPr>
            <a:r>
              <a:rPr lang="en-US" sz="900" b="1" spc="140" kern="0" dirty="0">
                <a:solidFill>
                  <a:srgbClr val="6FB3E8"/>
                </a:solidFill>
                <a:latin typeface="Courier New" pitchFamily="34" charset="0"/>
                <a:ea typeface="Courier New" pitchFamily="34" charset="-122"/>
                <a:cs typeface="Courier New" pitchFamily="34" charset="-120"/>
              </a:rPr>
              <a:t>ONE CUSTOMER TIMELINE</a:t>
            </a:r>
            <a:endParaRPr lang="en-US" sz="900" dirty="0"/>
          </a:p>
        </p:txBody>
      </p:sp>
      <p:sp>
        <p:nvSpPr>
          <p:cNvPr id="14" name="Shape 12"/>
          <p:cNvSpPr/>
          <p:nvPr/>
        </p:nvSpPr>
        <p:spPr>
          <a:xfrm>
            <a:off x="8366760" y="1810512"/>
            <a:ext cx="0" cy="384048"/>
          </a:xfrm>
          <a:prstGeom prst="line">
            <a:avLst/>
          </a:prstGeom>
          <a:noFill/>
          <a:ln w="25400">
            <a:solidFill>
              <a:srgbClr val="34323E"/>
            </a:solidFill>
            <a:prstDash val="solid"/>
          </a:ln>
        </p:spPr>
      </p:sp>
      <p:sp>
        <p:nvSpPr>
          <p:cNvPr id="15" name="Shape 13"/>
          <p:cNvSpPr/>
          <p:nvPr/>
        </p:nvSpPr>
        <p:spPr>
          <a:xfrm>
            <a:off x="8101584" y="1408176"/>
            <a:ext cx="530352" cy="530352"/>
          </a:xfrm>
          <a:prstGeom prst="ellipse">
            <a:avLst/>
          </a:prstGeom>
          <a:solidFill>
            <a:srgbClr val="20303D"/>
          </a:solidFill>
          <a:ln w="15240">
            <a:solidFill>
              <a:srgbClr val="6FB3E8"/>
            </a:solidFill>
            <a:prstDash val="solid"/>
          </a:ln>
        </p:spPr>
      </p:sp>
      <p:sp>
        <p:nvSpPr>
          <p:cNvPr id="16" name="Text 14"/>
          <p:cNvSpPr txBox="1"/>
          <p:nvPr/>
        </p:nvSpPr>
        <p:spPr>
          <a:xfrm>
            <a:off x="8183880" y="1545336"/>
            <a:ext cx="365760" cy="155448"/>
          </a:xfrm>
          <a:prstGeom prst="rect">
            <a:avLst/>
          </a:prstGeom>
          <a:noFill/>
          <a:ln/>
        </p:spPr>
        <p:txBody>
          <a:bodyPr wrap="square" lIns="0" tIns="0" rIns="0" bIns="0" rtlCol="0" anchor="ctr">
            <a:normAutofit/>
          </a:bodyPr>
          <a:lstStyle/>
          <a:p>
            <a:pPr algn="ctr" indent="0" marL="0">
              <a:buNone/>
            </a:pPr>
            <a:r>
              <a:rPr lang="en-US" sz="800" b="1" dirty="0">
                <a:solidFill>
                  <a:srgbClr val="6FB3E8"/>
                </a:solidFill>
                <a:latin typeface="Courier New" pitchFamily="34" charset="0"/>
                <a:ea typeface="Courier New" pitchFamily="34" charset="-122"/>
                <a:cs typeface="Courier New" pitchFamily="34" charset="-120"/>
              </a:rPr>
              <a:t>01</a:t>
            </a:r>
            <a:endParaRPr lang="en-US" sz="800" dirty="0"/>
          </a:p>
        </p:txBody>
      </p:sp>
      <p:sp>
        <p:nvSpPr>
          <p:cNvPr id="17" name="Text 15"/>
          <p:cNvSpPr txBox="1"/>
          <p:nvPr/>
        </p:nvSpPr>
        <p:spPr>
          <a:xfrm>
            <a:off x="8869680" y="1499616"/>
            <a:ext cx="960120" cy="274320"/>
          </a:xfrm>
          <a:prstGeom prst="rect">
            <a:avLst/>
          </a:prstGeom>
          <a:noFill/>
          <a:ln/>
        </p:spPr>
        <p:txBody>
          <a:bodyPr wrap="square" lIns="0" tIns="0" rIns="0" bIns="0" rtlCol="0" anchor="t">
            <a:normAutofit/>
          </a:bodyPr>
          <a:lstStyle/>
          <a:p>
            <a:pPr algn="l" indent="0" marL="0">
              <a:buNone/>
            </a:pPr>
            <a:r>
              <a:rPr lang="en-US" sz="1000" b="1" spc="110" kern="0" dirty="0">
                <a:solidFill>
                  <a:srgbClr val="E8E6E0"/>
                </a:solidFill>
                <a:latin typeface="Courier New" pitchFamily="34" charset="0"/>
                <a:ea typeface="Courier New" pitchFamily="34" charset="-122"/>
                <a:cs typeface="Courier New" pitchFamily="34" charset="-120"/>
              </a:rPr>
              <a:t>WEB</a:t>
            </a:r>
            <a:endParaRPr lang="en-US" sz="1000" dirty="0"/>
          </a:p>
        </p:txBody>
      </p:sp>
      <p:sp>
        <p:nvSpPr>
          <p:cNvPr id="18" name="Text 16"/>
          <p:cNvSpPr txBox="1"/>
          <p:nvPr/>
        </p:nvSpPr>
        <p:spPr>
          <a:xfrm>
            <a:off x="9784080" y="1508760"/>
            <a:ext cx="1280160" cy="237744"/>
          </a:xfrm>
          <a:prstGeom prst="rect">
            <a:avLst/>
          </a:prstGeom>
          <a:noFill/>
          <a:ln/>
        </p:spPr>
        <p:txBody>
          <a:bodyPr wrap="square" lIns="0" tIns="0" rIns="0" bIns="0" rtlCol="0" anchor="t">
            <a:normAutofit/>
          </a:bodyPr>
          <a:lstStyle/>
          <a:p>
            <a:pPr algn="r" indent="0" marL="0">
              <a:buNone/>
            </a:pPr>
            <a:r>
              <a:rPr lang="en-US" sz="950" dirty="0">
                <a:solidFill>
                  <a:srgbClr val="9A97A3"/>
                </a:solidFill>
                <a:latin typeface="Arial" pitchFamily="34" charset="0"/>
                <a:ea typeface="Arial" pitchFamily="34" charset="-122"/>
                <a:cs typeface="Arial" pitchFamily="34" charset="-120"/>
              </a:rPr>
              <a:t>intent captured</a:t>
            </a:r>
            <a:endParaRPr lang="en-US" sz="950" dirty="0"/>
          </a:p>
        </p:txBody>
      </p:sp>
      <p:sp>
        <p:nvSpPr>
          <p:cNvPr id="19" name="Shape 17"/>
          <p:cNvSpPr/>
          <p:nvPr/>
        </p:nvSpPr>
        <p:spPr>
          <a:xfrm>
            <a:off x="8366760" y="2596896"/>
            <a:ext cx="0" cy="384048"/>
          </a:xfrm>
          <a:prstGeom prst="line">
            <a:avLst/>
          </a:prstGeom>
          <a:noFill/>
          <a:ln w="25400">
            <a:solidFill>
              <a:srgbClr val="34323E"/>
            </a:solidFill>
            <a:prstDash val="solid"/>
          </a:ln>
        </p:spPr>
      </p:sp>
      <p:sp>
        <p:nvSpPr>
          <p:cNvPr id="20" name="Shape 18"/>
          <p:cNvSpPr/>
          <p:nvPr/>
        </p:nvSpPr>
        <p:spPr>
          <a:xfrm>
            <a:off x="8101584" y="2194560"/>
            <a:ext cx="530352" cy="530352"/>
          </a:xfrm>
          <a:prstGeom prst="ellipse">
            <a:avLst/>
          </a:prstGeom>
          <a:solidFill>
            <a:srgbClr val="3D3320"/>
          </a:solidFill>
          <a:ln w="15240">
            <a:solidFill>
              <a:srgbClr val="E8A33D"/>
            </a:solidFill>
            <a:prstDash val="solid"/>
          </a:ln>
        </p:spPr>
      </p:sp>
      <p:sp>
        <p:nvSpPr>
          <p:cNvPr id="21" name="Text 19"/>
          <p:cNvSpPr txBox="1"/>
          <p:nvPr/>
        </p:nvSpPr>
        <p:spPr>
          <a:xfrm>
            <a:off x="8183880" y="2331720"/>
            <a:ext cx="365760" cy="155448"/>
          </a:xfrm>
          <a:prstGeom prst="rect">
            <a:avLst/>
          </a:prstGeom>
          <a:noFill/>
          <a:ln/>
        </p:spPr>
        <p:txBody>
          <a:bodyPr wrap="square" lIns="0" tIns="0" rIns="0" bIns="0" rtlCol="0" anchor="ctr">
            <a:normAutofit/>
          </a:bodyPr>
          <a:lstStyle/>
          <a:p>
            <a:pPr algn="ctr" indent="0" marL="0">
              <a:buNone/>
            </a:pPr>
            <a:r>
              <a:rPr lang="en-US" sz="800" b="1" dirty="0">
                <a:solidFill>
                  <a:srgbClr val="E8A33D"/>
                </a:solidFill>
                <a:latin typeface="Courier New" pitchFamily="34" charset="0"/>
                <a:ea typeface="Courier New" pitchFamily="34" charset="-122"/>
                <a:cs typeface="Courier New" pitchFamily="34" charset="-120"/>
              </a:rPr>
              <a:t>02</a:t>
            </a:r>
            <a:endParaRPr lang="en-US" sz="800" dirty="0"/>
          </a:p>
        </p:txBody>
      </p:sp>
      <p:sp>
        <p:nvSpPr>
          <p:cNvPr id="22" name="Text 20"/>
          <p:cNvSpPr txBox="1"/>
          <p:nvPr/>
        </p:nvSpPr>
        <p:spPr>
          <a:xfrm>
            <a:off x="8869680" y="2286000"/>
            <a:ext cx="960120" cy="274320"/>
          </a:xfrm>
          <a:prstGeom prst="rect">
            <a:avLst/>
          </a:prstGeom>
          <a:noFill/>
          <a:ln/>
        </p:spPr>
        <p:txBody>
          <a:bodyPr wrap="square" lIns="0" tIns="0" rIns="0" bIns="0" rtlCol="0" anchor="t">
            <a:normAutofit/>
          </a:bodyPr>
          <a:lstStyle/>
          <a:p>
            <a:pPr algn="l" indent="0" marL="0">
              <a:buNone/>
            </a:pPr>
            <a:r>
              <a:rPr lang="en-US" sz="1000" b="1" spc="110" kern="0" dirty="0">
                <a:solidFill>
                  <a:srgbClr val="E8E6E0"/>
                </a:solidFill>
                <a:latin typeface="Courier New" pitchFamily="34" charset="0"/>
                <a:ea typeface="Courier New" pitchFamily="34" charset="-122"/>
                <a:cs typeface="Courier New" pitchFamily="34" charset="-120"/>
              </a:rPr>
              <a:t>VOICE</a:t>
            </a:r>
            <a:endParaRPr lang="en-US" sz="1000" dirty="0"/>
          </a:p>
        </p:txBody>
      </p:sp>
      <p:sp>
        <p:nvSpPr>
          <p:cNvPr id="23" name="Text 21"/>
          <p:cNvSpPr txBox="1"/>
          <p:nvPr/>
        </p:nvSpPr>
        <p:spPr>
          <a:xfrm>
            <a:off x="9784080" y="2295144"/>
            <a:ext cx="1280160" cy="237744"/>
          </a:xfrm>
          <a:prstGeom prst="rect">
            <a:avLst/>
          </a:prstGeom>
          <a:noFill/>
          <a:ln/>
        </p:spPr>
        <p:txBody>
          <a:bodyPr wrap="square" lIns="0" tIns="0" rIns="0" bIns="0" rtlCol="0" anchor="t">
            <a:normAutofit/>
          </a:bodyPr>
          <a:lstStyle/>
          <a:p>
            <a:pPr algn="r" indent="0" marL="0">
              <a:buNone/>
            </a:pPr>
            <a:r>
              <a:rPr lang="en-US" sz="950" dirty="0">
                <a:solidFill>
                  <a:srgbClr val="9A97A3"/>
                </a:solidFill>
                <a:latin typeface="Arial" pitchFamily="34" charset="0"/>
                <a:ea typeface="Arial" pitchFamily="34" charset="-122"/>
                <a:cs typeface="Arial" pitchFamily="34" charset="-120"/>
              </a:rPr>
              <a:t>context restored</a:t>
            </a:r>
            <a:endParaRPr lang="en-US" sz="950" dirty="0"/>
          </a:p>
        </p:txBody>
      </p:sp>
      <p:sp>
        <p:nvSpPr>
          <p:cNvPr id="24" name="Shape 22"/>
          <p:cNvSpPr/>
          <p:nvPr/>
        </p:nvSpPr>
        <p:spPr>
          <a:xfrm>
            <a:off x="8366760" y="3383280"/>
            <a:ext cx="0" cy="384048"/>
          </a:xfrm>
          <a:prstGeom prst="line">
            <a:avLst/>
          </a:prstGeom>
          <a:noFill/>
          <a:ln w="25400">
            <a:solidFill>
              <a:srgbClr val="34323E"/>
            </a:solidFill>
            <a:prstDash val="solid"/>
          </a:ln>
        </p:spPr>
      </p:sp>
      <p:sp>
        <p:nvSpPr>
          <p:cNvPr id="25" name="Shape 23"/>
          <p:cNvSpPr/>
          <p:nvPr/>
        </p:nvSpPr>
        <p:spPr>
          <a:xfrm>
            <a:off x="8101584" y="2980944"/>
            <a:ext cx="530352" cy="530352"/>
          </a:xfrm>
          <a:prstGeom prst="ellipse">
            <a:avLst/>
          </a:prstGeom>
          <a:solidFill>
            <a:srgbClr val="20303D"/>
          </a:solidFill>
          <a:ln w="15240">
            <a:solidFill>
              <a:srgbClr val="6FB3E8"/>
            </a:solidFill>
            <a:prstDash val="solid"/>
          </a:ln>
        </p:spPr>
      </p:sp>
      <p:sp>
        <p:nvSpPr>
          <p:cNvPr id="26" name="Text 24"/>
          <p:cNvSpPr txBox="1"/>
          <p:nvPr/>
        </p:nvSpPr>
        <p:spPr>
          <a:xfrm>
            <a:off x="8183880" y="3118104"/>
            <a:ext cx="365760" cy="155448"/>
          </a:xfrm>
          <a:prstGeom prst="rect">
            <a:avLst/>
          </a:prstGeom>
          <a:noFill/>
          <a:ln/>
        </p:spPr>
        <p:txBody>
          <a:bodyPr wrap="square" lIns="0" tIns="0" rIns="0" bIns="0" rtlCol="0" anchor="ctr">
            <a:normAutofit/>
          </a:bodyPr>
          <a:lstStyle/>
          <a:p>
            <a:pPr algn="ctr" indent="0" marL="0">
              <a:buNone/>
            </a:pPr>
            <a:r>
              <a:rPr lang="en-US" sz="800" b="1" dirty="0">
                <a:solidFill>
                  <a:srgbClr val="6FB3E8"/>
                </a:solidFill>
                <a:latin typeface="Courier New" pitchFamily="34" charset="0"/>
                <a:ea typeface="Courier New" pitchFamily="34" charset="-122"/>
                <a:cs typeface="Courier New" pitchFamily="34" charset="-120"/>
              </a:rPr>
              <a:t>03</a:t>
            </a:r>
            <a:endParaRPr lang="en-US" sz="800" dirty="0"/>
          </a:p>
        </p:txBody>
      </p:sp>
      <p:sp>
        <p:nvSpPr>
          <p:cNvPr id="27" name="Text 25"/>
          <p:cNvSpPr txBox="1"/>
          <p:nvPr/>
        </p:nvSpPr>
        <p:spPr>
          <a:xfrm>
            <a:off x="8869680" y="3072384"/>
            <a:ext cx="960120" cy="274320"/>
          </a:xfrm>
          <a:prstGeom prst="rect">
            <a:avLst/>
          </a:prstGeom>
          <a:noFill/>
          <a:ln/>
        </p:spPr>
        <p:txBody>
          <a:bodyPr wrap="square" lIns="0" tIns="0" rIns="0" bIns="0" rtlCol="0" anchor="t">
            <a:normAutofit/>
          </a:bodyPr>
          <a:lstStyle/>
          <a:p>
            <a:pPr algn="l" indent="0" marL="0">
              <a:buNone/>
            </a:pPr>
            <a:r>
              <a:rPr lang="en-US" sz="1000" b="1" spc="110" kern="0" dirty="0">
                <a:solidFill>
                  <a:srgbClr val="E8E6E0"/>
                </a:solidFill>
                <a:latin typeface="Courier New" pitchFamily="34" charset="0"/>
                <a:ea typeface="Courier New" pitchFamily="34" charset="-122"/>
                <a:cs typeface="Courier New" pitchFamily="34" charset="-120"/>
              </a:rPr>
              <a:t>SMS</a:t>
            </a:r>
            <a:endParaRPr lang="en-US" sz="1000" dirty="0"/>
          </a:p>
        </p:txBody>
      </p:sp>
      <p:sp>
        <p:nvSpPr>
          <p:cNvPr id="28" name="Text 26"/>
          <p:cNvSpPr txBox="1"/>
          <p:nvPr/>
        </p:nvSpPr>
        <p:spPr>
          <a:xfrm>
            <a:off x="9784080" y="3081528"/>
            <a:ext cx="1280160" cy="237744"/>
          </a:xfrm>
          <a:prstGeom prst="rect">
            <a:avLst/>
          </a:prstGeom>
          <a:noFill/>
          <a:ln/>
        </p:spPr>
        <p:txBody>
          <a:bodyPr wrap="square" lIns="0" tIns="0" rIns="0" bIns="0" rtlCol="0" anchor="t">
            <a:normAutofit/>
          </a:bodyPr>
          <a:lstStyle/>
          <a:p>
            <a:pPr algn="r" indent="0" marL="0">
              <a:buNone/>
            </a:pPr>
            <a:r>
              <a:rPr lang="en-US" sz="950" dirty="0">
                <a:solidFill>
                  <a:srgbClr val="9A97A3"/>
                </a:solidFill>
                <a:latin typeface="Arial" pitchFamily="34" charset="0"/>
                <a:ea typeface="Arial" pitchFamily="34" charset="-122"/>
                <a:cs typeface="Arial" pitchFamily="34" charset="-120"/>
              </a:rPr>
              <a:t>confirmation sent</a:t>
            </a:r>
            <a:endParaRPr lang="en-US" sz="950" dirty="0"/>
          </a:p>
        </p:txBody>
      </p:sp>
      <p:sp>
        <p:nvSpPr>
          <p:cNvPr id="29" name="Shape 27"/>
          <p:cNvSpPr/>
          <p:nvPr/>
        </p:nvSpPr>
        <p:spPr>
          <a:xfrm>
            <a:off x="8366760" y="4169664"/>
            <a:ext cx="0" cy="384048"/>
          </a:xfrm>
          <a:prstGeom prst="line">
            <a:avLst/>
          </a:prstGeom>
          <a:noFill/>
          <a:ln w="25400">
            <a:solidFill>
              <a:srgbClr val="34323E"/>
            </a:solidFill>
            <a:prstDash val="solid"/>
          </a:ln>
        </p:spPr>
      </p:sp>
      <p:sp>
        <p:nvSpPr>
          <p:cNvPr id="30" name="Shape 28"/>
          <p:cNvSpPr/>
          <p:nvPr/>
        </p:nvSpPr>
        <p:spPr>
          <a:xfrm>
            <a:off x="8101584" y="3767328"/>
            <a:ext cx="530352" cy="530352"/>
          </a:xfrm>
          <a:prstGeom prst="ellipse">
            <a:avLst/>
          </a:prstGeom>
          <a:solidFill>
            <a:srgbClr val="20382F"/>
          </a:solidFill>
          <a:ln w="15240">
            <a:solidFill>
              <a:srgbClr val="7CC7A5"/>
            </a:solidFill>
            <a:prstDash val="solid"/>
          </a:ln>
        </p:spPr>
      </p:sp>
      <p:sp>
        <p:nvSpPr>
          <p:cNvPr id="31" name="Text 29"/>
          <p:cNvSpPr txBox="1"/>
          <p:nvPr/>
        </p:nvSpPr>
        <p:spPr>
          <a:xfrm>
            <a:off x="8183880" y="3904488"/>
            <a:ext cx="365760" cy="155448"/>
          </a:xfrm>
          <a:prstGeom prst="rect">
            <a:avLst/>
          </a:prstGeom>
          <a:noFill/>
          <a:ln/>
        </p:spPr>
        <p:txBody>
          <a:bodyPr wrap="square" lIns="0" tIns="0" rIns="0" bIns="0" rtlCol="0" anchor="ctr">
            <a:normAutofit/>
          </a:bodyPr>
          <a:lstStyle/>
          <a:p>
            <a:pPr algn="ctr" indent="0" marL="0">
              <a:buNone/>
            </a:pPr>
            <a:r>
              <a:rPr lang="en-US" sz="800" b="1" dirty="0">
                <a:solidFill>
                  <a:srgbClr val="7CC7A5"/>
                </a:solidFill>
                <a:latin typeface="Courier New" pitchFamily="34" charset="0"/>
                <a:ea typeface="Courier New" pitchFamily="34" charset="-122"/>
                <a:cs typeface="Courier New" pitchFamily="34" charset="-120"/>
              </a:rPr>
              <a:t>04</a:t>
            </a:r>
            <a:endParaRPr lang="en-US" sz="800" dirty="0"/>
          </a:p>
        </p:txBody>
      </p:sp>
      <p:sp>
        <p:nvSpPr>
          <p:cNvPr id="32" name="Text 30"/>
          <p:cNvSpPr txBox="1"/>
          <p:nvPr/>
        </p:nvSpPr>
        <p:spPr>
          <a:xfrm>
            <a:off x="8869680" y="3858768"/>
            <a:ext cx="960120" cy="274320"/>
          </a:xfrm>
          <a:prstGeom prst="rect">
            <a:avLst/>
          </a:prstGeom>
          <a:noFill/>
          <a:ln/>
        </p:spPr>
        <p:txBody>
          <a:bodyPr wrap="square" lIns="0" tIns="0" rIns="0" bIns="0" rtlCol="0" anchor="t">
            <a:normAutofit/>
          </a:bodyPr>
          <a:lstStyle/>
          <a:p>
            <a:pPr algn="l" indent="0" marL="0">
              <a:buNone/>
            </a:pPr>
            <a:r>
              <a:rPr lang="en-US" sz="1000" b="1" spc="110" kern="0" dirty="0">
                <a:solidFill>
                  <a:srgbClr val="E8E6E0"/>
                </a:solidFill>
                <a:latin typeface="Courier New" pitchFamily="34" charset="0"/>
                <a:ea typeface="Courier New" pitchFamily="34" charset="-122"/>
                <a:cs typeface="Courier New" pitchFamily="34" charset="-120"/>
              </a:rPr>
              <a:t>CRM</a:t>
            </a:r>
            <a:endParaRPr lang="en-US" sz="1000" dirty="0"/>
          </a:p>
        </p:txBody>
      </p:sp>
      <p:sp>
        <p:nvSpPr>
          <p:cNvPr id="33" name="Text 31"/>
          <p:cNvSpPr txBox="1"/>
          <p:nvPr/>
        </p:nvSpPr>
        <p:spPr>
          <a:xfrm>
            <a:off x="9784080" y="3867912"/>
            <a:ext cx="1280160" cy="237744"/>
          </a:xfrm>
          <a:prstGeom prst="rect">
            <a:avLst/>
          </a:prstGeom>
          <a:noFill/>
          <a:ln/>
        </p:spPr>
        <p:txBody>
          <a:bodyPr wrap="square" lIns="0" tIns="0" rIns="0" bIns="0" rtlCol="0" anchor="t">
            <a:normAutofit/>
          </a:bodyPr>
          <a:lstStyle/>
          <a:p>
            <a:pPr algn="r" indent="0" marL="0">
              <a:buNone/>
            </a:pPr>
            <a:r>
              <a:rPr lang="en-US" sz="950" dirty="0">
                <a:solidFill>
                  <a:srgbClr val="9A97A3"/>
                </a:solidFill>
                <a:latin typeface="Arial" pitchFamily="34" charset="0"/>
                <a:ea typeface="Arial" pitchFamily="34" charset="-122"/>
                <a:cs typeface="Arial" pitchFamily="34" charset="-120"/>
              </a:rPr>
              <a:t>record updated</a:t>
            </a:r>
            <a:endParaRPr lang="en-US" sz="950" dirty="0"/>
          </a:p>
        </p:txBody>
      </p:sp>
      <p:sp>
        <p:nvSpPr>
          <p:cNvPr id="34" name="Shape 32"/>
          <p:cNvSpPr/>
          <p:nvPr/>
        </p:nvSpPr>
        <p:spPr>
          <a:xfrm>
            <a:off x="8101584" y="4553712"/>
            <a:ext cx="530352" cy="530352"/>
          </a:xfrm>
          <a:prstGeom prst="ellipse">
            <a:avLst/>
          </a:prstGeom>
          <a:solidFill>
            <a:srgbClr val="20382F"/>
          </a:solidFill>
          <a:ln w="15240">
            <a:solidFill>
              <a:srgbClr val="7CC7A5"/>
            </a:solidFill>
            <a:prstDash val="solid"/>
          </a:ln>
        </p:spPr>
      </p:sp>
      <p:sp>
        <p:nvSpPr>
          <p:cNvPr id="35" name="Text 33"/>
          <p:cNvSpPr txBox="1"/>
          <p:nvPr/>
        </p:nvSpPr>
        <p:spPr>
          <a:xfrm>
            <a:off x="8183880" y="4690872"/>
            <a:ext cx="365760" cy="155448"/>
          </a:xfrm>
          <a:prstGeom prst="rect">
            <a:avLst/>
          </a:prstGeom>
          <a:noFill/>
          <a:ln/>
        </p:spPr>
        <p:txBody>
          <a:bodyPr wrap="square" lIns="0" tIns="0" rIns="0" bIns="0" rtlCol="0" anchor="ctr">
            <a:normAutofit/>
          </a:bodyPr>
          <a:lstStyle/>
          <a:p>
            <a:pPr algn="ctr" indent="0" marL="0">
              <a:buNone/>
            </a:pPr>
            <a:r>
              <a:rPr lang="en-US" sz="800" b="1" dirty="0">
                <a:solidFill>
                  <a:srgbClr val="7CC7A5"/>
                </a:solidFill>
                <a:latin typeface="Courier New" pitchFamily="34" charset="0"/>
                <a:ea typeface="Courier New" pitchFamily="34" charset="-122"/>
                <a:cs typeface="Courier New" pitchFamily="34" charset="-120"/>
              </a:rPr>
              <a:t>05</a:t>
            </a:r>
            <a:endParaRPr lang="en-US" sz="800" dirty="0"/>
          </a:p>
        </p:txBody>
      </p:sp>
      <p:sp>
        <p:nvSpPr>
          <p:cNvPr id="36" name="Text 34"/>
          <p:cNvSpPr txBox="1"/>
          <p:nvPr/>
        </p:nvSpPr>
        <p:spPr>
          <a:xfrm>
            <a:off x="8869680" y="4645152"/>
            <a:ext cx="960120" cy="274320"/>
          </a:xfrm>
          <a:prstGeom prst="rect">
            <a:avLst/>
          </a:prstGeom>
          <a:noFill/>
          <a:ln/>
        </p:spPr>
        <p:txBody>
          <a:bodyPr wrap="square" lIns="0" tIns="0" rIns="0" bIns="0" rtlCol="0" anchor="t">
            <a:normAutofit/>
          </a:bodyPr>
          <a:lstStyle/>
          <a:p>
            <a:pPr algn="l" indent="0" marL="0">
              <a:buNone/>
            </a:pPr>
            <a:r>
              <a:rPr lang="en-US" sz="1000" b="1" spc="110" kern="0" dirty="0">
                <a:solidFill>
                  <a:srgbClr val="E8E6E0"/>
                </a:solidFill>
                <a:latin typeface="Courier New" pitchFamily="34" charset="0"/>
                <a:ea typeface="Courier New" pitchFamily="34" charset="-122"/>
                <a:cs typeface="Courier New" pitchFamily="34" charset="-120"/>
              </a:rPr>
              <a:t>AGENT</a:t>
            </a:r>
            <a:endParaRPr lang="en-US" sz="1000" dirty="0"/>
          </a:p>
        </p:txBody>
      </p:sp>
      <p:sp>
        <p:nvSpPr>
          <p:cNvPr id="37" name="Text 35"/>
          <p:cNvSpPr txBox="1"/>
          <p:nvPr/>
        </p:nvSpPr>
        <p:spPr>
          <a:xfrm>
            <a:off x="9784080" y="4654296"/>
            <a:ext cx="1280160" cy="237744"/>
          </a:xfrm>
          <a:prstGeom prst="rect">
            <a:avLst/>
          </a:prstGeom>
          <a:noFill/>
          <a:ln/>
        </p:spPr>
        <p:txBody>
          <a:bodyPr wrap="square" lIns="0" tIns="0" rIns="0" bIns="0" rtlCol="0" anchor="t">
            <a:normAutofit/>
          </a:bodyPr>
          <a:lstStyle/>
          <a:p>
            <a:pPr algn="r" indent="0" marL="0">
              <a:buNone/>
            </a:pPr>
            <a:r>
              <a:rPr lang="en-US" sz="950" dirty="0">
                <a:solidFill>
                  <a:srgbClr val="9A97A3"/>
                </a:solidFill>
                <a:latin typeface="Arial" pitchFamily="34" charset="0"/>
                <a:ea typeface="Arial" pitchFamily="34" charset="-122"/>
                <a:cs typeface="Arial" pitchFamily="34" charset="-120"/>
              </a:rPr>
              <a:t>handoff informed</a:t>
            </a:r>
            <a:endParaRPr lang="en-US" sz="950" dirty="0"/>
          </a:p>
        </p:txBody>
      </p:sp>
      <p:sp>
        <p:nvSpPr>
          <p:cNvPr id="38" name="Shape 36"/>
          <p:cNvSpPr/>
          <p:nvPr/>
        </p:nvSpPr>
        <p:spPr>
          <a:xfrm>
            <a:off x="7827264" y="5376672"/>
            <a:ext cx="3154680" cy="347472"/>
          </a:xfrm>
          <a:prstGeom prst="roundRect">
            <a:avLst/>
          </a:prstGeom>
          <a:solidFill>
            <a:srgbClr val="100F14"/>
          </a:solidFill>
          <a:ln w="10160">
            <a:solidFill>
              <a:srgbClr val="6FB3E8"/>
            </a:solidFill>
            <a:prstDash val="solid"/>
          </a:ln>
        </p:spPr>
      </p:sp>
      <p:sp>
        <p:nvSpPr>
          <p:cNvPr id="39" name="Text 37"/>
          <p:cNvSpPr txBox="1"/>
          <p:nvPr/>
        </p:nvSpPr>
        <p:spPr>
          <a:xfrm>
            <a:off x="7991856" y="5468112"/>
            <a:ext cx="2816352" cy="137160"/>
          </a:xfrm>
          <a:prstGeom prst="rect">
            <a:avLst/>
          </a:prstGeom>
          <a:noFill/>
          <a:ln/>
        </p:spPr>
        <p:txBody>
          <a:bodyPr wrap="square" lIns="0" tIns="0" rIns="0" bIns="0" rtlCol="0" anchor="t">
            <a:normAutofit/>
          </a:bodyPr>
          <a:lstStyle/>
          <a:p>
            <a:pPr algn="ctr" indent="0" marL="0">
              <a:buNone/>
            </a:pPr>
            <a:r>
              <a:rPr lang="en-US" sz="740" dirty="0">
                <a:solidFill>
                  <a:srgbClr val="6FB3E8"/>
                </a:solidFill>
                <a:latin typeface="Courier New" pitchFamily="34" charset="0"/>
                <a:ea typeface="Courier New" pitchFamily="34" charset="-122"/>
                <a:cs typeface="Courier New" pitchFamily="34" charset="-120"/>
              </a:rPr>
              <a:t>context: preserved  •  customer: resolved</a:t>
            </a:r>
            <a:endParaRPr lang="en-US" sz="740" dirty="0"/>
          </a:p>
        </p:txBody>
      </p:sp>
      <p:sp>
        <p:nvSpPr>
          <p:cNvPr id="40" name="Text 38"/>
          <p:cNvSpPr txBox="1"/>
          <p:nvPr/>
        </p:nvSpPr>
        <p:spPr>
          <a:xfrm>
            <a:off x="786384" y="6016752"/>
            <a:ext cx="1143000" cy="228600"/>
          </a:xfrm>
          <a:prstGeom prst="rect">
            <a:avLst/>
          </a:prstGeom>
          <a:noFill/>
          <a:ln/>
        </p:spPr>
        <p:txBody>
          <a:bodyPr wrap="square" lIns="0" tIns="0" rIns="0" bIns="0" rtlCol="0" anchor="t">
            <a:normAutofit/>
          </a:bodyPr>
          <a:lstStyle/>
          <a:p>
            <a:pPr algn="l" indent="0" marL="0">
              <a:buNone/>
            </a:pPr>
            <a:r>
              <a:rPr lang="en-US" sz="1100" b="1" spc="260" kern="0" dirty="0">
                <a:solidFill>
                  <a:srgbClr val="E8E6E0"/>
                </a:solidFill>
                <a:latin typeface="Courier New" pitchFamily="34" charset="0"/>
                <a:ea typeface="Courier New" pitchFamily="34" charset="-122"/>
                <a:cs typeface="Courier New" pitchFamily="34" charset="-120"/>
              </a:rPr>
              <a:t>CYBIC</a:t>
            </a:r>
            <a:endParaRPr lang="en-US" sz="1100" dirty="0"/>
          </a:p>
        </p:txBody>
      </p:sp>
      <p:sp>
        <p:nvSpPr>
          <p:cNvPr id="41" name="Text 39"/>
          <p:cNvSpPr txBox="1"/>
          <p:nvPr/>
        </p:nvSpPr>
        <p:spPr>
          <a:xfrm>
            <a:off x="1965960" y="6053328"/>
            <a:ext cx="2011680" cy="164592"/>
          </a:xfrm>
          <a:prstGeom prst="rect">
            <a:avLst/>
          </a:prstGeom>
          <a:noFill/>
          <a:ln/>
        </p:spPr>
        <p:txBody>
          <a:bodyPr wrap="square" lIns="0" tIns="0" rIns="0" bIns="0" rtlCol="0" anchor="t">
            <a:normAutofit/>
          </a:bodyPr>
          <a:lstStyle/>
          <a:p>
            <a:pPr algn="l" indent="0" marL="0">
              <a:buNone/>
            </a:pPr>
            <a:r>
              <a:rPr lang="en-US" sz="800" dirty="0">
                <a:solidFill>
                  <a:srgbClr val="9A97A3"/>
                </a:solidFill>
                <a:latin typeface="Courier New" pitchFamily="34" charset="0"/>
                <a:ea typeface="Courier New" pitchFamily="34" charset="-122"/>
                <a:cs typeface="Courier New" pitchFamily="34" charset="-120"/>
              </a:rPr>
              <a:t>Prepared August 2026</a:t>
            </a:r>
            <a:endParaRPr lang="en-US" sz="800" dirty="0"/>
          </a:p>
        </p:txBody>
      </p:sp>
      <p:sp>
        <p:nvSpPr>
          <p:cNvPr id="42" name="Shape 40"/>
          <p:cNvSpPr/>
          <p:nvPr/>
        </p:nvSpPr>
        <p:spPr>
          <a:xfrm>
            <a:off x="658368" y="6428232"/>
            <a:ext cx="10863072" cy="0"/>
          </a:xfrm>
          <a:prstGeom prst="line">
            <a:avLst/>
          </a:prstGeom>
          <a:noFill/>
          <a:ln w="8890">
            <a:solidFill>
              <a:srgbClr val="34323E"/>
            </a:solidFill>
            <a:prstDash val="solid"/>
          </a:ln>
        </p:spPr>
      </p:sp>
      <p:sp>
        <p:nvSpPr>
          <p:cNvPr id="43" name="Text 41"/>
          <p:cNvSpPr txBox="1"/>
          <p:nvPr/>
        </p:nvSpPr>
        <p:spPr>
          <a:xfrm>
            <a:off x="685800" y="6473952"/>
            <a:ext cx="2926080" cy="146304"/>
          </a:xfrm>
          <a:prstGeom prst="rect">
            <a:avLst/>
          </a:prstGeom>
          <a:noFill/>
          <a:ln/>
        </p:spPr>
        <p:txBody>
          <a:bodyPr wrap="square" lIns="0" tIns="0" rIns="0" bIns="0" rtlCol="0" anchor="t">
            <a:normAutofit/>
          </a:bodyPr>
          <a:lstStyle/>
          <a:p>
            <a:pPr algn="l" indent="0" marL="0">
              <a:buNone/>
            </a:pPr>
            <a:r>
              <a:rPr lang="en-US" sz="750" spc="120" kern="0" dirty="0">
                <a:solidFill>
                  <a:srgbClr val="9A97A3"/>
                </a:solidFill>
                <a:latin typeface="Courier New" pitchFamily="34" charset="0"/>
                <a:ea typeface="Courier New" pitchFamily="34" charset="-122"/>
                <a:cs typeface="Courier New" pitchFamily="34" charset="-120"/>
              </a:rPr>
              <a:t>CYBIC  •  CONFIDENTIAL</a:t>
            </a:r>
            <a:endParaRPr lang="en-US" sz="750" dirty="0"/>
          </a:p>
        </p:txBody>
      </p:sp>
      <p:sp>
        <p:nvSpPr>
          <p:cNvPr id="25" name="Slide Number Placeholder 0"/>
          <p:cNvSpPr>
            <a:spLocks noGrp="1"/>
          </p:cNvSpPr>
          <p:nvPr>
            <p:ph type="sldNum" sz="quarter" idx="4294967295"/>
          </p:nvPr>
        </p:nvSpPr>
        <p:spPr>
          <a:xfrm>
            <a:off x="11109960" y="6483096"/>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9A97A3"/>
                </a:solidFill>
                <a:latin typeface="Courier New"/>
                <a:ea typeface="Courier New"/>
                <a:cs typeface="Courier New"/>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61D"/>
        </a:solidFill>
      </p:bgPr>
    </p:bg>
    <p:spTree>
      <p:nvGrpSpPr>
        <p:cNvPr id="1" name=""/>
        <p:cNvGrpSpPr/>
        <p:nvPr/>
      </p:nvGrpSpPr>
      <p:grpSpPr>
        <a:xfrm>
          <a:off x="0" y="0"/>
          <a:ext cx="0" cy="0"/>
          <a:chOff x="0" y="0"/>
          <a:chExt cx="0" cy="0"/>
        </a:xfrm>
      </p:grpSpPr>
      <p:sp>
        <p:nvSpPr>
          <p:cNvPr id="2" name="Text 0"/>
          <p:cNvSpPr txBox="1"/>
          <p:nvPr/>
        </p:nvSpPr>
        <p:spPr>
          <a:xfrm>
            <a:off x="713232" y="384048"/>
            <a:ext cx="5120640" cy="219456"/>
          </a:xfrm>
          <a:prstGeom prst="rect">
            <a:avLst/>
          </a:prstGeom>
          <a:noFill/>
          <a:ln/>
        </p:spPr>
        <p:txBody>
          <a:bodyPr wrap="square" lIns="0" tIns="0" rIns="0" bIns="0" rtlCol="0" anchor="t">
            <a:normAutofit/>
          </a:bodyPr>
          <a:lstStyle/>
          <a:p>
            <a:pPr algn="l" indent="0" marL="0">
              <a:buNone/>
            </a:pPr>
            <a:r>
              <a:rPr lang="en-US" sz="900" b="1" spc="210" kern="0" dirty="0">
                <a:solidFill>
                  <a:srgbClr val="9A97A3"/>
                </a:solidFill>
                <a:latin typeface="Courier New" pitchFamily="34" charset="0"/>
                <a:ea typeface="Courier New" pitchFamily="34" charset="-122"/>
                <a:cs typeface="Courier New" pitchFamily="34" charset="-120"/>
              </a:rPr>
              <a:t>PROBLEM STATEMENT</a:t>
            </a:r>
            <a:endParaRPr lang="en-US" sz="900" dirty="0"/>
          </a:p>
        </p:txBody>
      </p:sp>
      <p:sp>
        <p:nvSpPr>
          <p:cNvPr id="3" name="Text 1"/>
          <p:cNvSpPr txBox="1"/>
          <p:nvPr/>
        </p:nvSpPr>
        <p:spPr>
          <a:xfrm>
            <a:off x="10424160" y="347472"/>
            <a:ext cx="1051560" cy="228600"/>
          </a:xfrm>
          <a:prstGeom prst="rect">
            <a:avLst/>
          </a:prstGeom>
          <a:noFill/>
          <a:ln/>
        </p:spPr>
        <p:txBody>
          <a:bodyPr wrap="square" lIns="0" tIns="0" rIns="0" bIns="0" rtlCol="0" anchor="t">
            <a:normAutofit/>
          </a:bodyPr>
          <a:lstStyle/>
          <a:p>
            <a:pPr algn="r" indent="0" marL="0">
              <a:buNone/>
            </a:pPr>
            <a:r>
              <a:rPr lang="en-US" sz="1000" b="1" spc="240" kern="0" dirty="0">
                <a:solidFill>
                  <a:srgbClr val="E8E6E0"/>
                </a:solidFill>
                <a:latin typeface="Courier New" pitchFamily="34" charset="0"/>
                <a:ea typeface="Courier New" pitchFamily="34" charset="-122"/>
                <a:cs typeface="Courier New" pitchFamily="34" charset="-120"/>
              </a:rPr>
              <a:t>CYBIC</a:t>
            </a:r>
            <a:endParaRPr lang="en-US" sz="1000" dirty="0"/>
          </a:p>
        </p:txBody>
      </p:sp>
      <p:sp>
        <p:nvSpPr>
          <p:cNvPr id="4" name="Text 2"/>
          <p:cNvSpPr txBox="1"/>
          <p:nvPr/>
        </p:nvSpPr>
        <p:spPr>
          <a:xfrm>
            <a:off x="685800" y="713232"/>
            <a:ext cx="10744200" cy="640080"/>
          </a:xfrm>
          <a:prstGeom prst="rect">
            <a:avLst/>
          </a:prstGeom>
          <a:noFill/>
          <a:ln/>
        </p:spPr>
        <p:txBody>
          <a:bodyPr wrap="square" lIns="0" tIns="0" rIns="0" bIns="0" rtlCol="0" anchor="t">
            <a:normAutofit/>
          </a:bodyPr>
          <a:lstStyle/>
          <a:p>
            <a:pPr algn="l" indent="0" marL="0">
              <a:buNone/>
            </a:pPr>
            <a:r>
              <a:rPr lang="en-US" sz="2800" b="1" dirty="0">
                <a:solidFill>
                  <a:srgbClr val="E8A33D"/>
                </a:solidFill>
                <a:latin typeface="Arial" pitchFamily="34" charset="0"/>
                <a:ea typeface="Arial" pitchFamily="34" charset="-122"/>
                <a:cs typeface="Arial" pitchFamily="34" charset="-120"/>
              </a:rPr>
              <a:t>The real problem is fragmented context</a:t>
            </a:r>
            <a:endParaRPr lang="en-US" sz="2800" dirty="0"/>
          </a:p>
        </p:txBody>
      </p:sp>
      <p:sp>
        <p:nvSpPr>
          <p:cNvPr id="5" name="Shape 3"/>
          <p:cNvSpPr/>
          <p:nvPr/>
        </p:nvSpPr>
        <p:spPr>
          <a:xfrm>
            <a:off x="658368" y="6428232"/>
            <a:ext cx="10863072" cy="0"/>
          </a:xfrm>
          <a:prstGeom prst="line">
            <a:avLst/>
          </a:prstGeom>
          <a:noFill/>
          <a:ln w="8890">
            <a:solidFill>
              <a:srgbClr val="34323E"/>
            </a:solidFill>
            <a:prstDash val="solid"/>
          </a:ln>
        </p:spPr>
      </p:sp>
      <p:sp>
        <p:nvSpPr>
          <p:cNvPr id="6" name="Text 4"/>
          <p:cNvSpPr txBox="1"/>
          <p:nvPr/>
        </p:nvSpPr>
        <p:spPr>
          <a:xfrm>
            <a:off x="685800" y="6473952"/>
            <a:ext cx="2926080" cy="146304"/>
          </a:xfrm>
          <a:prstGeom prst="rect">
            <a:avLst/>
          </a:prstGeom>
          <a:noFill/>
          <a:ln/>
        </p:spPr>
        <p:txBody>
          <a:bodyPr wrap="square" lIns="0" tIns="0" rIns="0" bIns="0" rtlCol="0" anchor="t">
            <a:normAutofit/>
          </a:bodyPr>
          <a:lstStyle/>
          <a:p>
            <a:pPr algn="l" indent="0" marL="0">
              <a:buNone/>
            </a:pPr>
            <a:r>
              <a:rPr lang="en-US" sz="750" spc="120" kern="0" dirty="0">
                <a:solidFill>
                  <a:srgbClr val="9A97A3"/>
                </a:solidFill>
                <a:latin typeface="Courier New" pitchFamily="34" charset="0"/>
                <a:ea typeface="Courier New" pitchFamily="34" charset="-122"/>
                <a:cs typeface="Courier New" pitchFamily="34" charset="-120"/>
              </a:rPr>
              <a:t>CYBIC  •  CONFIDENTIAL</a:t>
            </a:r>
            <a:endParaRPr lang="en-US" sz="750" dirty="0"/>
          </a:p>
        </p:txBody>
      </p:sp>
      <p:sp>
        <p:nvSpPr>
          <p:cNvPr id="7" name="Text 5"/>
          <p:cNvSpPr txBox="1"/>
          <p:nvPr/>
        </p:nvSpPr>
        <p:spPr>
          <a:xfrm>
            <a:off x="749808" y="1572768"/>
            <a:ext cx="1005840" cy="219456"/>
          </a:xfrm>
          <a:prstGeom prst="rect">
            <a:avLst/>
          </a:prstGeom>
          <a:noFill/>
          <a:ln/>
        </p:spPr>
        <p:txBody>
          <a:bodyPr wrap="square" lIns="0" tIns="0" rIns="0" bIns="0" rtlCol="0" anchor="t">
            <a:normAutofit/>
          </a:bodyPr>
          <a:lstStyle/>
          <a:p>
            <a:pPr algn="l" indent="0" marL="0">
              <a:buNone/>
            </a:pPr>
            <a:r>
              <a:rPr lang="en-US" sz="900" b="1" spc="150" kern="0" dirty="0">
                <a:solidFill>
                  <a:srgbClr val="E86F6F"/>
                </a:solidFill>
                <a:latin typeface="Courier New" pitchFamily="34" charset="0"/>
                <a:ea typeface="Courier New" pitchFamily="34" charset="-122"/>
                <a:cs typeface="Courier New" pitchFamily="34" charset="-120"/>
              </a:rPr>
              <a:t>TODAY</a:t>
            </a:r>
            <a:endParaRPr lang="en-US" sz="900" dirty="0"/>
          </a:p>
        </p:txBody>
      </p:sp>
      <p:sp>
        <p:nvSpPr>
          <p:cNvPr id="8" name="Shape 6"/>
          <p:cNvSpPr/>
          <p:nvPr/>
        </p:nvSpPr>
        <p:spPr>
          <a:xfrm>
            <a:off x="749808" y="1938528"/>
            <a:ext cx="1874520" cy="1143000"/>
          </a:xfrm>
          <a:prstGeom prst="roundRect">
            <a:avLst/>
          </a:prstGeom>
          <a:solidFill>
            <a:srgbClr val="1E1E28"/>
          </a:solidFill>
          <a:ln w="10160">
            <a:solidFill>
              <a:srgbClr val="E86F6F"/>
            </a:solidFill>
            <a:prstDash val="solid"/>
          </a:ln>
        </p:spPr>
      </p:sp>
      <p:sp>
        <p:nvSpPr>
          <p:cNvPr id="9" name="Text 7"/>
          <p:cNvSpPr txBox="1"/>
          <p:nvPr/>
        </p:nvSpPr>
        <p:spPr>
          <a:xfrm>
            <a:off x="914400" y="2093976"/>
            <a:ext cx="1554480" cy="201168"/>
          </a:xfrm>
          <a:prstGeom prst="rect">
            <a:avLst/>
          </a:prstGeom>
          <a:noFill/>
          <a:ln/>
        </p:spPr>
        <p:txBody>
          <a:bodyPr wrap="square" lIns="0" tIns="0" rIns="0" bIns="0" rtlCol="0" anchor="t">
            <a:normAutofit/>
          </a:bodyPr>
          <a:lstStyle/>
          <a:p>
            <a:pPr algn="l" indent="0" marL="0">
              <a:buNone/>
            </a:pPr>
            <a:r>
              <a:rPr lang="en-US" sz="800" b="1" spc="110" kern="0" dirty="0">
                <a:solidFill>
                  <a:srgbClr val="E86F6F"/>
                </a:solidFill>
                <a:latin typeface="Courier New" pitchFamily="34" charset="0"/>
                <a:ea typeface="Courier New" pitchFamily="34" charset="-122"/>
                <a:cs typeface="Courier New" pitchFamily="34" charset="-120"/>
              </a:rPr>
              <a:t>WEB CHAT</a:t>
            </a:r>
            <a:endParaRPr lang="en-US" sz="800" dirty="0"/>
          </a:p>
        </p:txBody>
      </p:sp>
      <p:sp>
        <p:nvSpPr>
          <p:cNvPr id="10" name="Text 8"/>
          <p:cNvSpPr txBox="1"/>
          <p:nvPr/>
        </p:nvSpPr>
        <p:spPr>
          <a:xfrm>
            <a:off x="914400" y="2395728"/>
            <a:ext cx="1554480" cy="512064"/>
          </a:xfrm>
          <a:prstGeom prst="rect">
            <a:avLst/>
          </a:prstGeom>
          <a:noFill/>
          <a:ln/>
        </p:spPr>
        <p:txBody>
          <a:bodyPr wrap="square" lIns="0" tIns="0" rIns="0" bIns="0" rtlCol="0" anchor="t">
            <a:normAutofit/>
          </a:bodyPr>
          <a:lstStyle/>
          <a:p>
            <a:pPr algn="l" indent="0" marL="0">
              <a:buNone/>
            </a:pPr>
            <a:r>
              <a:rPr lang="en-US" sz="1300" dirty="0">
                <a:solidFill>
                  <a:srgbClr val="E8E6E0"/>
                </a:solidFill>
                <a:latin typeface="Arial" pitchFamily="34" charset="0"/>
                <a:ea typeface="Arial" pitchFamily="34" charset="-122"/>
                <a:cs typeface="Arial" pitchFamily="34" charset="-120"/>
              </a:rPr>
              <a:t>Roof damage</a:t>
            </a:r>
            <a:endParaRPr lang="en-US" sz="1300" dirty="0"/>
          </a:p>
          <a:p>
            <a:pPr algn="l" indent="0" marL="0">
              <a:buNone/>
            </a:pPr>
            <a:r>
              <a:rPr lang="en-US" sz="1300" dirty="0">
                <a:solidFill>
                  <a:srgbClr val="E8E6E0"/>
                </a:solidFill>
                <a:latin typeface="Arial" pitchFamily="34" charset="0"/>
                <a:ea typeface="Arial" pitchFamily="34" charset="-122"/>
                <a:cs typeface="Arial" pitchFamily="34" charset="-120"/>
              </a:rPr>
              <a:t>Contact details</a:t>
            </a:r>
            <a:endParaRPr lang="en-US" sz="1300" dirty="0"/>
          </a:p>
        </p:txBody>
      </p:sp>
      <p:sp>
        <p:nvSpPr>
          <p:cNvPr id="11" name="Shape 9"/>
          <p:cNvSpPr/>
          <p:nvPr/>
        </p:nvSpPr>
        <p:spPr>
          <a:xfrm>
            <a:off x="2944368" y="1938528"/>
            <a:ext cx="1874520" cy="1143000"/>
          </a:xfrm>
          <a:prstGeom prst="roundRect">
            <a:avLst/>
          </a:prstGeom>
          <a:solidFill>
            <a:srgbClr val="1E1E28"/>
          </a:solidFill>
          <a:ln w="10160">
            <a:solidFill>
              <a:srgbClr val="E86F6F"/>
            </a:solidFill>
            <a:prstDash val="solid"/>
          </a:ln>
        </p:spPr>
      </p:sp>
      <p:sp>
        <p:nvSpPr>
          <p:cNvPr id="12" name="Text 10"/>
          <p:cNvSpPr txBox="1"/>
          <p:nvPr/>
        </p:nvSpPr>
        <p:spPr>
          <a:xfrm>
            <a:off x="3108960" y="2093976"/>
            <a:ext cx="1554480" cy="201168"/>
          </a:xfrm>
          <a:prstGeom prst="rect">
            <a:avLst/>
          </a:prstGeom>
          <a:noFill/>
          <a:ln/>
        </p:spPr>
        <p:txBody>
          <a:bodyPr wrap="square" lIns="0" tIns="0" rIns="0" bIns="0" rtlCol="0" anchor="t">
            <a:normAutofit/>
          </a:bodyPr>
          <a:lstStyle/>
          <a:p>
            <a:pPr algn="l" indent="0" marL="0">
              <a:buNone/>
            </a:pPr>
            <a:r>
              <a:rPr lang="en-US" sz="800" b="1" spc="110" kern="0" dirty="0">
                <a:solidFill>
                  <a:srgbClr val="E86F6F"/>
                </a:solidFill>
                <a:latin typeface="Courier New" pitchFamily="34" charset="0"/>
                <a:ea typeface="Courier New" pitchFamily="34" charset="-122"/>
                <a:cs typeface="Courier New" pitchFamily="34" charset="-120"/>
              </a:rPr>
              <a:t>PHONE</a:t>
            </a:r>
            <a:endParaRPr lang="en-US" sz="800" dirty="0"/>
          </a:p>
        </p:txBody>
      </p:sp>
      <p:sp>
        <p:nvSpPr>
          <p:cNvPr id="13" name="Text 11"/>
          <p:cNvSpPr txBox="1"/>
          <p:nvPr/>
        </p:nvSpPr>
        <p:spPr>
          <a:xfrm>
            <a:off x="3108960" y="2395728"/>
            <a:ext cx="1554480" cy="512064"/>
          </a:xfrm>
          <a:prstGeom prst="rect">
            <a:avLst/>
          </a:prstGeom>
          <a:noFill/>
          <a:ln/>
        </p:spPr>
        <p:txBody>
          <a:bodyPr wrap="square" lIns="0" tIns="0" rIns="0" bIns="0" rtlCol="0" anchor="t">
            <a:normAutofit/>
          </a:bodyPr>
          <a:lstStyle/>
          <a:p>
            <a:pPr algn="l" indent="0" marL="0">
              <a:buNone/>
            </a:pPr>
            <a:r>
              <a:rPr lang="en-US" sz="1300" dirty="0">
                <a:solidFill>
                  <a:srgbClr val="E8E6E0"/>
                </a:solidFill>
                <a:latin typeface="Arial" pitchFamily="34" charset="0"/>
                <a:ea typeface="Arial" pitchFamily="34" charset="-122"/>
                <a:cs typeface="Arial" pitchFamily="34" charset="-120"/>
              </a:rPr>
              <a:t>“Please repeat</a:t>
            </a:r>
            <a:endParaRPr lang="en-US" sz="1300" dirty="0"/>
          </a:p>
          <a:p>
            <a:pPr algn="l" indent="0" marL="0">
              <a:buNone/>
            </a:pPr>
            <a:r>
              <a:rPr lang="en-US" sz="1300" dirty="0">
                <a:solidFill>
                  <a:srgbClr val="E8E6E0"/>
                </a:solidFill>
                <a:latin typeface="Arial" pitchFamily="34" charset="0"/>
                <a:ea typeface="Arial" pitchFamily="34" charset="-122"/>
                <a:cs typeface="Arial" pitchFamily="34" charset="-120"/>
              </a:rPr>
              <a:t>that information.”</a:t>
            </a:r>
            <a:endParaRPr lang="en-US" sz="1300" dirty="0"/>
          </a:p>
        </p:txBody>
      </p:sp>
      <p:sp>
        <p:nvSpPr>
          <p:cNvPr id="14" name="Shape 12"/>
          <p:cNvSpPr/>
          <p:nvPr/>
        </p:nvSpPr>
        <p:spPr>
          <a:xfrm>
            <a:off x="749808" y="3794760"/>
            <a:ext cx="1874520" cy="1143000"/>
          </a:xfrm>
          <a:prstGeom prst="roundRect">
            <a:avLst/>
          </a:prstGeom>
          <a:solidFill>
            <a:srgbClr val="1E1E28"/>
          </a:solidFill>
          <a:ln w="10160">
            <a:solidFill>
              <a:srgbClr val="E86F6F"/>
            </a:solidFill>
            <a:prstDash val="solid"/>
          </a:ln>
        </p:spPr>
      </p:sp>
      <p:sp>
        <p:nvSpPr>
          <p:cNvPr id="15" name="Text 13"/>
          <p:cNvSpPr txBox="1"/>
          <p:nvPr/>
        </p:nvSpPr>
        <p:spPr>
          <a:xfrm>
            <a:off x="914400" y="3950208"/>
            <a:ext cx="1554480" cy="201168"/>
          </a:xfrm>
          <a:prstGeom prst="rect">
            <a:avLst/>
          </a:prstGeom>
          <a:noFill/>
          <a:ln/>
        </p:spPr>
        <p:txBody>
          <a:bodyPr wrap="square" lIns="0" tIns="0" rIns="0" bIns="0" rtlCol="0" anchor="t">
            <a:normAutofit/>
          </a:bodyPr>
          <a:lstStyle/>
          <a:p>
            <a:pPr algn="l" indent="0" marL="0">
              <a:buNone/>
            </a:pPr>
            <a:r>
              <a:rPr lang="en-US" sz="800" b="1" spc="110" kern="0" dirty="0">
                <a:solidFill>
                  <a:srgbClr val="E86F6F"/>
                </a:solidFill>
                <a:latin typeface="Courier New" pitchFamily="34" charset="0"/>
                <a:ea typeface="Courier New" pitchFamily="34" charset="-122"/>
                <a:cs typeface="Courier New" pitchFamily="34" charset="-120"/>
              </a:rPr>
              <a:t>CRM</a:t>
            </a:r>
            <a:endParaRPr lang="en-US" sz="800" dirty="0"/>
          </a:p>
        </p:txBody>
      </p:sp>
      <p:sp>
        <p:nvSpPr>
          <p:cNvPr id="16" name="Text 14"/>
          <p:cNvSpPr txBox="1"/>
          <p:nvPr/>
        </p:nvSpPr>
        <p:spPr>
          <a:xfrm>
            <a:off x="914400" y="4251960"/>
            <a:ext cx="1554480" cy="512064"/>
          </a:xfrm>
          <a:prstGeom prst="rect">
            <a:avLst/>
          </a:prstGeom>
          <a:noFill/>
          <a:ln/>
        </p:spPr>
        <p:txBody>
          <a:bodyPr wrap="square" lIns="0" tIns="0" rIns="0" bIns="0" rtlCol="0" anchor="t">
            <a:normAutofit/>
          </a:bodyPr>
          <a:lstStyle/>
          <a:p>
            <a:pPr algn="l" indent="0" marL="0">
              <a:buNone/>
            </a:pPr>
            <a:r>
              <a:rPr lang="en-US" sz="1300" dirty="0">
                <a:solidFill>
                  <a:srgbClr val="E8E6E0"/>
                </a:solidFill>
                <a:latin typeface="Arial" pitchFamily="34" charset="0"/>
                <a:ea typeface="Arial" pitchFamily="34" charset="-122"/>
                <a:cs typeface="Arial" pitchFamily="34" charset="-120"/>
              </a:rPr>
              <a:t>Partial lead</a:t>
            </a:r>
            <a:endParaRPr lang="en-US" sz="1300" dirty="0"/>
          </a:p>
          <a:p>
            <a:pPr algn="l" indent="0" marL="0">
              <a:buNone/>
            </a:pPr>
            <a:r>
              <a:rPr lang="en-US" sz="1300" dirty="0">
                <a:solidFill>
                  <a:srgbClr val="E8E6E0"/>
                </a:solidFill>
                <a:latin typeface="Arial" pitchFamily="34" charset="0"/>
                <a:ea typeface="Arial" pitchFamily="34" charset="-122"/>
                <a:cs typeface="Arial" pitchFamily="34" charset="-120"/>
              </a:rPr>
              <a:t>record</a:t>
            </a:r>
            <a:endParaRPr lang="en-US" sz="1300" dirty="0"/>
          </a:p>
        </p:txBody>
      </p:sp>
      <p:sp>
        <p:nvSpPr>
          <p:cNvPr id="17" name="Shape 15"/>
          <p:cNvSpPr/>
          <p:nvPr/>
        </p:nvSpPr>
        <p:spPr>
          <a:xfrm>
            <a:off x="2944368" y="3794760"/>
            <a:ext cx="1874520" cy="1143000"/>
          </a:xfrm>
          <a:prstGeom prst="roundRect">
            <a:avLst/>
          </a:prstGeom>
          <a:solidFill>
            <a:srgbClr val="1E1E28"/>
          </a:solidFill>
          <a:ln w="10160">
            <a:solidFill>
              <a:srgbClr val="E86F6F"/>
            </a:solidFill>
            <a:prstDash val="solid"/>
          </a:ln>
        </p:spPr>
      </p:sp>
      <p:sp>
        <p:nvSpPr>
          <p:cNvPr id="18" name="Text 16"/>
          <p:cNvSpPr txBox="1"/>
          <p:nvPr/>
        </p:nvSpPr>
        <p:spPr>
          <a:xfrm>
            <a:off x="3108960" y="3950208"/>
            <a:ext cx="1554480" cy="201168"/>
          </a:xfrm>
          <a:prstGeom prst="rect">
            <a:avLst/>
          </a:prstGeom>
          <a:noFill/>
          <a:ln/>
        </p:spPr>
        <p:txBody>
          <a:bodyPr wrap="square" lIns="0" tIns="0" rIns="0" bIns="0" rtlCol="0" anchor="t">
            <a:normAutofit/>
          </a:bodyPr>
          <a:lstStyle/>
          <a:p>
            <a:pPr algn="l" indent="0" marL="0">
              <a:buNone/>
            </a:pPr>
            <a:r>
              <a:rPr lang="en-US" sz="800" b="1" spc="110" kern="0" dirty="0">
                <a:solidFill>
                  <a:srgbClr val="E86F6F"/>
                </a:solidFill>
                <a:latin typeface="Courier New" pitchFamily="34" charset="0"/>
                <a:ea typeface="Courier New" pitchFamily="34" charset="-122"/>
                <a:cs typeface="Courier New" pitchFamily="34" charset="-120"/>
              </a:rPr>
              <a:t>SCHEDULING</a:t>
            </a:r>
            <a:endParaRPr lang="en-US" sz="800" dirty="0"/>
          </a:p>
        </p:txBody>
      </p:sp>
      <p:sp>
        <p:nvSpPr>
          <p:cNvPr id="19" name="Text 17"/>
          <p:cNvSpPr txBox="1"/>
          <p:nvPr/>
        </p:nvSpPr>
        <p:spPr>
          <a:xfrm>
            <a:off x="3108960" y="4251960"/>
            <a:ext cx="1554480" cy="512064"/>
          </a:xfrm>
          <a:prstGeom prst="rect">
            <a:avLst/>
          </a:prstGeom>
          <a:noFill/>
          <a:ln/>
        </p:spPr>
        <p:txBody>
          <a:bodyPr wrap="square" lIns="0" tIns="0" rIns="0" bIns="0" rtlCol="0" anchor="t">
            <a:normAutofit/>
          </a:bodyPr>
          <a:lstStyle/>
          <a:p>
            <a:pPr algn="l" indent="0" marL="0">
              <a:buNone/>
            </a:pPr>
            <a:r>
              <a:rPr lang="en-US" sz="1300" dirty="0">
                <a:solidFill>
                  <a:srgbClr val="E8E6E0"/>
                </a:solidFill>
                <a:latin typeface="Arial" pitchFamily="34" charset="0"/>
                <a:ea typeface="Arial" pitchFamily="34" charset="-122"/>
                <a:cs typeface="Arial" pitchFamily="34" charset="-120"/>
              </a:rPr>
              <a:t>Manual lookup</a:t>
            </a:r>
            <a:endParaRPr lang="en-US" sz="1300" dirty="0"/>
          </a:p>
          <a:p>
            <a:pPr algn="l" indent="0" marL="0">
              <a:buNone/>
            </a:pPr>
            <a:r>
              <a:rPr lang="en-US" sz="1300" dirty="0">
                <a:solidFill>
                  <a:srgbClr val="E8E6E0"/>
                </a:solidFill>
                <a:latin typeface="Arial" pitchFamily="34" charset="0"/>
                <a:ea typeface="Arial" pitchFamily="34" charset="-122"/>
                <a:cs typeface="Arial" pitchFamily="34" charset="-120"/>
              </a:rPr>
              <a:t>+ follow-up</a:t>
            </a:r>
            <a:endParaRPr lang="en-US" sz="1300" dirty="0"/>
          </a:p>
        </p:txBody>
      </p:sp>
      <p:sp>
        <p:nvSpPr>
          <p:cNvPr id="20" name="Shape 18"/>
          <p:cNvSpPr/>
          <p:nvPr/>
        </p:nvSpPr>
        <p:spPr>
          <a:xfrm>
            <a:off x="2633472" y="2514600"/>
            <a:ext cx="0" cy="1508760"/>
          </a:xfrm>
          <a:prstGeom prst="line">
            <a:avLst/>
          </a:prstGeom>
          <a:noFill/>
          <a:ln w="15240">
            <a:solidFill>
              <a:srgbClr val="E86F6F"/>
            </a:solidFill>
            <a:prstDash val="solid"/>
          </a:ln>
        </p:spPr>
      </p:sp>
      <p:sp>
        <p:nvSpPr>
          <p:cNvPr id="21" name="Shape 19"/>
          <p:cNvSpPr/>
          <p:nvPr/>
        </p:nvSpPr>
        <p:spPr>
          <a:xfrm>
            <a:off x="1700784" y="3401568"/>
            <a:ext cx="2157984" cy="0"/>
          </a:xfrm>
          <a:prstGeom prst="line">
            <a:avLst/>
          </a:prstGeom>
          <a:noFill/>
          <a:ln w="15240">
            <a:solidFill>
              <a:srgbClr val="E86F6F"/>
            </a:solidFill>
            <a:prstDash val="solid"/>
          </a:ln>
        </p:spPr>
      </p:sp>
      <p:sp>
        <p:nvSpPr>
          <p:cNvPr id="22" name="Shape 20"/>
          <p:cNvSpPr/>
          <p:nvPr/>
        </p:nvSpPr>
        <p:spPr>
          <a:xfrm>
            <a:off x="1938528" y="3218688"/>
            <a:ext cx="1389888" cy="310896"/>
          </a:xfrm>
          <a:prstGeom prst="roundRect">
            <a:avLst/>
          </a:prstGeom>
          <a:solidFill>
            <a:srgbClr val="3D2020"/>
          </a:solidFill>
          <a:ln w="10160">
            <a:solidFill>
              <a:srgbClr val="E86F6F"/>
            </a:solidFill>
            <a:prstDash val="solid"/>
          </a:ln>
        </p:spPr>
      </p:sp>
      <p:sp>
        <p:nvSpPr>
          <p:cNvPr id="23" name="Text 21"/>
          <p:cNvSpPr txBox="1"/>
          <p:nvPr/>
        </p:nvSpPr>
        <p:spPr>
          <a:xfrm>
            <a:off x="1984248" y="3255264"/>
            <a:ext cx="1298448" cy="246888"/>
          </a:xfrm>
          <a:prstGeom prst="rect">
            <a:avLst/>
          </a:prstGeom>
          <a:noFill/>
          <a:ln/>
        </p:spPr>
        <p:txBody>
          <a:bodyPr wrap="square" lIns="0" tIns="0" rIns="0" bIns="0" rtlCol="0" anchor="ctr">
            <a:normAutofit/>
          </a:bodyPr>
          <a:lstStyle/>
          <a:p>
            <a:pPr algn="ctr" indent="0" marL="0">
              <a:buNone/>
            </a:pPr>
            <a:r>
              <a:rPr lang="en-US" sz="850" b="1" spc="100" kern="0" dirty="0">
                <a:solidFill>
                  <a:srgbClr val="E86F6F"/>
                </a:solidFill>
                <a:latin typeface="Courier New" pitchFamily="34" charset="0"/>
                <a:ea typeface="Courier New" pitchFamily="34" charset="-122"/>
                <a:cs typeface="Courier New" pitchFamily="34" charset="-120"/>
              </a:rPr>
              <a:t>CONTEXT LOST</a:t>
            </a:r>
            <a:endParaRPr lang="en-US" sz="850" dirty="0"/>
          </a:p>
        </p:txBody>
      </p:sp>
      <p:sp>
        <p:nvSpPr>
          <p:cNvPr id="24" name="Text 22"/>
          <p:cNvSpPr txBox="1"/>
          <p:nvPr/>
        </p:nvSpPr>
        <p:spPr>
          <a:xfrm>
            <a:off x="5623560" y="1609344"/>
            <a:ext cx="5257800" cy="347472"/>
          </a:xfrm>
          <a:prstGeom prst="rect">
            <a:avLst/>
          </a:prstGeom>
          <a:noFill/>
          <a:ln/>
        </p:spPr>
        <p:txBody>
          <a:bodyPr wrap="square" lIns="0" tIns="0" rIns="0" bIns="0" rtlCol="0" anchor="t">
            <a:normAutofit/>
          </a:bodyPr>
          <a:lstStyle/>
          <a:p>
            <a:pPr algn="l" indent="0" marL="0">
              <a:buNone/>
            </a:pPr>
            <a:r>
              <a:rPr lang="en-US" sz="2000" b="1" dirty="0">
                <a:solidFill>
                  <a:srgbClr val="E8E6E0"/>
                </a:solidFill>
                <a:latin typeface="Arial" pitchFamily="34" charset="0"/>
                <a:ea typeface="Arial" pitchFamily="34" charset="-122"/>
                <a:cs typeface="Arial" pitchFamily="34" charset="-120"/>
              </a:rPr>
              <a:t>What fragmentation causes</a:t>
            </a:r>
            <a:endParaRPr lang="en-US" sz="2000" dirty="0"/>
          </a:p>
        </p:txBody>
      </p:sp>
      <p:sp>
        <p:nvSpPr>
          <p:cNvPr id="25" name="Shape 23"/>
          <p:cNvSpPr/>
          <p:nvPr/>
        </p:nvSpPr>
        <p:spPr>
          <a:xfrm>
            <a:off x="5650992" y="2267712"/>
            <a:ext cx="68580" cy="68580"/>
          </a:xfrm>
          <a:prstGeom prst="ellipse">
            <a:avLst/>
          </a:prstGeom>
          <a:solidFill>
            <a:srgbClr val="E8A33D"/>
          </a:solidFill>
          <a:ln w="12700">
            <a:solidFill>
              <a:srgbClr val="E8A33D"/>
            </a:solidFill>
            <a:prstDash val="solid"/>
          </a:ln>
        </p:spPr>
      </p:sp>
      <p:sp>
        <p:nvSpPr>
          <p:cNvPr id="26" name="Text 24"/>
          <p:cNvSpPr txBox="1"/>
          <p:nvPr/>
        </p:nvSpPr>
        <p:spPr>
          <a:xfrm>
            <a:off x="5815584" y="2157984"/>
            <a:ext cx="5184648" cy="530352"/>
          </a:xfrm>
          <a:prstGeom prst="rect">
            <a:avLst/>
          </a:prstGeom>
          <a:noFill/>
          <a:ln/>
        </p:spPr>
        <p:txBody>
          <a:bodyPr wrap="square" lIns="0" tIns="0" rIns="0" bIns="0" rtlCol="0" anchor="t">
            <a:normAutofit/>
          </a:bodyPr>
          <a:lstStyle/>
          <a:p>
            <a:pPr algn="l" indent="0" marL="0">
              <a:buNone/>
            </a:pPr>
            <a:r>
              <a:rPr lang="en-US" sz="1500" b="1" dirty="0">
                <a:solidFill>
                  <a:srgbClr val="7CC7A5"/>
                </a:solidFill>
                <a:latin typeface="Arial" pitchFamily="34" charset="0"/>
                <a:ea typeface="Arial" pitchFamily="34" charset="-122"/>
                <a:cs typeface="Arial" pitchFamily="34" charset="-120"/>
              </a:rPr>
              <a:t>Customers repeat themselves — </a:t>
            </a:r>
            <a:pPr algn="l" indent="0" marL="0">
              <a:buNone/>
            </a:pPr>
            <a:r>
              <a:rPr lang="en-US" sz="1500" dirty="0">
                <a:solidFill>
                  <a:srgbClr val="E8E6E0"/>
                </a:solidFill>
                <a:latin typeface="Arial" pitchFamily="34" charset="0"/>
                <a:ea typeface="Arial" pitchFamily="34" charset="-122"/>
                <a:cs typeface="Arial" pitchFamily="34" charset="-120"/>
              </a:rPr>
              <a:t>when they change channels, devices, or employees.</a:t>
            </a:r>
            <a:endParaRPr lang="en-US" sz="1500" dirty="0"/>
          </a:p>
        </p:txBody>
      </p:sp>
      <p:sp>
        <p:nvSpPr>
          <p:cNvPr id="27" name="Shape 25"/>
          <p:cNvSpPr/>
          <p:nvPr/>
        </p:nvSpPr>
        <p:spPr>
          <a:xfrm>
            <a:off x="5650992" y="3026664"/>
            <a:ext cx="68580" cy="68580"/>
          </a:xfrm>
          <a:prstGeom prst="ellipse">
            <a:avLst/>
          </a:prstGeom>
          <a:solidFill>
            <a:srgbClr val="E8A33D"/>
          </a:solidFill>
          <a:ln w="12700">
            <a:solidFill>
              <a:srgbClr val="E8A33D"/>
            </a:solidFill>
            <a:prstDash val="solid"/>
          </a:ln>
        </p:spPr>
      </p:sp>
      <p:sp>
        <p:nvSpPr>
          <p:cNvPr id="28" name="Text 26"/>
          <p:cNvSpPr txBox="1"/>
          <p:nvPr/>
        </p:nvSpPr>
        <p:spPr>
          <a:xfrm>
            <a:off x="5815584" y="2916936"/>
            <a:ext cx="5184648" cy="530352"/>
          </a:xfrm>
          <a:prstGeom prst="rect">
            <a:avLst/>
          </a:prstGeom>
          <a:noFill/>
          <a:ln/>
        </p:spPr>
        <p:txBody>
          <a:bodyPr wrap="square" lIns="0" tIns="0" rIns="0" bIns="0" rtlCol="0" anchor="t">
            <a:normAutofit/>
          </a:bodyPr>
          <a:lstStyle/>
          <a:p>
            <a:pPr algn="l" indent="0" marL="0">
              <a:buNone/>
            </a:pPr>
            <a:r>
              <a:rPr lang="en-US" sz="1500" b="1" dirty="0">
                <a:solidFill>
                  <a:srgbClr val="7CC7A5"/>
                </a:solidFill>
                <a:latin typeface="Arial" pitchFamily="34" charset="0"/>
                <a:ea typeface="Arial" pitchFamily="34" charset="-122"/>
                <a:cs typeface="Arial" pitchFamily="34" charset="-120"/>
              </a:rPr>
              <a:t>Agents search across systems — </a:t>
            </a:r>
            <a:pPr algn="l" indent="0" marL="0">
              <a:buNone/>
            </a:pPr>
            <a:r>
              <a:rPr lang="en-US" sz="1500" dirty="0">
                <a:solidFill>
                  <a:srgbClr val="E8E6E0"/>
                </a:solidFill>
                <a:latin typeface="Arial" pitchFamily="34" charset="0"/>
                <a:ea typeface="Arial" pitchFamily="34" charset="-122"/>
                <a:cs typeface="Arial" pitchFamily="34" charset="-120"/>
              </a:rPr>
              <a:t>while customers wait and conversations lose momentum.</a:t>
            </a:r>
            <a:endParaRPr lang="en-US" sz="1500" dirty="0"/>
          </a:p>
        </p:txBody>
      </p:sp>
      <p:sp>
        <p:nvSpPr>
          <p:cNvPr id="29" name="Shape 27"/>
          <p:cNvSpPr/>
          <p:nvPr/>
        </p:nvSpPr>
        <p:spPr>
          <a:xfrm>
            <a:off x="5650992" y="3785616"/>
            <a:ext cx="68580" cy="68580"/>
          </a:xfrm>
          <a:prstGeom prst="ellipse">
            <a:avLst/>
          </a:prstGeom>
          <a:solidFill>
            <a:srgbClr val="E8A33D"/>
          </a:solidFill>
          <a:ln w="12700">
            <a:solidFill>
              <a:srgbClr val="E8A33D"/>
            </a:solidFill>
            <a:prstDash val="solid"/>
          </a:ln>
        </p:spPr>
      </p:sp>
      <p:sp>
        <p:nvSpPr>
          <p:cNvPr id="30" name="Text 28"/>
          <p:cNvSpPr txBox="1"/>
          <p:nvPr/>
        </p:nvSpPr>
        <p:spPr>
          <a:xfrm>
            <a:off x="5815584" y="3675888"/>
            <a:ext cx="5184648" cy="530352"/>
          </a:xfrm>
          <a:prstGeom prst="rect">
            <a:avLst/>
          </a:prstGeom>
          <a:noFill/>
          <a:ln/>
        </p:spPr>
        <p:txBody>
          <a:bodyPr wrap="square" lIns="0" tIns="0" rIns="0" bIns="0" rtlCol="0" anchor="t">
            <a:normAutofit/>
          </a:bodyPr>
          <a:lstStyle/>
          <a:p>
            <a:pPr algn="l" indent="0" marL="0">
              <a:buNone/>
            </a:pPr>
            <a:r>
              <a:rPr lang="en-US" sz="1500" b="1" dirty="0">
                <a:solidFill>
                  <a:srgbClr val="7CC7A5"/>
                </a:solidFill>
                <a:latin typeface="Arial" pitchFamily="34" charset="0"/>
                <a:ea typeface="Arial" pitchFamily="34" charset="-122"/>
                <a:cs typeface="Arial" pitchFamily="34" charset="-120"/>
              </a:rPr>
              <a:t>Qualification and follow-up break — </a:t>
            </a:r>
            <a:pPr algn="l" indent="0" marL="0">
              <a:buNone/>
            </a:pPr>
            <a:r>
              <a:rPr lang="en-US" sz="1500" dirty="0">
                <a:solidFill>
                  <a:srgbClr val="E8E6E0"/>
                </a:solidFill>
                <a:latin typeface="Arial" pitchFamily="34" charset="0"/>
                <a:ea typeface="Arial" pitchFamily="34" charset="-122"/>
                <a:cs typeface="Arial" pitchFamily="34" charset="-120"/>
              </a:rPr>
              <a:t>across disconnected CRM, calendar, and messaging tools.</a:t>
            </a:r>
            <a:endParaRPr lang="en-US" sz="1500" dirty="0"/>
          </a:p>
        </p:txBody>
      </p:sp>
      <p:sp>
        <p:nvSpPr>
          <p:cNvPr id="31" name="Shape 29"/>
          <p:cNvSpPr/>
          <p:nvPr/>
        </p:nvSpPr>
        <p:spPr>
          <a:xfrm>
            <a:off x="5650992" y="4544568"/>
            <a:ext cx="68580" cy="68580"/>
          </a:xfrm>
          <a:prstGeom prst="ellipse">
            <a:avLst/>
          </a:prstGeom>
          <a:solidFill>
            <a:srgbClr val="E8A33D"/>
          </a:solidFill>
          <a:ln w="12700">
            <a:solidFill>
              <a:srgbClr val="E8A33D"/>
            </a:solidFill>
            <a:prstDash val="solid"/>
          </a:ln>
        </p:spPr>
      </p:sp>
      <p:sp>
        <p:nvSpPr>
          <p:cNvPr id="32" name="Text 30"/>
          <p:cNvSpPr txBox="1"/>
          <p:nvPr/>
        </p:nvSpPr>
        <p:spPr>
          <a:xfrm>
            <a:off x="5815584" y="4434840"/>
            <a:ext cx="5184648" cy="530352"/>
          </a:xfrm>
          <a:prstGeom prst="rect">
            <a:avLst/>
          </a:prstGeom>
          <a:noFill/>
          <a:ln/>
        </p:spPr>
        <p:txBody>
          <a:bodyPr wrap="square" lIns="0" tIns="0" rIns="0" bIns="0" rtlCol="0" anchor="t">
            <a:normAutofit/>
          </a:bodyPr>
          <a:lstStyle/>
          <a:p>
            <a:pPr algn="l" indent="0" marL="0">
              <a:buNone/>
            </a:pPr>
            <a:r>
              <a:rPr lang="en-US" sz="1500" b="1" dirty="0">
                <a:solidFill>
                  <a:srgbClr val="7CC7A5"/>
                </a:solidFill>
                <a:latin typeface="Arial" pitchFamily="34" charset="0"/>
                <a:ea typeface="Arial" pitchFamily="34" charset="-122"/>
                <a:cs typeface="Arial" pitchFamily="34" charset="-120"/>
              </a:rPr>
              <a:t>Inconsistent actions lose opportunities — </a:t>
            </a:r>
            <a:pPr algn="l" indent="0" marL="0">
              <a:buNone/>
            </a:pPr>
            <a:r>
              <a:rPr lang="en-US" sz="1500" dirty="0">
                <a:solidFill>
                  <a:srgbClr val="E8E6E0"/>
                </a:solidFill>
                <a:latin typeface="Arial" pitchFamily="34" charset="0"/>
                <a:ea typeface="Arial" pitchFamily="34" charset="-122"/>
                <a:cs typeface="Arial" pitchFamily="34" charset="-120"/>
              </a:rPr>
              <a:t>because context and policy do not travel with the customer.</a:t>
            </a:r>
            <a:endParaRPr lang="en-US" sz="1500" dirty="0"/>
          </a:p>
        </p:txBody>
      </p:sp>
      <p:sp>
        <p:nvSpPr>
          <p:cNvPr id="33" name="Shape 31"/>
          <p:cNvSpPr/>
          <p:nvPr/>
        </p:nvSpPr>
        <p:spPr>
          <a:xfrm>
            <a:off x="5623560" y="5394960"/>
            <a:ext cx="5376672" cy="566928"/>
          </a:xfrm>
          <a:prstGeom prst="roundRect">
            <a:avLst/>
          </a:prstGeom>
          <a:solidFill>
            <a:srgbClr val="20303D"/>
          </a:solidFill>
          <a:ln w="12700">
            <a:solidFill>
              <a:srgbClr val="6FB3E8"/>
            </a:solidFill>
            <a:prstDash val="solid"/>
          </a:ln>
        </p:spPr>
      </p:sp>
      <p:sp>
        <p:nvSpPr>
          <p:cNvPr id="34" name="Text 32"/>
          <p:cNvSpPr txBox="1"/>
          <p:nvPr/>
        </p:nvSpPr>
        <p:spPr>
          <a:xfrm>
            <a:off x="5907024" y="5477256"/>
            <a:ext cx="4800600" cy="365760"/>
          </a:xfrm>
          <a:prstGeom prst="rect">
            <a:avLst/>
          </a:prstGeom>
          <a:noFill/>
          <a:ln/>
        </p:spPr>
        <p:txBody>
          <a:bodyPr wrap="square" lIns="0" tIns="0" rIns="0" bIns="0" rtlCol="0" anchor="ctr">
            <a:normAutofit/>
          </a:bodyPr>
          <a:lstStyle/>
          <a:p>
            <a:pPr algn="ctr" indent="0" marL="0">
              <a:buNone/>
            </a:pPr>
            <a:r>
              <a:rPr lang="en-US" sz="1300" b="1" dirty="0">
                <a:solidFill>
                  <a:srgbClr val="6FB3E8"/>
                </a:solidFill>
                <a:latin typeface="Arial" pitchFamily="34" charset="0"/>
                <a:ea typeface="Arial" pitchFamily="34" charset="-122"/>
                <a:cs typeface="Arial" pitchFamily="34" charset="-120"/>
              </a:rPr>
              <a:t>The goal: one informed organization — not another standalone bot.</a:t>
            </a:r>
            <a:endParaRPr lang="en-US" sz="1300" dirty="0"/>
          </a:p>
        </p:txBody>
      </p:sp>
      <p:sp>
        <p:nvSpPr>
          <p:cNvPr id="25" name="Slide Number Placeholder 0"/>
          <p:cNvSpPr>
            <a:spLocks noGrp="1"/>
          </p:cNvSpPr>
          <p:nvPr>
            <p:ph type="sldNum" sz="quarter" idx="4294967295"/>
          </p:nvPr>
        </p:nvSpPr>
        <p:spPr>
          <a:xfrm>
            <a:off x="11109960" y="6483096"/>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9A97A3"/>
                </a:solidFill>
                <a:latin typeface="Courier New"/>
                <a:ea typeface="Courier New"/>
                <a:cs typeface="Courier New"/>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61D"/>
        </a:solidFill>
      </p:bgPr>
    </p:bg>
    <p:spTree>
      <p:nvGrpSpPr>
        <p:cNvPr id="1" name=""/>
        <p:cNvGrpSpPr/>
        <p:nvPr/>
      </p:nvGrpSpPr>
      <p:grpSpPr>
        <a:xfrm>
          <a:off x="0" y="0"/>
          <a:ext cx="0" cy="0"/>
          <a:chOff x="0" y="0"/>
          <a:chExt cx="0" cy="0"/>
        </a:xfrm>
      </p:grpSpPr>
      <p:sp>
        <p:nvSpPr>
          <p:cNvPr id="2" name="Text 0"/>
          <p:cNvSpPr txBox="1"/>
          <p:nvPr/>
        </p:nvSpPr>
        <p:spPr>
          <a:xfrm>
            <a:off x="713232" y="384048"/>
            <a:ext cx="5120640" cy="219456"/>
          </a:xfrm>
          <a:prstGeom prst="rect">
            <a:avLst/>
          </a:prstGeom>
          <a:noFill/>
          <a:ln/>
        </p:spPr>
        <p:txBody>
          <a:bodyPr wrap="square" lIns="0" tIns="0" rIns="0" bIns="0" rtlCol="0" anchor="t">
            <a:normAutofit/>
          </a:bodyPr>
          <a:lstStyle/>
          <a:p>
            <a:pPr algn="l" indent="0" marL="0">
              <a:buNone/>
            </a:pPr>
            <a:r>
              <a:rPr lang="en-US" sz="900" b="1" spc="210" kern="0" dirty="0">
                <a:solidFill>
                  <a:srgbClr val="9A97A3"/>
                </a:solidFill>
                <a:latin typeface="Courier New" pitchFamily="34" charset="0"/>
                <a:ea typeface="Courier New" pitchFamily="34" charset="-122"/>
                <a:cs typeface="Courier New" pitchFamily="34" charset="-120"/>
              </a:rPr>
              <a:t>CORE DESIGN PRINCIPLE</a:t>
            </a:r>
            <a:endParaRPr lang="en-US" sz="900" dirty="0"/>
          </a:p>
        </p:txBody>
      </p:sp>
      <p:sp>
        <p:nvSpPr>
          <p:cNvPr id="3" name="Text 1"/>
          <p:cNvSpPr txBox="1"/>
          <p:nvPr/>
        </p:nvSpPr>
        <p:spPr>
          <a:xfrm>
            <a:off x="10424160" y="347472"/>
            <a:ext cx="1051560" cy="228600"/>
          </a:xfrm>
          <a:prstGeom prst="rect">
            <a:avLst/>
          </a:prstGeom>
          <a:noFill/>
          <a:ln/>
        </p:spPr>
        <p:txBody>
          <a:bodyPr wrap="square" lIns="0" tIns="0" rIns="0" bIns="0" rtlCol="0" anchor="t">
            <a:normAutofit/>
          </a:bodyPr>
          <a:lstStyle/>
          <a:p>
            <a:pPr algn="r" indent="0" marL="0">
              <a:buNone/>
            </a:pPr>
            <a:r>
              <a:rPr lang="en-US" sz="1000" b="1" spc="240" kern="0" dirty="0">
                <a:solidFill>
                  <a:srgbClr val="E8E6E0"/>
                </a:solidFill>
                <a:latin typeface="Courier New" pitchFamily="34" charset="0"/>
                <a:ea typeface="Courier New" pitchFamily="34" charset="-122"/>
                <a:cs typeface="Courier New" pitchFamily="34" charset="-120"/>
              </a:rPr>
              <a:t>CYBIC</a:t>
            </a:r>
            <a:endParaRPr lang="en-US" sz="1000" dirty="0"/>
          </a:p>
        </p:txBody>
      </p:sp>
      <p:sp>
        <p:nvSpPr>
          <p:cNvPr id="4" name="Text 2"/>
          <p:cNvSpPr txBox="1"/>
          <p:nvPr/>
        </p:nvSpPr>
        <p:spPr>
          <a:xfrm>
            <a:off x="685800" y="713232"/>
            <a:ext cx="10744200" cy="566928"/>
          </a:xfrm>
          <a:prstGeom prst="rect">
            <a:avLst/>
          </a:prstGeom>
          <a:noFill/>
          <a:ln/>
        </p:spPr>
        <p:txBody>
          <a:bodyPr wrap="square" lIns="0" tIns="0" rIns="0" bIns="0" rtlCol="0" anchor="t">
            <a:normAutofit/>
          </a:bodyPr>
          <a:lstStyle/>
          <a:p>
            <a:pPr algn="l" indent="0" marL="0">
              <a:buNone/>
            </a:pPr>
            <a:r>
              <a:rPr lang="en-US" sz="2800" b="1" dirty="0">
                <a:solidFill>
                  <a:srgbClr val="6FB3E8"/>
                </a:solidFill>
                <a:latin typeface="Arial" pitchFamily="34" charset="0"/>
                <a:ea typeface="Arial" pitchFamily="34" charset="-122"/>
                <a:cs typeface="Arial" pitchFamily="34" charset="-120"/>
              </a:rPr>
              <a:t>One identity-resolved conversation</a:t>
            </a:r>
            <a:endParaRPr lang="en-US" sz="2800" dirty="0"/>
          </a:p>
        </p:txBody>
      </p:sp>
      <p:sp>
        <p:nvSpPr>
          <p:cNvPr id="5" name="Text 3"/>
          <p:cNvSpPr txBox="1"/>
          <p:nvPr/>
        </p:nvSpPr>
        <p:spPr>
          <a:xfrm>
            <a:off x="713232" y="1298448"/>
            <a:ext cx="10607040" cy="411480"/>
          </a:xfrm>
          <a:prstGeom prst="rect">
            <a:avLst/>
          </a:prstGeom>
          <a:noFill/>
          <a:ln/>
        </p:spPr>
        <p:txBody>
          <a:bodyPr wrap="square" lIns="0" tIns="0" rIns="0" bIns="0" rtlCol="0" anchor="t">
            <a:normAutofit/>
          </a:bodyPr>
          <a:lstStyle/>
          <a:p>
            <a:pPr algn="l" indent="0" marL="0">
              <a:buNone/>
            </a:pPr>
            <a:r>
              <a:rPr lang="en-US" sz="1350" dirty="0">
                <a:solidFill>
                  <a:srgbClr val="9A97A3"/>
                </a:solidFill>
                <a:latin typeface="Arial" pitchFamily="34" charset="0"/>
                <a:ea typeface="Arial" pitchFamily="34" charset="-122"/>
                <a:cs typeface="Arial" pitchFamily="34" charset="-120"/>
              </a:rPr>
              <a:t>Every channel contributes to the same durable customer journey.</a:t>
            </a:r>
            <a:endParaRPr lang="en-US" sz="1350" dirty="0"/>
          </a:p>
        </p:txBody>
      </p:sp>
      <p:sp>
        <p:nvSpPr>
          <p:cNvPr id="6" name="Shape 4"/>
          <p:cNvSpPr/>
          <p:nvPr/>
        </p:nvSpPr>
        <p:spPr>
          <a:xfrm>
            <a:off x="658368" y="6428232"/>
            <a:ext cx="10863072" cy="0"/>
          </a:xfrm>
          <a:prstGeom prst="line">
            <a:avLst/>
          </a:prstGeom>
          <a:noFill/>
          <a:ln w="8890">
            <a:solidFill>
              <a:srgbClr val="34323E"/>
            </a:solidFill>
            <a:prstDash val="solid"/>
          </a:ln>
        </p:spPr>
      </p:sp>
      <p:sp>
        <p:nvSpPr>
          <p:cNvPr id="7" name="Text 5"/>
          <p:cNvSpPr txBox="1"/>
          <p:nvPr/>
        </p:nvSpPr>
        <p:spPr>
          <a:xfrm>
            <a:off x="685800" y="6473952"/>
            <a:ext cx="2926080" cy="146304"/>
          </a:xfrm>
          <a:prstGeom prst="rect">
            <a:avLst/>
          </a:prstGeom>
          <a:noFill/>
          <a:ln/>
        </p:spPr>
        <p:txBody>
          <a:bodyPr wrap="square" lIns="0" tIns="0" rIns="0" bIns="0" rtlCol="0" anchor="t">
            <a:normAutofit/>
          </a:bodyPr>
          <a:lstStyle/>
          <a:p>
            <a:pPr algn="l" indent="0" marL="0">
              <a:buNone/>
            </a:pPr>
            <a:r>
              <a:rPr lang="en-US" sz="750" spc="120" kern="0" dirty="0">
                <a:solidFill>
                  <a:srgbClr val="9A97A3"/>
                </a:solidFill>
                <a:latin typeface="Courier New" pitchFamily="34" charset="0"/>
                <a:ea typeface="Courier New" pitchFamily="34" charset="-122"/>
                <a:cs typeface="Courier New" pitchFamily="34" charset="-120"/>
              </a:rPr>
              <a:t>CYBIC  •  CONFIDENTIAL</a:t>
            </a:r>
            <a:endParaRPr lang="en-US" sz="750" dirty="0"/>
          </a:p>
        </p:txBody>
      </p:sp>
      <p:sp>
        <p:nvSpPr>
          <p:cNvPr id="8" name="Shape 6"/>
          <p:cNvSpPr/>
          <p:nvPr/>
        </p:nvSpPr>
        <p:spPr>
          <a:xfrm>
            <a:off x="731520" y="1737360"/>
            <a:ext cx="1353312" cy="310896"/>
          </a:xfrm>
          <a:prstGeom prst="roundRect">
            <a:avLst/>
          </a:prstGeom>
          <a:solidFill>
            <a:srgbClr val="20303D"/>
          </a:solidFill>
          <a:ln w="10160">
            <a:solidFill>
              <a:srgbClr val="6FB3E8"/>
            </a:solidFill>
            <a:prstDash val="solid"/>
          </a:ln>
        </p:spPr>
      </p:sp>
      <p:sp>
        <p:nvSpPr>
          <p:cNvPr id="9" name="Text 7"/>
          <p:cNvSpPr txBox="1"/>
          <p:nvPr/>
        </p:nvSpPr>
        <p:spPr>
          <a:xfrm>
            <a:off x="777240" y="1773936"/>
            <a:ext cx="1261872" cy="246888"/>
          </a:xfrm>
          <a:prstGeom prst="rect">
            <a:avLst/>
          </a:prstGeom>
          <a:noFill/>
          <a:ln/>
        </p:spPr>
        <p:txBody>
          <a:bodyPr wrap="square" lIns="0" tIns="0" rIns="0" bIns="0" rtlCol="0" anchor="ctr">
            <a:normAutofit/>
          </a:bodyPr>
          <a:lstStyle/>
          <a:p>
            <a:pPr algn="ctr" indent="0" marL="0">
              <a:buNone/>
            </a:pPr>
            <a:r>
              <a:rPr lang="en-US" sz="720" b="1" spc="100" kern="0" dirty="0">
                <a:solidFill>
                  <a:srgbClr val="6FB3E8"/>
                </a:solidFill>
                <a:latin typeface="Courier New" pitchFamily="34" charset="0"/>
                <a:ea typeface="Courier New" pitchFamily="34" charset="-122"/>
                <a:cs typeface="Courier New" pitchFamily="34" charset="-120"/>
              </a:rPr>
              <a:t>WEB</a:t>
            </a:r>
            <a:endParaRPr lang="en-US" sz="720" dirty="0"/>
          </a:p>
        </p:txBody>
      </p:sp>
      <p:sp>
        <p:nvSpPr>
          <p:cNvPr id="10" name="Shape 8"/>
          <p:cNvSpPr/>
          <p:nvPr/>
        </p:nvSpPr>
        <p:spPr>
          <a:xfrm>
            <a:off x="1408176" y="2057400"/>
            <a:ext cx="0" cy="429768"/>
          </a:xfrm>
          <a:prstGeom prst="line">
            <a:avLst/>
          </a:prstGeom>
          <a:noFill/>
          <a:ln w="12700">
            <a:solidFill>
              <a:srgbClr val="6FB3E8"/>
            </a:solidFill>
            <a:prstDash val="solid"/>
          </a:ln>
        </p:spPr>
      </p:sp>
      <p:sp>
        <p:nvSpPr>
          <p:cNvPr id="11" name="Shape 9"/>
          <p:cNvSpPr/>
          <p:nvPr/>
        </p:nvSpPr>
        <p:spPr>
          <a:xfrm>
            <a:off x="2304288" y="1737360"/>
            <a:ext cx="1353312" cy="310896"/>
          </a:xfrm>
          <a:prstGeom prst="roundRect">
            <a:avLst/>
          </a:prstGeom>
          <a:solidFill>
            <a:srgbClr val="3D3320"/>
          </a:solidFill>
          <a:ln w="10160">
            <a:solidFill>
              <a:srgbClr val="E8A33D"/>
            </a:solidFill>
            <a:prstDash val="solid"/>
          </a:ln>
        </p:spPr>
      </p:sp>
      <p:sp>
        <p:nvSpPr>
          <p:cNvPr id="12" name="Text 10"/>
          <p:cNvSpPr txBox="1"/>
          <p:nvPr/>
        </p:nvSpPr>
        <p:spPr>
          <a:xfrm>
            <a:off x="2350008" y="1773936"/>
            <a:ext cx="1261872" cy="246888"/>
          </a:xfrm>
          <a:prstGeom prst="rect">
            <a:avLst/>
          </a:prstGeom>
          <a:noFill/>
          <a:ln/>
        </p:spPr>
        <p:txBody>
          <a:bodyPr wrap="square" lIns="0" tIns="0" rIns="0" bIns="0" rtlCol="0" anchor="ctr">
            <a:normAutofit/>
          </a:bodyPr>
          <a:lstStyle/>
          <a:p>
            <a:pPr algn="ctr" indent="0" marL="0">
              <a:buNone/>
            </a:pPr>
            <a:r>
              <a:rPr lang="en-US" sz="720" b="1" spc="100" kern="0" dirty="0">
                <a:solidFill>
                  <a:srgbClr val="E8A33D"/>
                </a:solidFill>
                <a:latin typeface="Courier New" pitchFamily="34" charset="0"/>
                <a:ea typeface="Courier New" pitchFamily="34" charset="-122"/>
                <a:cs typeface="Courier New" pitchFamily="34" charset="-120"/>
              </a:rPr>
              <a:t>VOICE</a:t>
            </a:r>
            <a:endParaRPr lang="en-US" sz="720" dirty="0"/>
          </a:p>
        </p:txBody>
      </p:sp>
      <p:sp>
        <p:nvSpPr>
          <p:cNvPr id="13" name="Shape 11"/>
          <p:cNvSpPr/>
          <p:nvPr/>
        </p:nvSpPr>
        <p:spPr>
          <a:xfrm>
            <a:off x="2980944" y="2057400"/>
            <a:ext cx="0" cy="429768"/>
          </a:xfrm>
          <a:prstGeom prst="line">
            <a:avLst/>
          </a:prstGeom>
          <a:noFill/>
          <a:ln w="12700">
            <a:solidFill>
              <a:srgbClr val="E8A33D"/>
            </a:solidFill>
            <a:prstDash val="solid"/>
          </a:ln>
        </p:spPr>
      </p:sp>
      <p:sp>
        <p:nvSpPr>
          <p:cNvPr id="14" name="Shape 12"/>
          <p:cNvSpPr/>
          <p:nvPr/>
        </p:nvSpPr>
        <p:spPr>
          <a:xfrm>
            <a:off x="3877056" y="1737360"/>
            <a:ext cx="1353312" cy="310896"/>
          </a:xfrm>
          <a:prstGeom prst="roundRect">
            <a:avLst/>
          </a:prstGeom>
          <a:solidFill>
            <a:srgbClr val="20303D"/>
          </a:solidFill>
          <a:ln w="10160">
            <a:solidFill>
              <a:srgbClr val="6FB3E8"/>
            </a:solidFill>
            <a:prstDash val="solid"/>
          </a:ln>
        </p:spPr>
      </p:sp>
      <p:sp>
        <p:nvSpPr>
          <p:cNvPr id="15" name="Text 13"/>
          <p:cNvSpPr txBox="1"/>
          <p:nvPr/>
        </p:nvSpPr>
        <p:spPr>
          <a:xfrm>
            <a:off x="3922776" y="1773936"/>
            <a:ext cx="1261872" cy="246888"/>
          </a:xfrm>
          <a:prstGeom prst="rect">
            <a:avLst/>
          </a:prstGeom>
          <a:noFill/>
          <a:ln/>
        </p:spPr>
        <p:txBody>
          <a:bodyPr wrap="square" lIns="0" tIns="0" rIns="0" bIns="0" rtlCol="0" anchor="ctr">
            <a:normAutofit/>
          </a:bodyPr>
          <a:lstStyle/>
          <a:p>
            <a:pPr algn="ctr" indent="0" marL="0">
              <a:buNone/>
            </a:pPr>
            <a:r>
              <a:rPr lang="en-US" sz="720" b="1" spc="100" kern="0" dirty="0">
                <a:solidFill>
                  <a:srgbClr val="6FB3E8"/>
                </a:solidFill>
                <a:latin typeface="Courier New" pitchFamily="34" charset="0"/>
                <a:ea typeface="Courier New" pitchFamily="34" charset="-122"/>
                <a:cs typeface="Courier New" pitchFamily="34" charset="-120"/>
              </a:rPr>
              <a:t>SMS</a:t>
            </a:r>
            <a:endParaRPr lang="en-US" sz="720" dirty="0"/>
          </a:p>
        </p:txBody>
      </p:sp>
      <p:sp>
        <p:nvSpPr>
          <p:cNvPr id="16" name="Shape 14"/>
          <p:cNvSpPr/>
          <p:nvPr/>
        </p:nvSpPr>
        <p:spPr>
          <a:xfrm>
            <a:off x="4553712" y="2057400"/>
            <a:ext cx="0" cy="429768"/>
          </a:xfrm>
          <a:prstGeom prst="line">
            <a:avLst/>
          </a:prstGeom>
          <a:noFill/>
          <a:ln w="12700">
            <a:solidFill>
              <a:srgbClr val="6FB3E8"/>
            </a:solidFill>
            <a:prstDash val="solid"/>
          </a:ln>
        </p:spPr>
      </p:sp>
      <p:sp>
        <p:nvSpPr>
          <p:cNvPr id="17" name="Shape 15"/>
          <p:cNvSpPr/>
          <p:nvPr/>
        </p:nvSpPr>
        <p:spPr>
          <a:xfrm>
            <a:off x="5449824" y="1737360"/>
            <a:ext cx="1353312" cy="310896"/>
          </a:xfrm>
          <a:prstGeom prst="roundRect">
            <a:avLst/>
          </a:prstGeom>
          <a:solidFill>
            <a:srgbClr val="20303D"/>
          </a:solidFill>
          <a:ln w="10160">
            <a:solidFill>
              <a:srgbClr val="6FB3E8"/>
            </a:solidFill>
            <a:prstDash val="solid"/>
          </a:ln>
        </p:spPr>
      </p:sp>
      <p:sp>
        <p:nvSpPr>
          <p:cNvPr id="18" name="Text 16"/>
          <p:cNvSpPr txBox="1"/>
          <p:nvPr/>
        </p:nvSpPr>
        <p:spPr>
          <a:xfrm>
            <a:off x="5495544" y="1773936"/>
            <a:ext cx="1261872" cy="246888"/>
          </a:xfrm>
          <a:prstGeom prst="rect">
            <a:avLst/>
          </a:prstGeom>
          <a:noFill/>
          <a:ln/>
        </p:spPr>
        <p:txBody>
          <a:bodyPr wrap="square" lIns="0" tIns="0" rIns="0" bIns="0" rtlCol="0" anchor="ctr">
            <a:normAutofit/>
          </a:bodyPr>
          <a:lstStyle/>
          <a:p>
            <a:pPr algn="ctr" indent="0" marL="0">
              <a:buNone/>
            </a:pPr>
            <a:r>
              <a:rPr lang="en-US" sz="720" b="1" spc="100" kern="0" dirty="0">
                <a:solidFill>
                  <a:srgbClr val="6FB3E8"/>
                </a:solidFill>
                <a:latin typeface="Courier New" pitchFamily="34" charset="0"/>
                <a:ea typeface="Courier New" pitchFamily="34" charset="-122"/>
                <a:cs typeface="Courier New" pitchFamily="34" charset="-120"/>
              </a:rPr>
              <a:t>EMAIL</a:t>
            </a:r>
            <a:endParaRPr lang="en-US" sz="720" dirty="0"/>
          </a:p>
        </p:txBody>
      </p:sp>
      <p:sp>
        <p:nvSpPr>
          <p:cNvPr id="19" name="Shape 17"/>
          <p:cNvSpPr/>
          <p:nvPr/>
        </p:nvSpPr>
        <p:spPr>
          <a:xfrm>
            <a:off x="6126480" y="2057400"/>
            <a:ext cx="0" cy="429768"/>
          </a:xfrm>
          <a:prstGeom prst="line">
            <a:avLst/>
          </a:prstGeom>
          <a:noFill/>
          <a:ln w="12700">
            <a:solidFill>
              <a:srgbClr val="6FB3E8"/>
            </a:solidFill>
            <a:prstDash val="solid"/>
          </a:ln>
        </p:spPr>
      </p:sp>
      <p:sp>
        <p:nvSpPr>
          <p:cNvPr id="20" name="Shape 18"/>
          <p:cNvSpPr/>
          <p:nvPr/>
        </p:nvSpPr>
        <p:spPr>
          <a:xfrm>
            <a:off x="7022592" y="1737360"/>
            <a:ext cx="1353312" cy="310896"/>
          </a:xfrm>
          <a:prstGeom prst="roundRect">
            <a:avLst/>
          </a:prstGeom>
          <a:solidFill>
            <a:srgbClr val="20303D"/>
          </a:solidFill>
          <a:ln w="10160">
            <a:solidFill>
              <a:srgbClr val="6FB3E8"/>
            </a:solidFill>
            <a:prstDash val="solid"/>
          </a:ln>
        </p:spPr>
      </p:sp>
      <p:sp>
        <p:nvSpPr>
          <p:cNvPr id="21" name="Text 19"/>
          <p:cNvSpPr txBox="1"/>
          <p:nvPr/>
        </p:nvSpPr>
        <p:spPr>
          <a:xfrm>
            <a:off x="7068312" y="1773936"/>
            <a:ext cx="1261872" cy="246888"/>
          </a:xfrm>
          <a:prstGeom prst="rect">
            <a:avLst/>
          </a:prstGeom>
          <a:noFill/>
          <a:ln/>
        </p:spPr>
        <p:txBody>
          <a:bodyPr wrap="square" lIns="0" tIns="0" rIns="0" bIns="0" rtlCol="0" anchor="ctr">
            <a:normAutofit/>
          </a:bodyPr>
          <a:lstStyle/>
          <a:p>
            <a:pPr algn="ctr" indent="0" marL="0">
              <a:buNone/>
            </a:pPr>
            <a:r>
              <a:rPr lang="en-US" sz="720" b="1" spc="100" kern="0" dirty="0">
                <a:solidFill>
                  <a:srgbClr val="6FB3E8"/>
                </a:solidFill>
                <a:latin typeface="Courier New" pitchFamily="34" charset="0"/>
                <a:ea typeface="Courier New" pitchFamily="34" charset="-122"/>
                <a:cs typeface="Courier New" pitchFamily="34" charset="-120"/>
              </a:rPr>
              <a:t>WHATSAPP</a:t>
            </a:r>
            <a:endParaRPr lang="en-US" sz="720" dirty="0"/>
          </a:p>
        </p:txBody>
      </p:sp>
      <p:sp>
        <p:nvSpPr>
          <p:cNvPr id="22" name="Shape 20"/>
          <p:cNvSpPr/>
          <p:nvPr/>
        </p:nvSpPr>
        <p:spPr>
          <a:xfrm>
            <a:off x="7699248" y="2057400"/>
            <a:ext cx="0" cy="429768"/>
          </a:xfrm>
          <a:prstGeom prst="line">
            <a:avLst/>
          </a:prstGeom>
          <a:noFill/>
          <a:ln w="12700">
            <a:solidFill>
              <a:srgbClr val="6FB3E8"/>
            </a:solidFill>
            <a:prstDash val="solid"/>
          </a:ln>
        </p:spPr>
      </p:sp>
      <p:sp>
        <p:nvSpPr>
          <p:cNvPr id="23" name="Shape 21"/>
          <p:cNvSpPr/>
          <p:nvPr/>
        </p:nvSpPr>
        <p:spPr>
          <a:xfrm>
            <a:off x="8595360" y="1737360"/>
            <a:ext cx="1353312" cy="310896"/>
          </a:xfrm>
          <a:prstGeom prst="roundRect">
            <a:avLst/>
          </a:prstGeom>
          <a:solidFill>
            <a:srgbClr val="20303D"/>
          </a:solidFill>
          <a:ln w="10160">
            <a:solidFill>
              <a:srgbClr val="6FB3E8"/>
            </a:solidFill>
            <a:prstDash val="solid"/>
          </a:ln>
        </p:spPr>
      </p:sp>
      <p:sp>
        <p:nvSpPr>
          <p:cNvPr id="24" name="Text 22"/>
          <p:cNvSpPr txBox="1"/>
          <p:nvPr/>
        </p:nvSpPr>
        <p:spPr>
          <a:xfrm>
            <a:off x="8641080" y="1773936"/>
            <a:ext cx="1261872" cy="246888"/>
          </a:xfrm>
          <a:prstGeom prst="rect">
            <a:avLst/>
          </a:prstGeom>
          <a:noFill/>
          <a:ln/>
        </p:spPr>
        <p:txBody>
          <a:bodyPr wrap="square" lIns="0" tIns="0" rIns="0" bIns="0" rtlCol="0" anchor="ctr">
            <a:normAutofit/>
          </a:bodyPr>
          <a:lstStyle/>
          <a:p>
            <a:pPr algn="ctr" indent="0" marL="0">
              <a:buNone/>
            </a:pPr>
            <a:r>
              <a:rPr lang="en-US" sz="720" b="1" spc="100" kern="0" dirty="0">
                <a:solidFill>
                  <a:srgbClr val="6FB3E8"/>
                </a:solidFill>
                <a:latin typeface="Courier New" pitchFamily="34" charset="0"/>
                <a:ea typeface="Courier New" pitchFamily="34" charset="-122"/>
                <a:cs typeface="Courier New" pitchFamily="34" charset="-120"/>
              </a:rPr>
              <a:t>MESSENGER</a:t>
            </a:r>
            <a:endParaRPr lang="en-US" sz="720" dirty="0"/>
          </a:p>
        </p:txBody>
      </p:sp>
      <p:sp>
        <p:nvSpPr>
          <p:cNvPr id="25" name="Shape 23"/>
          <p:cNvSpPr/>
          <p:nvPr/>
        </p:nvSpPr>
        <p:spPr>
          <a:xfrm>
            <a:off x="9272016" y="2057400"/>
            <a:ext cx="0" cy="429768"/>
          </a:xfrm>
          <a:prstGeom prst="line">
            <a:avLst/>
          </a:prstGeom>
          <a:noFill/>
          <a:ln w="12700">
            <a:solidFill>
              <a:srgbClr val="6FB3E8"/>
            </a:solidFill>
            <a:prstDash val="solid"/>
          </a:ln>
        </p:spPr>
      </p:sp>
      <p:sp>
        <p:nvSpPr>
          <p:cNvPr id="26" name="Shape 24"/>
          <p:cNvSpPr/>
          <p:nvPr/>
        </p:nvSpPr>
        <p:spPr>
          <a:xfrm>
            <a:off x="10168128" y="1737360"/>
            <a:ext cx="1353312" cy="310896"/>
          </a:xfrm>
          <a:prstGeom prst="roundRect">
            <a:avLst/>
          </a:prstGeom>
          <a:solidFill>
            <a:srgbClr val="20303D"/>
          </a:solidFill>
          <a:ln w="10160">
            <a:solidFill>
              <a:srgbClr val="6FB3E8"/>
            </a:solidFill>
            <a:prstDash val="solid"/>
          </a:ln>
        </p:spPr>
      </p:sp>
      <p:sp>
        <p:nvSpPr>
          <p:cNvPr id="27" name="Text 25"/>
          <p:cNvSpPr txBox="1"/>
          <p:nvPr/>
        </p:nvSpPr>
        <p:spPr>
          <a:xfrm>
            <a:off x="10213848" y="1773936"/>
            <a:ext cx="1261872" cy="246888"/>
          </a:xfrm>
          <a:prstGeom prst="rect">
            <a:avLst/>
          </a:prstGeom>
          <a:noFill/>
          <a:ln/>
        </p:spPr>
        <p:txBody>
          <a:bodyPr wrap="square" lIns="0" tIns="0" rIns="0" bIns="0" rtlCol="0" anchor="ctr">
            <a:normAutofit/>
          </a:bodyPr>
          <a:lstStyle/>
          <a:p>
            <a:pPr algn="ctr" indent="0" marL="0">
              <a:buNone/>
            </a:pPr>
            <a:r>
              <a:rPr lang="en-US" sz="720" b="1" spc="100" kern="0" dirty="0">
                <a:solidFill>
                  <a:srgbClr val="6FB3E8"/>
                </a:solidFill>
                <a:latin typeface="Courier New" pitchFamily="34" charset="0"/>
                <a:ea typeface="Courier New" pitchFamily="34" charset="-122"/>
                <a:cs typeface="Courier New" pitchFamily="34" charset="-120"/>
              </a:rPr>
              <a:t>FUTURE API</a:t>
            </a:r>
            <a:endParaRPr lang="en-US" sz="720" dirty="0"/>
          </a:p>
        </p:txBody>
      </p:sp>
      <p:sp>
        <p:nvSpPr>
          <p:cNvPr id="28" name="Shape 26"/>
          <p:cNvSpPr/>
          <p:nvPr/>
        </p:nvSpPr>
        <p:spPr>
          <a:xfrm>
            <a:off x="10844784" y="2057400"/>
            <a:ext cx="0" cy="429768"/>
          </a:xfrm>
          <a:prstGeom prst="line">
            <a:avLst/>
          </a:prstGeom>
          <a:noFill/>
          <a:ln w="12700">
            <a:solidFill>
              <a:srgbClr val="6FB3E8"/>
            </a:solidFill>
            <a:prstDash val="solid"/>
          </a:ln>
        </p:spPr>
      </p:sp>
      <p:sp>
        <p:nvSpPr>
          <p:cNvPr id="29" name="Shape 27"/>
          <p:cNvSpPr/>
          <p:nvPr/>
        </p:nvSpPr>
        <p:spPr>
          <a:xfrm>
            <a:off x="987552" y="2505456"/>
            <a:ext cx="10195560" cy="749808"/>
          </a:xfrm>
          <a:prstGeom prst="roundRect">
            <a:avLst/>
          </a:prstGeom>
          <a:solidFill>
            <a:srgbClr val="1E1E28"/>
          </a:solidFill>
          <a:ln w="17780">
            <a:solidFill>
              <a:srgbClr val="6FB3E8"/>
            </a:solidFill>
            <a:prstDash val="solid"/>
          </a:ln>
        </p:spPr>
      </p:sp>
      <p:sp>
        <p:nvSpPr>
          <p:cNvPr id="30" name="Text 28"/>
          <p:cNvSpPr txBox="1"/>
          <p:nvPr/>
        </p:nvSpPr>
        <p:spPr>
          <a:xfrm>
            <a:off x="1225296" y="2715768"/>
            <a:ext cx="9729216" cy="228600"/>
          </a:xfrm>
          <a:prstGeom prst="rect">
            <a:avLst/>
          </a:prstGeom>
          <a:noFill/>
          <a:ln/>
        </p:spPr>
        <p:txBody>
          <a:bodyPr wrap="square" lIns="0" tIns="0" rIns="0" bIns="0" rtlCol="0" anchor="t">
            <a:normAutofit/>
          </a:bodyPr>
          <a:lstStyle/>
          <a:p>
            <a:pPr algn="ctr" indent="0" marL="0">
              <a:buNone/>
            </a:pPr>
            <a:r>
              <a:rPr lang="en-US" sz="1300" b="1" spc="110" kern="0" dirty="0">
                <a:solidFill>
                  <a:srgbClr val="6FB3E8"/>
                </a:solidFill>
                <a:latin typeface="Courier New" pitchFamily="34" charset="0"/>
                <a:ea typeface="Courier New" pitchFamily="34" charset="-122"/>
                <a:cs typeface="Courier New" pitchFamily="34" charset="-120"/>
              </a:rPr>
              <a:t>IDENTITY RESOLUTION  +  UNIFIED CUSTOMER &amp; CONVERSATION HUB</a:t>
            </a:r>
            <a:endParaRPr lang="en-US" sz="1300" dirty="0"/>
          </a:p>
        </p:txBody>
      </p:sp>
      <p:sp>
        <p:nvSpPr>
          <p:cNvPr id="31" name="Text 29"/>
          <p:cNvSpPr txBox="1"/>
          <p:nvPr/>
        </p:nvSpPr>
        <p:spPr>
          <a:xfrm>
            <a:off x="1335024" y="3017520"/>
            <a:ext cx="9491472" cy="146304"/>
          </a:xfrm>
          <a:prstGeom prst="rect">
            <a:avLst/>
          </a:prstGeom>
          <a:noFill/>
          <a:ln/>
        </p:spPr>
        <p:txBody>
          <a:bodyPr wrap="square" lIns="0" tIns="0" rIns="0" bIns="0" rtlCol="0" anchor="t">
            <a:normAutofit/>
          </a:bodyPr>
          <a:lstStyle/>
          <a:p>
            <a:pPr algn="ctr" indent="0" marL="0">
              <a:buNone/>
            </a:pPr>
            <a:r>
              <a:rPr lang="en-US" sz="760" dirty="0">
                <a:solidFill>
                  <a:srgbClr val="9A97A3"/>
                </a:solidFill>
                <a:latin typeface="Courier New" pitchFamily="34" charset="0"/>
                <a:ea typeface="Courier New" pitchFamily="34" charset="-122"/>
                <a:cs typeface="Courier New" pitchFamily="34" charset="-120"/>
              </a:rPr>
              <a:t>verified mobile  •  email  •  CRM ID  •  authenticated login  •  signed session</a:t>
            </a:r>
            <a:endParaRPr lang="en-US" sz="760" dirty="0"/>
          </a:p>
        </p:txBody>
      </p:sp>
      <p:sp>
        <p:nvSpPr>
          <p:cNvPr id="32" name="Shape 30"/>
          <p:cNvSpPr/>
          <p:nvPr/>
        </p:nvSpPr>
        <p:spPr>
          <a:xfrm>
            <a:off x="6089904" y="3264408"/>
            <a:ext cx="0" cy="393192"/>
          </a:xfrm>
          <a:prstGeom prst="line">
            <a:avLst/>
          </a:prstGeom>
          <a:noFill/>
          <a:ln w="17780">
            <a:solidFill>
              <a:srgbClr val="6FB3E8"/>
            </a:solidFill>
            <a:prstDash val="solid"/>
          </a:ln>
        </p:spPr>
      </p:sp>
      <p:sp>
        <p:nvSpPr>
          <p:cNvPr id="33" name="Text 31"/>
          <p:cNvSpPr txBox="1"/>
          <p:nvPr/>
        </p:nvSpPr>
        <p:spPr>
          <a:xfrm>
            <a:off x="1024128" y="3694176"/>
            <a:ext cx="10104120" cy="228600"/>
          </a:xfrm>
          <a:prstGeom prst="rect">
            <a:avLst/>
          </a:prstGeom>
          <a:noFill/>
          <a:ln/>
        </p:spPr>
        <p:txBody>
          <a:bodyPr wrap="square" lIns="0" tIns="0" rIns="0" bIns="0" rtlCol="0" anchor="t">
            <a:normAutofit/>
          </a:bodyPr>
          <a:lstStyle/>
          <a:p>
            <a:pPr algn="ctr" indent="0" marL="0">
              <a:buNone/>
            </a:pPr>
            <a:r>
              <a:rPr lang="en-US" sz="900" b="1" spc="140" kern="0" dirty="0">
                <a:solidFill>
                  <a:srgbClr val="7CC7A5"/>
                </a:solidFill>
                <a:latin typeface="Courier New" pitchFamily="34" charset="0"/>
                <a:ea typeface="Courier New" pitchFamily="34" charset="-122"/>
                <a:cs typeface="Courier New" pitchFamily="34" charset="-120"/>
              </a:rPr>
              <a:t>CONTEXT PACKAGE BEFORE EVERY INTERACTION</a:t>
            </a:r>
            <a:endParaRPr lang="en-US" sz="900" dirty="0"/>
          </a:p>
        </p:txBody>
      </p:sp>
      <p:sp>
        <p:nvSpPr>
          <p:cNvPr id="34" name="Shape 32"/>
          <p:cNvSpPr/>
          <p:nvPr/>
        </p:nvSpPr>
        <p:spPr>
          <a:xfrm>
            <a:off x="896112" y="4078224"/>
            <a:ext cx="3337560" cy="420624"/>
          </a:xfrm>
          <a:prstGeom prst="roundRect">
            <a:avLst/>
          </a:prstGeom>
          <a:solidFill>
            <a:srgbClr val="20382F"/>
          </a:solidFill>
          <a:ln w="8890">
            <a:solidFill>
              <a:srgbClr val="7CC7A5"/>
            </a:solidFill>
            <a:prstDash val="solid"/>
          </a:ln>
        </p:spPr>
      </p:sp>
      <p:sp>
        <p:nvSpPr>
          <p:cNvPr id="35" name="Text 33"/>
          <p:cNvSpPr txBox="1"/>
          <p:nvPr/>
        </p:nvSpPr>
        <p:spPr>
          <a:xfrm>
            <a:off x="1042416" y="4187952"/>
            <a:ext cx="3044952" cy="164592"/>
          </a:xfrm>
          <a:prstGeom prst="rect">
            <a:avLst/>
          </a:prstGeom>
          <a:noFill/>
          <a:ln/>
        </p:spPr>
        <p:txBody>
          <a:bodyPr wrap="square" lIns="0" tIns="0" rIns="0" bIns="0" rtlCol="0" anchor="t">
            <a:normAutofit/>
          </a:bodyPr>
          <a:lstStyle/>
          <a:p>
            <a:pPr algn="ctr" indent="0" marL="0">
              <a:buNone/>
            </a:pPr>
            <a:r>
              <a:rPr lang="en-US" sz="1100" b="1" dirty="0">
                <a:solidFill>
                  <a:srgbClr val="E8E6E0"/>
                </a:solidFill>
                <a:latin typeface="Arial" pitchFamily="34" charset="0"/>
                <a:ea typeface="Arial" pitchFamily="34" charset="-122"/>
                <a:cs typeface="Arial" pitchFamily="34" charset="-120"/>
              </a:rPr>
              <a:t>History + summary</a:t>
            </a:r>
            <a:endParaRPr lang="en-US" sz="1100" dirty="0"/>
          </a:p>
        </p:txBody>
      </p:sp>
      <p:sp>
        <p:nvSpPr>
          <p:cNvPr id="36" name="Shape 34"/>
          <p:cNvSpPr/>
          <p:nvPr/>
        </p:nvSpPr>
        <p:spPr>
          <a:xfrm>
            <a:off x="4608576" y="4078224"/>
            <a:ext cx="3337560" cy="420624"/>
          </a:xfrm>
          <a:prstGeom prst="roundRect">
            <a:avLst/>
          </a:prstGeom>
          <a:solidFill>
            <a:srgbClr val="20382F"/>
          </a:solidFill>
          <a:ln w="8890">
            <a:solidFill>
              <a:srgbClr val="7CC7A5"/>
            </a:solidFill>
            <a:prstDash val="solid"/>
          </a:ln>
        </p:spPr>
      </p:sp>
      <p:sp>
        <p:nvSpPr>
          <p:cNvPr id="37" name="Text 35"/>
          <p:cNvSpPr txBox="1"/>
          <p:nvPr/>
        </p:nvSpPr>
        <p:spPr>
          <a:xfrm>
            <a:off x="4754880" y="4187952"/>
            <a:ext cx="3044952" cy="164592"/>
          </a:xfrm>
          <a:prstGeom prst="rect">
            <a:avLst/>
          </a:prstGeom>
          <a:noFill/>
          <a:ln/>
        </p:spPr>
        <p:txBody>
          <a:bodyPr wrap="square" lIns="0" tIns="0" rIns="0" bIns="0" rtlCol="0" anchor="t">
            <a:normAutofit/>
          </a:bodyPr>
          <a:lstStyle/>
          <a:p>
            <a:pPr algn="ctr" indent="0" marL="0">
              <a:buNone/>
            </a:pPr>
            <a:r>
              <a:rPr lang="en-US" sz="1100" b="1" dirty="0">
                <a:solidFill>
                  <a:srgbClr val="E8E6E0"/>
                </a:solidFill>
                <a:latin typeface="Arial" pitchFamily="34" charset="0"/>
                <a:ea typeface="Arial" pitchFamily="34" charset="-122"/>
                <a:cs typeface="Arial" pitchFamily="34" charset="-120"/>
              </a:rPr>
              <a:t>Customer profile</a:t>
            </a:r>
            <a:endParaRPr lang="en-US" sz="1100" dirty="0"/>
          </a:p>
        </p:txBody>
      </p:sp>
      <p:sp>
        <p:nvSpPr>
          <p:cNvPr id="38" name="Shape 36"/>
          <p:cNvSpPr/>
          <p:nvPr/>
        </p:nvSpPr>
        <p:spPr>
          <a:xfrm>
            <a:off x="8321040" y="4078224"/>
            <a:ext cx="3337560" cy="420624"/>
          </a:xfrm>
          <a:prstGeom prst="roundRect">
            <a:avLst/>
          </a:prstGeom>
          <a:solidFill>
            <a:srgbClr val="20382F"/>
          </a:solidFill>
          <a:ln w="8890">
            <a:solidFill>
              <a:srgbClr val="7CC7A5"/>
            </a:solidFill>
            <a:prstDash val="solid"/>
          </a:ln>
        </p:spPr>
      </p:sp>
      <p:sp>
        <p:nvSpPr>
          <p:cNvPr id="39" name="Text 37"/>
          <p:cNvSpPr txBox="1"/>
          <p:nvPr/>
        </p:nvSpPr>
        <p:spPr>
          <a:xfrm>
            <a:off x="8467344" y="4187952"/>
            <a:ext cx="3044952" cy="164592"/>
          </a:xfrm>
          <a:prstGeom prst="rect">
            <a:avLst/>
          </a:prstGeom>
          <a:noFill/>
          <a:ln/>
        </p:spPr>
        <p:txBody>
          <a:bodyPr wrap="square" lIns="0" tIns="0" rIns="0" bIns="0" rtlCol="0" anchor="t">
            <a:normAutofit/>
          </a:bodyPr>
          <a:lstStyle/>
          <a:p>
            <a:pPr algn="ctr" indent="0" marL="0">
              <a:buNone/>
            </a:pPr>
            <a:r>
              <a:rPr lang="en-US" sz="1100" b="1" dirty="0">
                <a:solidFill>
                  <a:srgbClr val="E8E6E0"/>
                </a:solidFill>
                <a:latin typeface="Arial" pitchFamily="34" charset="0"/>
                <a:ea typeface="Arial" pitchFamily="34" charset="-122"/>
                <a:cs typeface="Arial" pitchFamily="34" charset="-120"/>
              </a:rPr>
              <a:t>Qualification status</a:t>
            </a:r>
            <a:endParaRPr lang="en-US" sz="1100" dirty="0"/>
          </a:p>
        </p:txBody>
      </p:sp>
      <p:sp>
        <p:nvSpPr>
          <p:cNvPr id="40" name="Shape 38"/>
          <p:cNvSpPr/>
          <p:nvPr/>
        </p:nvSpPr>
        <p:spPr>
          <a:xfrm>
            <a:off x="896112" y="4672584"/>
            <a:ext cx="3337560" cy="420624"/>
          </a:xfrm>
          <a:prstGeom prst="roundRect">
            <a:avLst/>
          </a:prstGeom>
          <a:solidFill>
            <a:srgbClr val="20382F"/>
          </a:solidFill>
          <a:ln w="8890">
            <a:solidFill>
              <a:srgbClr val="7CC7A5"/>
            </a:solidFill>
            <a:prstDash val="solid"/>
          </a:ln>
        </p:spPr>
      </p:sp>
      <p:sp>
        <p:nvSpPr>
          <p:cNvPr id="41" name="Text 39"/>
          <p:cNvSpPr txBox="1"/>
          <p:nvPr/>
        </p:nvSpPr>
        <p:spPr>
          <a:xfrm>
            <a:off x="1042416" y="4782312"/>
            <a:ext cx="3044952" cy="164592"/>
          </a:xfrm>
          <a:prstGeom prst="rect">
            <a:avLst/>
          </a:prstGeom>
          <a:noFill/>
          <a:ln/>
        </p:spPr>
        <p:txBody>
          <a:bodyPr wrap="square" lIns="0" tIns="0" rIns="0" bIns="0" rtlCol="0" anchor="t">
            <a:normAutofit/>
          </a:bodyPr>
          <a:lstStyle/>
          <a:p>
            <a:pPr algn="ctr" indent="0" marL="0">
              <a:buNone/>
            </a:pPr>
            <a:r>
              <a:rPr lang="en-US" sz="1100" b="1" dirty="0">
                <a:solidFill>
                  <a:srgbClr val="E8E6E0"/>
                </a:solidFill>
                <a:latin typeface="Arial" pitchFamily="34" charset="0"/>
                <a:ea typeface="Arial" pitchFamily="34" charset="-122"/>
                <a:cs typeface="Arial" pitchFamily="34" charset="-120"/>
              </a:rPr>
              <a:t>Appointments</a:t>
            </a:r>
            <a:endParaRPr lang="en-US" sz="1100" dirty="0"/>
          </a:p>
        </p:txBody>
      </p:sp>
      <p:sp>
        <p:nvSpPr>
          <p:cNvPr id="42" name="Shape 40"/>
          <p:cNvSpPr/>
          <p:nvPr/>
        </p:nvSpPr>
        <p:spPr>
          <a:xfrm>
            <a:off x="4608576" y="4672584"/>
            <a:ext cx="3337560" cy="420624"/>
          </a:xfrm>
          <a:prstGeom prst="roundRect">
            <a:avLst/>
          </a:prstGeom>
          <a:solidFill>
            <a:srgbClr val="20382F"/>
          </a:solidFill>
          <a:ln w="8890">
            <a:solidFill>
              <a:srgbClr val="7CC7A5"/>
            </a:solidFill>
            <a:prstDash val="solid"/>
          </a:ln>
        </p:spPr>
      </p:sp>
      <p:sp>
        <p:nvSpPr>
          <p:cNvPr id="43" name="Text 41"/>
          <p:cNvSpPr txBox="1"/>
          <p:nvPr/>
        </p:nvSpPr>
        <p:spPr>
          <a:xfrm>
            <a:off x="4754880" y="4782312"/>
            <a:ext cx="3044952" cy="164592"/>
          </a:xfrm>
          <a:prstGeom prst="rect">
            <a:avLst/>
          </a:prstGeom>
          <a:noFill/>
          <a:ln/>
        </p:spPr>
        <p:txBody>
          <a:bodyPr wrap="square" lIns="0" tIns="0" rIns="0" bIns="0" rtlCol="0" anchor="t">
            <a:normAutofit/>
          </a:bodyPr>
          <a:lstStyle/>
          <a:p>
            <a:pPr algn="ctr" indent="0" marL="0">
              <a:buNone/>
            </a:pPr>
            <a:r>
              <a:rPr lang="en-US" sz="1100" b="1" dirty="0">
                <a:solidFill>
                  <a:srgbClr val="E8E6E0"/>
                </a:solidFill>
                <a:latin typeface="Arial" pitchFamily="34" charset="0"/>
                <a:ea typeface="Arial" pitchFamily="34" charset="-122"/>
                <a:cs typeface="Arial" pitchFamily="34" charset="-120"/>
              </a:rPr>
              <a:t>Open opportunities</a:t>
            </a:r>
            <a:endParaRPr lang="en-US" sz="1100" dirty="0"/>
          </a:p>
        </p:txBody>
      </p:sp>
      <p:sp>
        <p:nvSpPr>
          <p:cNvPr id="44" name="Shape 42"/>
          <p:cNvSpPr/>
          <p:nvPr/>
        </p:nvSpPr>
        <p:spPr>
          <a:xfrm>
            <a:off x="8321040" y="4672584"/>
            <a:ext cx="3337560" cy="420624"/>
          </a:xfrm>
          <a:prstGeom prst="roundRect">
            <a:avLst/>
          </a:prstGeom>
          <a:solidFill>
            <a:srgbClr val="20382F"/>
          </a:solidFill>
          <a:ln w="8890">
            <a:solidFill>
              <a:srgbClr val="7CC7A5"/>
            </a:solidFill>
            <a:prstDash val="solid"/>
          </a:ln>
        </p:spPr>
      </p:sp>
      <p:sp>
        <p:nvSpPr>
          <p:cNvPr id="45" name="Text 43"/>
          <p:cNvSpPr txBox="1"/>
          <p:nvPr/>
        </p:nvSpPr>
        <p:spPr>
          <a:xfrm>
            <a:off x="8467344" y="4782312"/>
            <a:ext cx="3044952" cy="164592"/>
          </a:xfrm>
          <a:prstGeom prst="rect">
            <a:avLst/>
          </a:prstGeom>
          <a:noFill/>
          <a:ln/>
        </p:spPr>
        <p:txBody>
          <a:bodyPr wrap="square" lIns="0" tIns="0" rIns="0" bIns="0" rtlCol="0" anchor="t">
            <a:normAutofit/>
          </a:bodyPr>
          <a:lstStyle/>
          <a:p>
            <a:pPr algn="ctr" indent="0" marL="0">
              <a:buNone/>
            </a:pPr>
            <a:r>
              <a:rPr lang="en-US" sz="1100" b="1" dirty="0">
                <a:solidFill>
                  <a:srgbClr val="E8E6E0"/>
                </a:solidFill>
                <a:latin typeface="Arial" pitchFamily="34" charset="0"/>
                <a:ea typeface="Arial" pitchFamily="34" charset="-122"/>
                <a:cs typeface="Arial" pitchFamily="34" charset="-120"/>
              </a:rPr>
              <a:t>Recommended action</a:t>
            </a:r>
            <a:endParaRPr lang="en-US" sz="1100" dirty="0"/>
          </a:p>
        </p:txBody>
      </p:sp>
      <p:sp>
        <p:nvSpPr>
          <p:cNvPr id="46" name="Shape 44"/>
          <p:cNvSpPr/>
          <p:nvPr/>
        </p:nvSpPr>
        <p:spPr>
          <a:xfrm>
            <a:off x="1664208" y="5468112"/>
            <a:ext cx="8842248" cy="438912"/>
          </a:xfrm>
          <a:prstGeom prst="roundRect">
            <a:avLst/>
          </a:prstGeom>
          <a:solidFill>
            <a:srgbClr val="100F14"/>
          </a:solidFill>
          <a:ln w="10160">
            <a:solidFill>
              <a:srgbClr val="34323E"/>
            </a:solidFill>
            <a:prstDash val="solid"/>
          </a:ln>
        </p:spPr>
      </p:sp>
      <p:sp>
        <p:nvSpPr>
          <p:cNvPr id="47" name="Text 45"/>
          <p:cNvSpPr txBox="1"/>
          <p:nvPr/>
        </p:nvSpPr>
        <p:spPr>
          <a:xfrm>
            <a:off x="1938528" y="5596128"/>
            <a:ext cx="8302752" cy="164592"/>
          </a:xfrm>
          <a:prstGeom prst="rect">
            <a:avLst/>
          </a:prstGeom>
          <a:noFill/>
          <a:ln/>
        </p:spPr>
        <p:txBody>
          <a:bodyPr wrap="square" lIns="0" tIns="0" rIns="0" bIns="0" rtlCol="0" anchor="t">
            <a:normAutofit/>
          </a:bodyPr>
          <a:lstStyle/>
          <a:p>
            <a:pPr algn="ctr" indent="0" marL="0">
              <a:buNone/>
            </a:pPr>
            <a:r>
              <a:rPr lang="en-US" sz="1300" b="1" dirty="0">
                <a:solidFill>
                  <a:srgbClr val="7CC7A5"/>
                </a:solidFill>
                <a:latin typeface="Arial" pitchFamily="34" charset="0"/>
                <a:ea typeface="Arial" pitchFamily="34" charset="-122"/>
                <a:cs typeface="Arial" pitchFamily="34" charset="-120"/>
              </a:rPr>
              <a:t>AI and employees begin informed  •  customers continue without repetition</a:t>
            </a:r>
            <a:endParaRPr lang="en-US" sz="1300" dirty="0"/>
          </a:p>
        </p:txBody>
      </p:sp>
      <p:sp>
        <p:nvSpPr>
          <p:cNvPr id="48" name="Text 46"/>
          <p:cNvSpPr txBox="1"/>
          <p:nvPr/>
        </p:nvSpPr>
        <p:spPr>
          <a:xfrm>
            <a:off x="960120" y="6053328"/>
            <a:ext cx="10241280" cy="173736"/>
          </a:xfrm>
          <a:prstGeom prst="rect">
            <a:avLst/>
          </a:prstGeom>
          <a:noFill/>
          <a:ln/>
        </p:spPr>
        <p:txBody>
          <a:bodyPr wrap="square" lIns="0" tIns="0" rIns="0" bIns="0" rtlCol="0" anchor="t">
            <a:normAutofit/>
          </a:bodyPr>
          <a:lstStyle/>
          <a:p>
            <a:pPr algn="ctr" indent="0" marL="0">
              <a:buNone/>
            </a:pPr>
            <a:r>
              <a:rPr lang="en-US" sz="900" i="1" dirty="0">
                <a:solidFill>
                  <a:srgbClr val="9A97A3"/>
                </a:solidFill>
                <a:latin typeface="Arial" pitchFamily="34" charset="0"/>
                <a:ea typeface="Arial" pitchFamily="34" charset="-122"/>
                <a:cs typeface="Arial" pitchFamily="34" charset="-120"/>
              </a:rPr>
              <a:t>Caller ID can suggest a match; sensitive actions require verification. Identity merges must be auditable and reversible.</a:t>
            </a:r>
            <a:endParaRPr lang="en-US" sz="900" dirty="0"/>
          </a:p>
        </p:txBody>
      </p:sp>
      <p:sp>
        <p:nvSpPr>
          <p:cNvPr id="25" name="Slide Number Placeholder 0"/>
          <p:cNvSpPr>
            <a:spLocks noGrp="1"/>
          </p:cNvSpPr>
          <p:nvPr>
            <p:ph type="sldNum" sz="quarter" idx="4294967295"/>
          </p:nvPr>
        </p:nvSpPr>
        <p:spPr>
          <a:xfrm>
            <a:off x="11109960" y="6483096"/>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9A97A3"/>
                </a:solidFill>
                <a:latin typeface="Courier New"/>
                <a:ea typeface="Courier New"/>
                <a:cs typeface="Courier New"/>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61D"/>
        </a:solidFill>
      </p:bgPr>
    </p:bg>
    <p:spTree>
      <p:nvGrpSpPr>
        <p:cNvPr id="1" name=""/>
        <p:cNvGrpSpPr/>
        <p:nvPr/>
      </p:nvGrpSpPr>
      <p:grpSpPr>
        <a:xfrm>
          <a:off x="0" y="0"/>
          <a:ext cx="0" cy="0"/>
          <a:chOff x="0" y="0"/>
          <a:chExt cx="0" cy="0"/>
        </a:xfrm>
      </p:grpSpPr>
      <p:sp>
        <p:nvSpPr>
          <p:cNvPr id="2" name="Text 0"/>
          <p:cNvSpPr txBox="1"/>
          <p:nvPr/>
        </p:nvSpPr>
        <p:spPr>
          <a:xfrm>
            <a:off x="713232" y="384048"/>
            <a:ext cx="5120640" cy="219456"/>
          </a:xfrm>
          <a:prstGeom prst="rect">
            <a:avLst/>
          </a:prstGeom>
          <a:noFill/>
          <a:ln/>
        </p:spPr>
        <p:txBody>
          <a:bodyPr wrap="square" lIns="0" tIns="0" rIns="0" bIns="0" rtlCol="0" anchor="t">
            <a:normAutofit/>
          </a:bodyPr>
          <a:lstStyle/>
          <a:p>
            <a:pPr algn="l" indent="0" marL="0">
              <a:buNone/>
            </a:pPr>
            <a:r>
              <a:rPr lang="en-US" sz="900" b="1" spc="210" kern="0" dirty="0">
                <a:solidFill>
                  <a:srgbClr val="9A97A3"/>
                </a:solidFill>
                <a:latin typeface="Courier New" pitchFamily="34" charset="0"/>
                <a:ea typeface="Courier New" pitchFamily="34" charset="-122"/>
                <a:cs typeface="Courier New" pitchFamily="34" charset="-120"/>
              </a:rPr>
              <a:t>DEMONSTRATED</a:t>
            </a:r>
            <a:endParaRPr lang="en-US" sz="900" dirty="0"/>
          </a:p>
        </p:txBody>
      </p:sp>
      <p:sp>
        <p:nvSpPr>
          <p:cNvPr id="3" name="Text 1"/>
          <p:cNvSpPr txBox="1"/>
          <p:nvPr/>
        </p:nvSpPr>
        <p:spPr>
          <a:xfrm>
            <a:off x="10424160" y="347472"/>
            <a:ext cx="1051560" cy="228600"/>
          </a:xfrm>
          <a:prstGeom prst="rect">
            <a:avLst/>
          </a:prstGeom>
          <a:noFill/>
          <a:ln/>
        </p:spPr>
        <p:txBody>
          <a:bodyPr wrap="square" lIns="0" tIns="0" rIns="0" bIns="0" rtlCol="0" anchor="t">
            <a:normAutofit/>
          </a:bodyPr>
          <a:lstStyle/>
          <a:p>
            <a:pPr algn="r" indent="0" marL="0">
              <a:buNone/>
            </a:pPr>
            <a:r>
              <a:rPr lang="en-US" sz="1000" b="1" spc="240" kern="0" dirty="0">
                <a:solidFill>
                  <a:srgbClr val="E8E6E0"/>
                </a:solidFill>
                <a:latin typeface="Courier New" pitchFamily="34" charset="0"/>
                <a:ea typeface="Courier New" pitchFamily="34" charset="-122"/>
                <a:cs typeface="Courier New" pitchFamily="34" charset="-120"/>
              </a:rPr>
              <a:t>CYBIC</a:t>
            </a:r>
            <a:endParaRPr lang="en-US" sz="1000" dirty="0"/>
          </a:p>
        </p:txBody>
      </p:sp>
      <p:sp>
        <p:nvSpPr>
          <p:cNvPr id="4" name="Text 2"/>
          <p:cNvSpPr txBox="1"/>
          <p:nvPr/>
        </p:nvSpPr>
        <p:spPr>
          <a:xfrm>
            <a:off x="685800" y="713232"/>
            <a:ext cx="10744200" cy="566928"/>
          </a:xfrm>
          <a:prstGeom prst="rect">
            <a:avLst/>
          </a:prstGeom>
          <a:noFill/>
          <a:ln/>
        </p:spPr>
        <p:txBody>
          <a:bodyPr wrap="square" lIns="0" tIns="0" rIns="0" bIns="0" rtlCol="0" anchor="t">
            <a:normAutofit/>
          </a:bodyPr>
          <a:lstStyle/>
          <a:p>
            <a:pPr algn="l" indent="0" marL="0">
              <a:buNone/>
            </a:pPr>
            <a:r>
              <a:rPr lang="en-US" sz="2800" b="1" dirty="0">
                <a:solidFill>
                  <a:srgbClr val="E8A33D"/>
                </a:solidFill>
                <a:latin typeface="Arial" pitchFamily="34" charset="0"/>
                <a:ea typeface="Arial" pitchFamily="34" charset="-122"/>
                <a:cs typeface="Arial" pitchFamily="34" charset="-120"/>
              </a:rPr>
              <a:t>What Cybic has already built</a:t>
            </a:r>
            <a:endParaRPr lang="en-US" sz="2800" dirty="0"/>
          </a:p>
        </p:txBody>
      </p:sp>
      <p:sp>
        <p:nvSpPr>
          <p:cNvPr id="5" name="Text 3"/>
          <p:cNvSpPr txBox="1"/>
          <p:nvPr/>
        </p:nvSpPr>
        <p:spPr>
          <a:xfrm>
            <a:off x="713232" y="1298448"/>
            <a:ext cx="10607040" cy="411480"/>
          </a:xfrm>
          <a:prstGeom prst="rect">
            <a:avLst/>
          </a:prstGeom>
          <a:noFill/>
          <a:ln/>
        </p:spPr>
        <p:txBody>
          <a:bodyPr wrap="square" lIns="0" tIns="0" rIns="0" bIns="0" rtlCol="0" anchor="t">
            <a:normAutofit/>
          </a:bodyPr>
          <a:lstStyle/>
          <a:p>
            <a:pPr algn="l" indent="0" marL="0">
              <a:buNone/>
            </a:pPr>
            <a:r>
              <a:rPr lang="en-US" sz="1350" dirty="0">
                <a:solidFill>
                  <a:srgbClr val="9A97A3"/>
                </a:solidFill>
                <a:latin typeface="Arial" pitchFamily="34" charset="0"/>
                <a:ea typeface="Arial" pitchFamily="34" charset="-122"/>
                <a:cs typeface="Arial" pitchFamily="34" charset="-120"/>
              </a:rPr>
              <a:t>A working single-seat desktop agent-assist prototype — not an autonomous call platform.</a:t>
            </a:r>
            <a:endParaRPr lang="en-US" sz="1350" dirty="0"/>
          </a:p>
        </p:txBody>
      </p:sp>
      <p:sp>
        <p:nvSpPr>
          <p:cNvPr id="6" name="Shape 4"/>
          <p:cNvSpPr/>
          <p:nvPr/>
        </p:nvSpPr>
        <p:spPr>
          <a:xfrm>
            <a:off x="658368" y="6428232"/>
            <a:ext cx="10863072" cy="0"/>
          </a:xfrm>
          <a:prstGeom prst="line">
            <a:avLst/>
          </a:prstGeom>
          <a:noFill/>
          <a:ln w="8890">
            <a:solidFill>
              <a:srgbClr val="34323E"/>
            </a:solidFill>
            <a:prstDash val="solid"/>
          </a:ln>
        </p:spPr>
      </p:sp>
      <p:sp>
        <p:nvSpPr>
          <p:cNvPr id="7" name="Text 5"/>
          <p:cNvSpPr txBox="1"/>
          <p:nvPr/>
        </p:nvSpPr>
        <p:spPr>
          <a:xfrm>
            <a:off x="685800" y="6473952"/>
            <a:ext cx="2926080" cy="146304"/>
          </a:xfrm>
          <a:prstGeom prst="rect">
            <a:avLst/>
          </a:prstGeom>
          <a:noFill/>
          <a:ln/>
        </p:spPr>
        <p:txBody>
          <a:bodyPr wrap="square" lIns="0" tIns="0" rIns="0" bIns="0" rtlCol="0" anchor="t">
            <a:normAutofit/>
          </a:bodyPr>
          <a:lstStyle/>
          <a:p>
            <a:pPr algn="l" indent="0" marL="0">
              <a:buNone/>
            </a:pPr>
            <a:r>
              <a:rPr lang="en-US" sz="750" spc="120" kern="0" dirty="0">
                <a:solidFill>
                  <a:srgbClr val="9A97A3"/>
                </a:solidFill>
                <a:latin typeface="Courier New" pitchFamily="34" charset="0"/>
                <a:ea typeface="Courier New" pitchFamily="34" charset="-122"/>
                <a:cs typeface="Courier New" pitchFamily="34" charset="-120"/>
              </a:rPr>
              <a:t>CYBIC  •  CONFIDENTIAL</a:t>
            </a:r>
            <a:endParaRPr lang="en-US" sz="750" dirty="0"/>
          </a:p>
        </p:txBody>
      </p:sp>
      <p:sp>
        <p:nvSpPr>
          <p:cNvPr id="8" name="Shape 6"/>
          <p:cNvSpPr/>
          <p:nvPr/>
        </p:nvSpPr>
        <p:spPr>
          <a:xfrm>
            <a:off x="9582912" y="1307592"/>
            <a:ext cx="1673352" cy="310896"/>
          </a:xfrm>
          <a:prstGeom prst="roundRect">
            <a:avLst/>
          </a:prstGeom>
          <a:solidFill>
            <a:srgbClr val="3D3320"/>
          </a:solidFill>
          <a:ln w="10160">
            <a:solidFill>
              <a:srgbClr val="E8A33D"/>
            </a:solidFill>
            <a:prstDash val="solid"/>
          </a:ln>
        </p:spPr>
      </p:sp>
      <p:sp>
        <p:nvSpPr>
          <p:cNvPr id="9" name="Text 7"/>
          <p:cNvSpPr txBox="1"/>
          <p:nvPr/>
        </p:nvSpPr>
        <p:spPr>
          <a:xfrm>
            <a:off x="9628632" y="1344168"/>
            <a:ext cx="1581912" cy="246888"/>
          </a:xfrm>
          <a:prstGeom prst="rect">
            <a:avLst/>
          </a:prstGeom>
          <a:noFill/>
          <a:ln/>
        </p:spPr>
        <p:txBody>
          <a:bodyPr wrap="square" lIns="0" tIns="0" rIns="0" bIns="0" rtlCol="0" anchor="ctr">
            <a:normAutofit/>
          </a:bodyPr>
          <a:lstStyle/>
          <a:p>
            <a:pPr algn="ctr" indent="0" marL="0">
              <a:buNone/>
            </a:pPr>
            <a:r>
              <a:rPr lang="en-US" sz="850" b="1" spc="100" kern="0" dirty="0">
                <a:solidFill>
                  <a:srgbClr val="E8A33D"/>
                </a:solidFill>
                <a:latin typeface="Courier New" pitchFamily="34" charset="0"/>
                <a:ea typeface="Courier New" pitchFamily="34" charset="-122"/>
                <a:cs typeface="Courier New" pitchFamily="34" charset="-120"/>
              </a:rPr>
              <a:t>CURRENT CAPABILITY</a:t>
            </a:r>
            <a:endParaRPr lang="en-US" sz="850" dirty="0"/>
          </a:p>
        </p:txBody>
      </p:sp>
      <p:sp>
        <p:nvSpPr>
          <p:cNvPr id="10" name="Shape 8"/>
          <p:cNvSpPr/>
          <p:nvPr/>
        </p:nvSpPr>
        <p:spPr>
          <a:xfrm>
            <a:off x="713232" y="1865376"/>
            <a:ext cx="1499616" cy="896112"/>
          </a:xfrm>
          <a:prstGeom prst="roundRect">
            <a:avLst/>
          </a:prstGeom>
          <a:solidFill>
            <a:srgbClr val="1E1E28"/>
          </a:solidFill>
          <a:ln w="10160">
            <a:solidFill>
              <a:srgbClr val="E8A33D"/>
            </a:solidFill>
            <a:prstDash val="solid"/>
          </a:ln>
        </p:spPr>
      </p:sp>
      <p:sp>
        <p:nvSpPr>
          <p:cNvPr id="11" name="Text 9"/>
          <p:cNvSpPr txBox="1"/>
          <p:nvPr/>
        </p:nvSpPr>
        <p:spPr>
          <a:xfrm>
            <a:off x="850392" y="1975104"/>
            <a:ext cx="320040" cy="155448"/>
          </a:xfrm>
          <a:prstGeom prst="rect">
            <a:avLst/>
          </a:prstGeom>
          <a:noFill/>
          <a:ln/>
        </p:spPr>
        <p:txBody>
          <a:bodyPr wrap="square" lIns="0" tIns="0" rIns="0" bIns="0" rtlCol="0" anchor="t">
            <a:normAutofit/>
          </a:bodyPr>
          <a:lstStyle/>
          <a:p>
            <a:pPr algn="l" indent="0" marL="0">
              <a:buNone/>
            </a:pPr>
            <a:r>
              <a:rPr lang="en-US" sz="750" b="1" dirty="0">
                <a:solidFill>
                  <a:srgbClr val="9A97A3"/>
                </a:solidFill>
                <a:latin typeface="Courier New" pitchFamily="34" charset="0"/>
                <a:ea typeface="Courier New" pitchFamily="34" charset="-122"/>
                <a:cs typeface="Courier New" pitchFamily="34" charset="-120"/>
              </a:rPr>
              <a:t>01</a:t>
            </a:r>
            <a:endParaRPr lang="en-US" sz="750" dirty="0"/>
          </a:p>
        </p:txBody>
      </p:sp>
      <p:sp>
        <p:nvSpPr>
          <p:cNvPr id="12" name="Text 10"/>
          <p:cNvSpPr txBox="1"/>
          <p:nvPr/>
        </p:nvSpPr>
        <p:spPr>
          <a:xfrm>
            <a:off x="850392" y="2212848"/>
            <a:ext cx="1225296" cy="356616"/>
          </a:xfrm>
          <a:prstGeom prst="rect">
            <a:avLst/>
          </a:prstGeom>
          <a:noFill/>
          <a:ln/>
        </p:spPr>
        <p:txBody>
          <a:bodyPr wrap="square" lIns="0" tIns="0" rIns="0" bIns="0" rtlCol="0" anchor="ctr">
            <a:normAutofit/>
          </a:bodyPr>
          <a:lstStyle/>
          <a:p>
            <a:pPr algn="ctr" indent="0" marL="0">
              <a:buNone/>
            </a:pPr>
            <a:r>
              <a:rPr lang="en-US" sz="920" b="1" dirty="0">
                <a:solidFill>
                  <a:srgbClr val="E8E6E0"/>
                </a:solidFill>
                <a:latin typeface="Courier New" pitchFamily="34" charset="0"/>
                <a:ea typeface="Courier New" pitchFamily="34" charset="-122"/>
                <a:cs typeface="Courier New" pitchFamily="34" charset="-120"/>
              </a:rPr>
              <a:t>TWO-SIDED</a:t>
            </a:r>
            <a:endParaRPr lang="en-US" sz="920" dirty="0"/>
          </a:p>
          <a:p>
            <a:pPr algn="ctr" indent="0" marL="0">
              <a:buNone/>
            </a:pPr>
            <a:r>
              <a:rPr lang="en-US" sz="920" b="1" dirty="0">
                <a:solidFill>
                  <a:srgbClr val="E8E6E0"/>
                </a:solidFill>
                <a:latin typeface="Courier New" pitchFamily="34" charset="0"/>
                <a:ea typeface="Courier New" pitchFamily="34" charset="-122"/>
                <a:cs typeface="Courier New" pitchFamily="34" charset="-120"/>
              </a:rPr>
              <a:t>AUDIO</a:t>
            </a:r>
            <a:endParaRPr lang="en-US" sz="920" dirty="0"/>
          </a:p>
        </p:txBody>
      </p:sp>
      <p:sp>
        <p:nvSpPr>
          <p:cNvPr id="13" name="Shape 11"/>
          <p:cNvSpPr/>
          <p:nvPr/>
        </p:nvSpPr>
        <p:spPr>
          <a:xfrm>
            <a:off x="2286000" y="2185416"/>
            <a:ext cx="201168" cy="219456"/>
          </a:xfrm>
          <a:prstGeom prst="chevron">
            <a:avLst/>
          </a:prstGeom>
          <a:solidFill>
            <a:srgbClr val="E8A33D"/>
          </a:solidFill>
          <a:ln w="12700">
            <a:solidFill>
              <a:srgbClr val="E8A33D"/>
            </a:solidFill>
            <a:prstDash val="solid"/>
          </a:ln>
        </p:spPr>
      </p:sp>
      <p:sp>
        <p:nvSpPr>
          <p:cNvPr id="14" name="Shape 12"/>
          <p:cNvSpPr/>
          <p:nvPr/>
        </p:nvSpPr>
        <p:spPr>
          <a:xfrm>
            <a:off x="2578608" y="1865376"/>
            <a:ext cx="1499616" cy="896112"/>
          </a:xfrm>
          <a:prstGeom prst="roundRect">
            <a:avLst/>
          </a:prstGeom>
          <a:solidFill>
            <a:srgbClr val="1E1E28"/>
          </a:solidFill>
          <a:ln w="10160">
            <a:solidFill>
              <a:srgbClr val="E8A33D"/>
            </a:solidFill>
            <a:prstDash val="solid"/>
          </a:ln>
        </p:spPr>
      </p:sp>
      <p:sp>
        <p:nvSpPr>
          <p:cNvPr id="15" name="Text 13"/>
          <p:cNvSpPr txBox="1"/>
          <p:nvPr/>
        </p:nvSpPr>
        <p:spPr>
          <a:xfrm>
            <a:off x="2715768" y="1975104"/>
            <a:ext cx="320040" cy="155448"/>
          </a:xfrm>
          <a:prstGeom prst="rect">
            <a:avLst/>
          </a:prstGeom>
          <a:noFill/>
          <a:ln/>
        </p:spPr>
        <p:txBody>
          <a:bodyPr wrap="square" lIns="0" tIns="0" rIns="0" bIns="0" rtlCol="0" anchor="t">
            <a:normAutofit/>
          </a:bodyPr>
          <a:lstStyle/>
          <a:p>
            <a:pPr algn="l" indent="0" marL="0">
              <a:buNone/>
            </a:pPr>
            <a:r>
              <a:rPr lang="en-US" sz="750" b="1" dirty="0">
                <a:solidFill>
                  <a:srgbClr val="9A97A3"/>
                </a:solidFill>
                <a:latin typeface="Courier New" pitchFamily="34" charset="0"/>
                <a:ea typeface="Courier New" pitchFamily="34" charset="-122"/>
                <a:cs typeface="Courier New" pitchFamily="34" charset="-120"/>
              </a:rPr>
              <a:t>02</a:t>
            </a:r>
            <a:endParaRPr lang="en-US" sz="750" dirty="0"/>
          </a:p>
        </p:txBody>
      </p:sp>
      <p:sp>
        <p:nvSpPr>
          <p:cNvPr id="16" name="Text 14"/>
          <p:cNvSpPr txBox="1"/>
          <p:nvPr/>
        </p:nvSpPr>
        <p:spPr>
          <a:xfrm>
            <a:off x="2715768" y="2212848"/>
            <a:ext cx="1225296" cy="356616"/>
          </a:xfrm>
          <a:prstGeom prst="rect">
            <a:avLst/>
          </a:prstGeom>
          <a:noFill/>
          <a:ln/>
        </p:spPr>
        <p:txBody>
          <a:bodyPr wrap="square" lIns="0" tIns="0" rIns="0" bIns="0" rtlCol="0" anchor="ctr">
            <a:normAutofit/>
          </a:bodyPr>
          <a:lstStyle/>
          <a:p>
            <a:pPr algn="ctr" indent="0" marL="0">
              <a:buNone/>
            </a:pPr>
            <a:r>
              <a:rPr lang="en-US" sz="920" b="1" dirty="0">
                <a:solidFill>
                  <a:srgbClr val="E8E6E0"/>
                </a:solidFill>
                <a:latin typeface="Courier New" pitchFamily="34" charset="0"/>
                <a:ea typeface="Courier New" pitchFamily="34" charset="-122"/>
                <a:cs typeface="Courier New" pitchFamily="34" charset="-120"/>
              </a:rPr>
              <a:t>LOCAL</a:t>
            </a:r>
            <a:endParaRPr lang="en-US" sz="920" dirty="0"/>
          </a:p>
          <a:p>
            <a:pPr algn="ctr" indent="0" marL="0">
              <a:buNone/>
            </a:pPr>
            <a:r>
              <a:rPr lang="en-US" sz="920" b="1" dirty="0">
                <a:solidFill>
                  <a:srgbClr val="E8E6E0"/>
                </a:solidFill>
                <a:latin typeface="Courier New" pitchFamily="34" charset="0"/>
                <a:ea typeface="Courier New" pitchFamily="34" charset="-122"/>
                <a:cs typeface="Courier New" pitchFamily="34" charset="-120"/>
              </a:rPr>
              <a:t>STT</a:t>
            </a:r>
            <a:endParaRPr lang="en-US" sz="920" dirty="0"/>
          </a:p>
        </p:txBody>
      </p:sp>
      <p:sp>
        <p:nvSpPr>
          <p:cNvPr id="17" name="Shape 15"/>
          <p:cNvSpPr/>
          <p:nvPr/>
        </p:nvSpPr>
        <p:spPr>
          <a:xfrm>
            <a:off x="4151376" y="2185416"/>
            <a:ext cx="201168" cy="219456"/>
          </a:xfrm>
          <a:prstGeom prst="chevron">
            <a:avLst/>
          </a:prstGeom>
          <a:solidFill>
            <a:srgbClr val="E8A33D"/>
          </a:solidFill>
          <a:ln w="12700">
            <a:solidFill>
              <a:srgbClr val="E8A33D"/>
            </a:solidFill>
            <a:prstDash val="solid"/>
          </a:ln>
        </p:spPr>
      </p:sp>
      <p:sp>
        <p:nvSpPr>
          <p:cNvPr id="18" name="Shape 16"/>
          <p:cNvSpPr/>
          <p:nvPr/>
        </p:nvSpPr>
        <p:spPr>
          <a:xfrm>
            <a:off x="4443984" y="1865376"/>
            <a:ext cx="1499616" cy="896112"/>
          </a:xfrm>
          <a:prstGeom prst="roundRect">
            <a:avLst/>
          </a:prstGeom>
          <a:solidFill>
            <a:srgbClr val="1E1E28"/>
          </a:solidFill>
          <a:ln w="10160">
            <a:solidFill>
              <a:srgbClr val="E8A33D"/>
            </a:solidFill>
            <a:prstDash val="solid"/>
          </a:ln>
        </p:spPr>
      </p:sp>
      <p:sp>
        <p:nvSpPr>
          <p:cNvPr id="19" name="Text 17"/>
          <p:cNvSpPr txBox="1"/>
          <p:nvPr/>
        </p:nvSpPr>
        <p:spPr>
          <a:xfrm>
            <a:off x="4581144" y="1975104"/>
            <a:ext cx="320040" cy="155448"/>
          </a:xfrm>
          <a:prstGeom prst="rect">
            <a:avLst/>
          </a:prstGeom>
          <a:noFill/>
          <a:ln/>
        </p:spPr>
        <p:txBody>
          <a:bodyPr wrap="square" lIns="0" tIns="0" rIns="0" bIns="0" rtlCol="0" anchor="t">
            <a:normAutofit/>
          </a:bodyPr>
          <a:lstStyle/>
          <a:p>
            <a:pPr algn="l" indent="0" marL="0">
              <a:buNone/>
            </a:pPr>
            <a:r>
              <a:rPr lang="en-US" sz="750" b="1" dirty="0">
                <a:solidFill>
                  <a:srgbClr val="9A97A3"/>
                </a:solidFill>
                <a:latin typeface="Courier New" pitchFamily="34" charset="0"/>
                <a:ea typeface="Courier New" pitchFamily="34" charset="-122"/>
                <a:cs typeface="Courier New" pitchFamily="34" charset="-120"/>
              </a:rPr>
              <a:t>03</a:t>
            </a:r>
            <a:endParaRPr lang="en-US" sz="750" dirty="0"/>
          </a:p>
        </p:txBody>
      </p:sp>
      <p:sp>
        <p:nvSpPr>
          <p:cNvPr id="20" name="Text 18"/>
          <p:cNvSpPr txBox="1"/>
          <p:nvPr/>
        </p:nvSpPr>
        <p:spPr>
          <a:xfrm>
            <a:off x="4581144" y="2212848"/>
            <a:ext cx="1225296" cy="356616"/>
          </a:xfrm>
          <a:prstGeom prst="rect">
            <a:avLst/>
          </a:prstGeom>
          <a:noFill/>
          <a:ln/>
        </p:spPr>
        <p:txBody>
          <a:bodyPr wrap="square" lIns="0" tIns="0" rIns="0" bIns="0" rtlCol="0" anchor="ctr">
            <a:normAutofit/>
          </a:bodyPr>
          <a:lstStyle/>
          <a:p>
            <a:pPr algn="ctr" indent="0" marL="0">
              <a:buNone/>
            </a:pPr>
            <a:r>
              <a:rPr lang="en-US" sz="920" b="1" dirty="0">
                <a:solidFill>
                  <a:srgbClr val="E8E6E0"/>
                </a:solidFill>
                <a:latin typeface="Courier New" pitchFamily="34" charset="0"/>
                <a:ea typeface="Courier New" pitchFamily="34" charset="-122"/>
                <a:cs typeface="Courier New" pitchFamily="34" charset="-120"/>
              </a:rPr>
              <a:t>REQUEST</a:t>
            </a:r>
            <a:endParaRPr lang="en-US" sz="920" dirty="0"/>
          </a:p>
          <a:p>
            <a:pPr algn="ctr" indent="0" marL="0">
              <a:buNone/>
            </a:pPr>
            <a:r>
              <a:rPr lang="en-US" sz="920" b="1" dirty="0">
                <a:solidFill>
                  <a:srgbClr val="E8E6E0"/>
                </a:solidFill>
                <a:latin typeface="Courier New" pitchFamily="34" charset="0"/>
                <a:ea typeface="Courier New" pitchFamily="34" charset="-122"/>
                <a:cs typeface="Courier New" pitchFamily="34" charset="-120"/>
              </a:rPr>
              <a:t>GATE</a:t>
            </a:r>
            <a:endParaRPr lang="en-US" sz="920" dirty="0"/>
          </a:p>
        </p:txBody>
      </p:sp>
      <p:sp>
        <p:nvSpPr>
          <p:cNvPr id="21" name="Shape 19"/>
          <p:cNvSpPr/>
          <p:nvPr/>
        </p:nvSpPr>
        <p:spPr>
          <a:xfrm>
            <a:off x="6016752" y="2185416"/>
            <a:ext cx="201168" cy="219456"/>
          </a:xfrm>
          <a:prstGeom prst="chevron">
            <a:avLst/>
          </a:prstGeom>
          <a:solidFill>
            <a:srgbClr val="E8A33D"/>
          </a:solidFill>
          <a:ln w="12700">
            <a:solidFill>
              <a:srgbClr val="E8A33D"/>
            </a:solidFill>
            <a:prstDash val="solid"/>
          </a:ln>
        </p:spPr>
      </p:sp>
      <p:sp>
        <p:nvSpPr>
          <p:cNvPr id="22" name="Shape 20"/>
          <p:cNvSpPr/>
          <p:nvPr/>
        </p:nvSpPr>
        <p:spPr>
          <a:xfrm>
            <a:off x="6309360" y="1865376"/>
            <a:ext cx="1499616" cy="896112"/>
          </a:xfrm>
          <a:prstGeom prst="roundRect">
            <a:avLst/>
          </a:prstGeom>
          <a:solidFill>
            <a:srgbClr val="1E1E28"/>
          </a:solidFill>
          <a:ln w="10160">
            <a:solidFill>
              <a:srgbClr val="E8A33D"/>
            </a:solidFill>
            <a:prstDash val="solid"/>
          </a:ln>
        </p:spPr>
      </p:sp>
      <p:sp>
        <p:nvSpPr>
          <p:cNvPr id="23" name="Text 21"/>
          <p:cNvSpPr txBox="1"/>
          <p:nvPr/>
        </p:nvSpPr>
        <p:spPr>
          <a:xfrm>
            <a:off x="6446520" y="1975104"/>
            <a:ext cx="320040" cy="155448"/>
          </a:xfrm>
          <a:prstGeom prst="rect">
            <a:avLst/>
          </a:prstGeom>
          <a:noFill/>
          <a:ln/>
        </p:spPr>
        <p:txBody>
          <a:bodyPr wrap="square" lIns="0" tIns="0" rIns="0" bIns="0" rtlCol="0" anchor="t">
            <a:normAutofit/>
          </a:bodyPr>
          <a:lstStyle/>
          <a:p>
            <a:pPr algn="l" indent="0" marL="0">
              <a:buNone/>
            </a:pPr>
            <a:r>
              <a:rPr lang="en-US" sz="750" b="1" dirty="0">
                <a:solidFill>
                  <a:srgbClr val="9A97A3"/>
                </a:solidFill>
                <a:latin typeface="Courier New" pitchFamily="34" charset="0"/>
                <a:ea typeface="Courier New" pitchFamily="34" charset="-122"/>
                <a:cs typeface="Courier New" pitchFamily="34" charset="-120"/>
              </a:rPr>
              <a:t>04</a:t>
            </a:r>
            <a:endParaRPr lang="en-US" sz="750" dirty="0"/>
          </a:p>
        </p:txBody>
      </p:sp>
      <p:sp>
        <p:nvSpPr>
          <p:cNvPr id="24" name="Text 22"/>
          <p:cNvSpPr txBox="1"/>
          <p:nvPr/>
        </p:nvSpPr>
        <p:spPr>
          <a:xfrm>
            <a:off x="6446520" y="2212848"/>
            <a:ext cx="1225296" cy="356616"/>
          </a:xfrm>
          <a:prstGeom prst="rect">
            <a:avLst/>
          </a:prstGeom>
          <a:noFill/>
          <a:ln/>
        </p:spPr>
        <p:txBody>
          <a:bodyPr wrap="square" lIns="0" tIns="0" rIns="0" bIns="0" rtlCol="0" anchor="ctr">
            <a:normAutofit/>
          </a:bodyPr>
          <a:lstStyle/>
          <a:p>
            <a:pPr algn="ctr" indent="0" marL="0">
              <a:buNone/>
            </a:pPr>
            <a:r>
              <a:rPr lang="en-US" sz="920" b="1" dirty="0">
                <a:solidFill>
                  <a:srgbClr val="E8E6E0"/>
                </a:solidFill>
                <a:latin typeface="Courier New" pitchFamily="34" charset="0"/>
                <a:ea typeface="Courier New" pitchFamily="34" charset="-122"/>
                <a:cs typeface="Courier New" pitchFamily="34" charset="-120"/>
              </a:rPr>
              <a:t>SESSION</a:t>
            </a:r>
            <a:endParaRPr lang="en-US" sz="920" dirty="0"/>
          </a:p>
          <a:p>
            <a:pPr algn="ctr" indent="0" marL="0">
              <a:buNone/>
            </a:pPr>
            <a:r>
              <a:rPr lang="en-US" sz="920" b="1" dirty="0">
                <a:solidFill>
                  <a:srgbClr val="E8E6E0"/>
                </a:solidFill>
                <a:latin typeface="Courier New" pitchFamily="34" charset="0"/>
                <a:ea typeface="Courier New" pitchFamily="34" charset="-122"/>
                <a:cs typeface="Courier New" pitchFamily="34" charset="-120"/>
              </a:rPr>
              <a:t>CONTEXT</a:t>
            </a:r>
            <a:endParaRPr lang="en-US" sz="920" dirty="0"/>
          </a:p>
        </p:txBody>
      </p:sp>
      <p:sp>
        <p:nvSpPr>
          <p:cNvPr id="25" name="Shape 23"/>
          <p:cNvSpPr/>
          <p:nvPr/>
        </p:nvSpPr>
        <p:spPr>
          <a:xfrm>
            <a:off x="7882128" y="2185416"/>
            <a:ext cx="201168" cy="219456"/>
          </a:xfrm>
          <a:prstGeom prst="chevron">
            <a:avLst/>
          </a:prstGeom>
          <a:solidFill>
            <a:srgbClr val="E8A33D"/>
          </a:solidFill>
          <a:ln w="12700">
            <a:solidFill>
              <a:srgbClr val="E8A33D"/>
            </a:solidFill>
            <a:prstDash val="solid"/>
          </a:ln>
        </p:spPr>
      </p:sp>
      <p:sp>
        <p:nvSpPr>
          <p:cNvPr id="26" name="Shape 24"/>
          <p:cNvSpPr/>
          <p:nvPr/>
        </p:nvSpPr>
        <p:spPr>
          <a:xfrm>
            <a:off x="8174736" y="1865376"/>
            <a:ext cx="1499616" cy="896112"/>
          </a:xfrm>
          <a:prstGeom prst="roundRect">
            <a:avLst/>
          </a:prstGeom>
          <a:solidFill>
            <a:srgbClr val="1E1E28"/>
          </a:solidFill>
          <a:ln w="19050">
            <a:solidFill>
              <a:srgbClr val="E8A33D"/>
            </a:solidFill>
            <a:prstDash val="solid"/>
          </a:ln>
        </p:spPr>
      </p:sp>
      <p:sp>
        <p:nvSpPr>
          <p:cNvPr id="27" name="Text 25"/>
          <p:cNvSpPr txBox="1"/>
          <p:nvPr/>
        </p:nvSpPr>
        <p:spPr>
          <a:xfrm>
            <a:off x="8311896" y="1975104"/>
            <a:ext cx="320040" cy="155448"/>
          </a:xfrm>
          <a:prstGeom prst="rect">
            <a:avLst/>
          </a:prstGeom>
          <a:noFill/>
          <a:ln/>
        </p:spPr>
        <p:txBody>
          <a:bodyPr wrap="square" lIns="0" tIns="0" rIns="0" bIns="0" rtlCol="0" anchor="t">
            <a:normAutofit/>
          </a:bodyPr>
          <a:lstStyle/>
          <a:p>
            <a:pPr algn="l" indent="0" marL="0">
              <a:buNone/>
            </a:pPr>
            <a:r>
              <a:rPr lang="en-US" sz="750" b="1" dirty="0">
                <a:solidFill>
                  <a:srgbClr val="9A97A3"/>
                </a:solidFill>
                <a:latin typeface="Courier New" pitchFamily="34" charset="0"/>
                <a:ea typeface="Courier New" pitchFamily="34" charset="-122"/>
                <a:cs typeface="Courier New" pitchFamily="34" charset="-120"/>
              </a:rPr>
              <a:t>05</a:t>
            </a:r>
            <a:endParaRPr lang="en-US" sz="750" dirty="0"/>
          </a:p>
        </p:txBody>
      </p:sp>
      <p:sp>
        <p:nvSpPr>
          <p:cNvPr id="28" name="Text 26"/>
          <p:cNvSpPr txBox="1"/>
          <p:nvPr/>
        </p:nvSpPr>
        <p:spPr>
          <a:xfrm>
            <a:off x="8311896" y="2212848"/>
            <a:ext cx="1225296" cy="356616"/>
          </a:xfrm>
          <a:prstGeom prst="rect">
            <a:avLst/>
          </a:prstGeom>
          <a:noFill/>
          <a:ln/>
        </p:spPr>
        <p:txBody>
          <a:bodyPr wrap="square" lIns="0" tIns="0" rIns="0" bIns="0" rtlCol="0" anchor="ctr">
            <a:normAutofit/>
          </a:bodyPr>
          <a:lstStyle/>
          <a:p>
            <a:pPr algn="ctr" indent="0" marL="0">
              <a:buNone/>
            </a:pPr>
            <a:r>
              <a:rPr lang="en-US" sz="920" b="1" dirty="0">
                <a:solidFill>
                  <a:srgbClr val="E8E6E0"/>
                </a:solidFill>
                <a:latin typeface="Courier New" pitchFamily="34" charset="0"/>
                <a:ea typeface="Courier New" pitchFamily="34" charset="-122"/>
                <a:cs typeface="Courier New" pitchFamily="34" charset="-120"/>
              </a:rPr>
              <a:t>ANSWER</a:t>
            </a:r>
            <a:endParaRPr lang="en-US" sz="920" dirty="0"/>
          </a:p>
          <a:p>
            <a:pPr algn="ctr" indent="0" marL="0">
              <a:buNone/>
            </a:pPr>
            <a:r>
              <a:rPr lang="en-US" sz="920" b="1" dirty="0">
                <a:solidFill>
                  <a:srgbClr val="E8E6E0"/>
                </a:solidFill>
                <a:latin typeface="Courier New" pitchFamily="34" charset="0"/>
                <a:ea typeface="Courier New" pitchFamily="34" charset="-122"/>
                <a:cs typeface="Courier New" pitchFamily="34" charset="-120"/>
              </a:rPr>
              <a:t>CARD</a:t>
            </a:r>
            <a:endParaRPr lang="en-US" sz="920" dirty="0"/>
          </a:p>
        </p:txBody>
      </p:sp>
      <p:sp>
        <p:nvSpPr>
          <p:cNvPr id="29" name="Shape 27"/>
          <p:cNvSpPr/>
          <p:nvPr/>
        </p:nvSpPr>
        <p:spPr>
          <a:xfrm>
            <a:off x="9747504" y="2185416"/>
            <a:ext cx="201168" cy="219456"/>
          </a:xfrm>
          <a:prstGeom prst="chevron">
            <a:avLst/>
          </a:prstGeom>
          <a:solidFill>
            <a:srgbClr val="E8A33D"/>
          </a:solidFill>
          <a:ln w="12700">
            <a:solidFill>
              <a:srgbClr val="E8A33D"/>
            </a:solidFill>
            <a:prstDash val="solid"/>
          </a:ln>
        </p:spPr>
      </p:sp>
      <p:sp>
        <p:nvSpPr>
          <p:cNvPr id="30" name="Shape 28"/>
          <p:cNvSpPr/>
          <p:nvPr/>
        </p:nvSpPr>
        <p:spPr>
          <a:xfrm>
            <a:off x="10040112" y="1865376"/>
            <a:ext cx="1499616" cy="896112"/>
          </a:xfrm>
          <a:prstGeom prst="roundRect">
            <a:avLst/>
          </a:prstGeom>
          <a:solidFill>
            <a:srgbClr val="1E1E28"/>
          </a:solidFill>
          <a:ln w="10160">
            <a:solidFill>
              <a:srgbClr val="E8A33D"/>
            </a:solidFill>
            <a:prstDash val="solid"/>
          </a:ln>
        </p:spPr>
      </p:sp>
      <p:sp>
        <p:nvSpPr>
          <p:cNvPr id="31" name="Text 29"/>
          <p:cNvSpPr txBox="1"/>
          <p:nvPr/>
        </p:nvSpPr>
        <p:spPr>
          <a:xfrm>
            <a:off x="10177272" y="1975104"/>
            <a:ext cx="320040" cy="155448"/>
          </a:xfrm>
          <a:prstGeom prst="rect">
            <a:avLst/>
          </a:prstGeom>
          <a:noFill/>
          <a:ln/>
        </p:spPr>
        <p:txBody>
          <a:bodyPr wrap="square" lIns="0" tIns="0" rIns="0" bIns="0" rtlCol="0" anchor="t">
            <a:normAutofit/>
          </a:bodyPr>
          <a:lstStyle/>
          <a:p>
            <a:pPr algn="l" indent="0" marL="0">
              <a:buNone/>
            </a:pPr>
            <a:r>
              <a:rPr lang="en-US" sz="750" b="1" dirty="0">
                <a:solidFill>
                  <a:srgbClr val="9A97A3"/>
                </a:solidFill>
                <a:latin typeface="Courier New" pitchFamily="34" charset="0"/>
                <a:ea typeface="Courier New" pitchFamily="34" charset="-122"/>
                <a:cs typeface="Courier New" pitchFamily="34" charset="-120"/>
              </a:rPr>
              <a:t>06</a:t>
            </a:r>
            <a:endParaRPr lang="en-US" sz="750" dirty="0"/>
          </a:p>
        </p:txBody>
      </p:sp>
      <p:sp>
        <p:nvSpPr>
          <p:cNvPr id="32" name="Text 30"/>
          <p:cNvSpPr txBox="1"/>
          <p:nvPr/>
        </p:nvSpPr>
        <p:spPr>
          <a:xfrm>
            <a:off x="10177272" y="2212848"/>
            <a:ext cx="1225296" cy="356616"/>
          </a:xfrm>
          <a:prstGeom prst="rect">
            <a:avLst/>
          </a:prstGeom>
          <a:noFill/>
          <a:ln/>
        </p:spPr>
        <p:txBody>
          <a:bodyPr wrap="square" lIns="0" tIns="0" rIns="0" bIns="0" rtlCol="0" anchor="ctr">
            <a:normAutofit/>
          </a:bodyPr>
          <a:lstStyle/>
          <a:p>
            <a:pPr algn="ctr" indent="0" marL="0">
              <a:buNone/>
            </a:pPr>
            <a:r>
              <a:rPr lang="en-US" sz="920" b="1" dirty="0">
                <a:solidFill>
                  <a:srgbClr val="E8E6E0"/>
                </a:solidFill>
                <a:latin typeface="Courier New" pitchFamily="34" charset="0"/>
                <a:ea typeface="Courier New" pitchFamily="34" charset="-122"/>
                <a:cs typeface="Courier New" pitchFamily="34" charset="-120"/>
              </a:rPr>
              <a:t>AUDIT</a:t>
            </a:r>
            <a:endParaRPr lang="en-US" sz="920" dirty="0"/>
          </a:p>
          <a:p>
            <a:pPr algn="ctr" indent="0" marL="0">
              <a:buNone/>
            </a:pPr>
            <a:r>
              <a:rPr lang="en-US" sz="920" b="1" dirty="0">
                <a:solidFill>
                  <a:srgbClr val="E8E6E0"/>
                </a:solidFill>
                <a:latin typeface="Courier New" pitchFamily="34" charset="0"/>
                <a:ea typeface="Courier New" pitchFamily="34" charset="-122"/>
                <a:cs typeface="Courier New" pitchFamily="34" charset="-120"/>
              </a:rPr>
              <a:t>+ LOG</a:t>
            </a:r>
            <a:endParaRPr lang="en-US" sz="920" dirty="0"/>
          </a:p>
        </p:txBody>
      </p:sp>
      <p:sp>
        <p:nvSpPr>
          <p:cNvPr id="33" name="Shape 31"/>
          <p:cNvSpPr/>
          <p:nvPr/>
        </p:nvSpPr>
        <p:spPr>
          <a:xfrm>
            <a:off x="713232" y="3200400"/>
            <a:ext cx="4956048" cy="2148840"/>
          </a:xfrm>
          <a:prstGeom prst="roundRect">
            <a:avLst/>
          </a:prstGeom>
          <a:solidFill>
            <a:srgbClr val="1E1E28"/>
          </a:solidFill>
          <a:ln w="12700">
            <a:solidFill>
              <a:srgbClr val="34323E"/>
            </a:solidFill>
            <a:prstDash val="solid"/>
          </a:ln>
        </p:spPr>
      </p:sp>
      <p:sp>
        <p:nvSpPr>
          <p:cNvPr id="34" name="Text 32"/>
          <p:cNvSpPr txBox="1"/>
          <p:nvPr/>
        </p:nvSpPr>
        <p:spPr>
          <a:xfrm>
            <a:off x="932688" y="3401568"/>
            <a:ext cx="1645920" cy="182880"/>
          </a:xfrm>
          <a:prstGeom prst="rect">
            <a:avLst/>
          </a:prstGeom>
          <a:noFill/>
          <a:ln/>
        </p:spPr>
        <p:txBody>
          <a:bodyPr wrap="square" lIns="0" tIns="0" rIns="0" bIns="0" rtlCol="0" anchor="t">
            <a:normAutofit/>
          </a:bodyPr>
          <a:lstStyle/>
          <a:p>
            <a:pPr algn="l" indent="0" marL="0">
              <a:buNone/>
            </a:pPr>
            <a:r>
              <a:rPr lang="en-US" sz="800" b="1" spc="100" kern="0" dirty="0">
                <a:solidFill>
                  <a:srgbClr val="9A97A3"/>
                </a:solidFill>
                <a:latin typeface="Courier New" pitchFamily="34" charset="0"/>
                <a:ea typeface="Courier New" pitchFamily="34" charset="-122"/>
                <a:cs typeface="Courier New" pitchFamily="34" charset="-120"/>
              </a:rPr>
              <a:t>LIVE TRANSCRIPT</a:t>
            </a:r>
            <a:endParaRPr lang="en-US" sz="800" dirty="0"/>
          </a:p>
        </p:txBody>
      </p:sp>
      <p:sp>
        <p:nvSpPr>
          <p:cNvPr id="35" name="Text 33"/>
          <p:cNvSpPr txBox="1"/>
          <p:nvPr/>
        </p:nvSpPr>
        <p:spPr>
          <a:xfrm>
            <a:off x="932688" y="3767328"/>
            <a:ext cx="868680" cy="182880"/>
          </a:xfrm>
          <a:prstGeom prst="rect">
            <a:avLst/>
          </a:prstGeom>
          <a:noFill/>
          <a:ln/>
        </p:spPr>
        <p:txBody>
          <a:bodyPr wrap="square" lIns="0" tIns="0" rIns="0" bIns="0" rtlCol="0" anchor="t">
            <a:normAutofit/>
          </a:bodyPr>
          <a:lstStyle/>
          <a:p>
            <a:pPr algn="l" indent="0" marL="0">
              <a:buNone/>
            </a:pPr>
            <a:r>
              <a:rPr lang="en-US" sz="800" b="1" dirty="0">
                <a:solidFill>
                  <a:srgbClr val="E8A33D"/>
                </a:solidFill>
                <a:latin typeface="Courier New" pitchFamily="34" charset="0"/>
                <a:ea typeface="Courier New" pitchFamily="34" charset="-122"/>
                <a:cs typeface="Courier New" pitchFamily="34" charset="-120"/>
              </a:rPr>
              <a:t>CUSTOMER</a:t>
            </a:r>
            <a:endParaRPr lang="en-US" sz="800" dirty="0"/>
          </a:p>
        </p:txBody>
      </p:sp>
      <p:sp>
        <p:nvSpPr>
          <p:cNvPr id="36" name="Text 34"/>
          <p:cNvSpPr txBox="1"/>
          <p:nvPr/>
        </p:nvSpPr>
        <p:spPr>
          <a:xfrm>
            <a:off x="1828800" y="3730752"/>
            <a:ext cx="3493008" cy="420624"/>
          </a:xfrm>
          <a:prstGeom prst="rect">
            <a:avLst/>
          </a:prstGeom>
          <a:noFill/>
          <a:ln/>
        </p:spPr>
        <p:txBody>
          <a:bodyPr wrap="square" lIns="0" tIns="0" rIns="0" bIns="0" rtlCol="0" anchor="t">
            <a:normAutofit/>
          </a:bodyPr>
          <a:lstStyle/>
          <a:p>
            <a:pPr algn="l" indent="0" marL="0">
              <a:buNone/>
            </a:pPr>
            <a:r>
              <a:rPr lang="en-US" sz="1300" dirty="0">
                <a:solidFill>
                  <a:srgbClr val="E8E6E0"/>
                </a:solidFill>
                <a:latin typeface="Arial" pitchFamily="34" charset="0"/>
                <a:ea typeface="Arial" pitchFamily="34" charset="-122"/>
                <a:cs typeface="Arial" pitchFamily="34" charset="-120"/>
              </a:rPr>
              <a:t>Does the premium plan include international roaming?</a:t>
            </a:r>
            <a:endParaRPr lang="en-US" sz="1300" dirty="0"/>
          </a:p>
        </p:txBody>
      </p:sp>
      <p:sp>
        <p:nvSpPr>
          <p:cNvPr id="37" name="Text 35"/>
          <p:cNvSpPr txBox="1"/>
          <p:nvPr/>
        </p:nvSpPr>
        <p:spPr>
          <a:xfrm>
            <a:off x="932688" y="4370832"/>
            <a:ext cx="868680" cy="182880"/>
          </a:xfrm>
          <a:prstGeom prst="rect">
            <a:avLst/>
          </a:prstGeom>
          <a:noFill/>
          <a:ln/>
        </p:spPr>
        <p:txBody>
          <a:bodyPr wrap="square" lIns="0" tIns="0" rIns="0" bIns="0" rtlCol="0" anchor="t">
            <a:normAutofit/>
          </a:bodyPr>
          <a:lstStyle/>
          <a:p>
            <a:pPr algn="l" indent="0" marL="0">
              <a:buNone/>
            </a:pPr>
            <a:r>
              <a:rPr lang="en-US" sz="800" b="1" dirty="0">
                <a:solidFill>
                  <a:srgbClr val="9A97A3"/>
                </a:solidFill>
                <a:latin typeface="Courier New" pitchFamily="34" charset="0"/>
                <a:ea typeface="Courier New" pitchFamily="34" charset="-122"/>
                <a:cs typeface="Courier New" pitchFamily="34" charset="-120"/>
              </a:rPr>
              <a:t>AGENT</a:t>
            </a:r>
            <a:endParaRPr lang="en-US" sz="800" dirty="0"/>
          </a:p>
        </p:txBody>
      </p:sp>
      <p:sp>
        <p:nvSpPr>
          <p:cNvPr id="38" name="Text 36"/>
          <p:cNvSpPr txBox="1"/>
          <p:nvPr/>
        </p:nvSpPr>
        <p:spPr>
          <a:xfrm>
            <a:off x="1828800" y="4334256"/>
            <a:ext cx="3493008" cy="292608"/>
          </a:xfrm>
          <a:prstGeom prst="rect">
            <a:avLst/>
          </a:prstGeom>
          <a:noFill/>
          <a:ln/>
        </p:spPr>
        <p:txBody>
          <a:bodyPr wrap="square" lIns="0" tIns="0" rIns="0" bIns="0" rtlCol="0" anchor="t">
            <a:normAutofit/>
          </a:bodyPr>
          <a:lstStyle/>
          <a:p>
            <a:pPr algn="l" indent="0" marL="0">
              <a:buNone/>
            </a:pPr>
            <a:r>
              <a:rPr lang="en-US" sz="1300" dirty="0">
                <a:solidFill>
                  <a:srgbClr val="9A97A3"/>
                </a:solidFill>
                <a:latin typeface="Arial" pitchFamily="34" charset="0"/>
                <a:ea typeface="Arial" pitchFamily="34" charset="-122"/>
                <a:cs typeface="Arial" pitchFamily="34" charset="-120"/>
              </a:rPr>
              <a:t>Let me check that for you.</a:t>
            </a:r>
            <a:endParaRPr lang="en-US" sz="1300" dirty="0"/>
          </a:p>
        </p:txBody>
      </p:sp>
      <p:sp>
        <p:nvSpPr>
          <p:cNvPr id="39" name="Shape 37"/>
          <p:cNvSpPr/>
          <p:nvPr/>
        </p:nvSpPr>
        <p:spPr>
          <a:xfrm>
            <a:off x="914400" y="4892040"/>
            <a:ext cx="4553712" cy="256032"/>
          </a:xfrm>
          <a:prstGeom prst="roundRect">
            <a:avLst/>
          </a:prstGeom>
          <a:solidFill>
            <a:srgbClr val="100F14"/>
          </a:solidFill>
          <a:ln w="6350">
            <a:solidFill>
              <a:srgbClr val="34323E"/>
            </a:solidFill>
            <a:prstDash val="solid"/>
          </a:ln>
        </p:spPr>
      </p:sp>
      <p:sp>
        <p:nvSpPr>
          <p:cNvPr id="40" name="Text 38"/>
          <p:cNvSpPr txBox="1"/>
          <p:nvPr/>
        </p:nvSpPr>
        <p:spPr>
          <a:xfrm>
            <a:off x="1097280" y="4965192"/>
            <a:ext cx="4206240" cy="109728"/>
          </a:xfrm>
          <a:prstGeom prst="rect">
            <a:avLst/>
          </a:prstGeom>
          <a:noFill/>
          <a:ln/>
        </p:spPr>
        <p:txBody>
          <a:bodyPr wrap="square" lIns="0" tIns="0" rIns="0" bIns="0" rtlCol="0" anchor="t">
            <a:normAutofit/>
          </a:bodyPr>
          <a:lstStyle/>
          <a:p>
            <a:pPr algn="l" indent="0" marL="0">
              <a:buNone/>
            </a:pPr>
            <a:r>
              <a:rPr lang="en-US" sz="690" dirty="0">
                <a:solidFill>
                  <a:srgbClr val="7CC7A5"/>
                </a:solidFill>
                <a:latin typeface="Courier New" pitchFamily="34" charset="0"/>
                <a:ea typeface="Courier New" pitchFamily="34" charset="-122"/>
                <a:cs typeface="Courier New" pitchFamily="34" charset="-120"/>
              </a:rPr>
              <a:t>mic:on  sys:on  whisper:cuda  gate:balanced</a:t>
            </a:r>
            <a:endParaRPr lang="en-US" sz="690" dirty="0"/>
          </a:p>
        </p:txBody>
      </p:sp>
      <p:sp>
        <p:nvSpPr>
          <p:cNvPr id="41" name="Shape 39"/>
          <p:cNvSpPr/>
          <p:nvPr/>
        </p:nvSpPr>
        <p:spPr>
          <a:xfrm>
            <a:off x="5943600" y="3200400"/>
            <a:ext cx="5321808" cy="2148840"/>
          </a:xfrm>
          <a:prstGeom prst="roundRect">
            <a:avLst/>
          </a:prstGeom>
          <a:solidFill>
            <a:srgbClr val="1E1E28"/>
          </a:solidFill>
          <a:ln w="15240">
            <a:solidFill>
              <a:srgbClr val="E8A33D"/>
            </a:solidFill>
            <a:prstDash val="solid"/>
          </a:ln>
        </p:spPr>
      </p:sp>
      <p:sp>
        <p:nvSpPr>
          <p:cNvPr id="42" name="Text 40"/>
          <p:cNvSpPr txBox="1"/>
          <p:nvPr/>
        </p:nvSpPr>
        <p:spPr>
          <a:xfrm>
            <a:off x="6199632" y="3447288"/>
            <a:ext cx="4828032" cy="329184"/>
          </a:xfrm>
          <a:prstGeom prst="rect">
            <a:avLst/>
          </a:prstGeom>
          <a:noFill/>
          <a:ln/>
        </p:spPr>
        <p:txBody>
          <a:bodyPr wrap="square" lIns="0" tIns="0" rIns="0" bIns="0" rtlCol="0" anchor="t">
            <a:normAutofit/>
          </a:bodyPr>
          <a:lstStyle/>
          <a:p>
            <a:pPr algn="l" indent="0" marL="0">
              <a:buNone/>
            </a:pPr>
            <a:r>
              <a:rPr lang="en-US" sz="1250" b="1" dirty="0">
                <a:solidFill>
                  <a:srgbClr val="E8A33D"/>
                </a:solidFill>
                <a:latin typeface="Arial" pitchFamily="34" charset="0"/>
                <a:ea typeface="Arial" pitchFamily="34" charset="-122"/>
                <a:cs typeface="Arial" pitchFamily="34" charset="-120"/>
              </a:rPr>
              <a:t>Q  Does the premium plan include international roaming?</a:t>
            </a:r>
            <a:endParaRPr lang="en-US" sz="1250" dirty="0"/>
          </a:p>
        </p:txBody>
      </p:sp>
      <p:sp>
        <p:nvSpPr>
          <p:cNvPr id="43" name="Text 41"/>
          <p:cNvSpPr txBox="1"/>
          <p:nvPr/>
        </p:nvSpPr>
        <p:spPr>
          <a:xfrm>
            <a:off x="6199632" y="3904488"/>
            <a:ext cx="4773168" cy="658368"/>
          </a:xfrm>
          <a:prstGeom prst="rect">
            <a:avLst/>
          </a:prstGeom>
          <a:noFill/>
          <a:ln/>
        </p:spPr>
        <p:txBody>
          <a:bodyPr wrap="square" lIns="0" tIns="0" rIns="0" bIns="0" rtlCol="0" anchor="t">
            <a:normAutofit/>
          </a:bodyPr>
          <a:lstStyle/>
          <a:p>
            <a:pPr algn="l" indent="0" marL="0">
              <a:buNone/>
            </a:pPr>
            <a:r>
              <a:rPr lang="en-US" sz="1450" b="1" dirty="0">
                <a:solidFill>
                  <a:srgbClr val="E8E6E0"/>
                </a:solidFill>
                <a:latin typeface="Arial" pitchFamily="34" charset="0"/>
                <a:ea typeface="Arial" pitchFamily="34" charset="-122"/>
                <a:cs typeface="Arial" pitchFamily="34" charset="-120"/>
              </a:rPr>
              <a:t>A  Yes — Premium includes roaming in 48 countries at no extra charge; data is capped at 5 GB per trip.</a:t>
            </a:r>
            <a:endParaRPr lang="en-US" sz="1450" dirty="0"/>
          </a:p>
        </p:txBody>
      </p:sp>
      <p:sp>
        <p:nvSpPr>
          <p:cNvPr id="44" name="Shape 42"/>
          <p:cNvSpPr/>
          <p:nvPr/>
        </p:nvSpPr>
        <p:spPr>
          <a:xfrm>
            <a:off x="6245352" y="4800600"/>
            <a:ext cx="68580" cy="68580"/>
          </a:xfrm>
          <a:prstGeom prst="ellipse">
            <a:avLst/>
          </a:prstGeom>
          <a:solidFill>
            <a:srgbClr val="7CC7A5"/>
          </a:solidFill>
          <a:ln w="12700">
            <a:solidFill>
              <a:srgbClr val="7CC7A5"/>
            </a:solidFill>
            <a:prstDash val="solid"/>
          </a:ln>
        </p:spPr>
      </p:sp>
      <p:sp>
        <p:nvSpPr>
          <p:cNvPr id="45" name="Text 43"/>
          <p:cNvSpPr txBox="1"/>
          <p:nvPr/>
        </p:nvSpPr>
        <p:spPr>
          <a:xfrm>
            <a:off x="6409944" y="4690872"/>
            <a:ext cx="2350008" cy="256032"/>
          </a:xfrm>
          <a:prstGeom prst="rect">
            <a:avLst/>
          </a:prstGeom>
          <a:noFill/>
          <a:ln/>
        </p:spPr>
        <p:txBody>
          <a:bodyPr wrap="square" lIns="0" tIns="0" rIns="0" bIns="0" rtlCol="0" anchor="t">
            <a:normAutofit/>
          </a:bodyPr>
          <a:lstStyle/>
          <a:p>
            <a:pPr algn="l" indent="0" marL="0">
              <a:buNone/>
            </a:pPr>
            <a:r>
              <a:rPr lang="en-US" sz="1050" dirty="0">
                <a:solidFill>
                  <a:srgbClr val="E8E6E0"/>
                </a:solidFill>
                <a:latin typeface="Arial" pitchFamily="34" charset="0"/>
                <a:ea typeface="Arial" pitchFamily="34" charset="-122"/>
                <a:cs typeface="Arial" pitchFamily="34" charset="-120"/>
              </a:rPr>
              <a:t>48 countries; no add-on needed</a:t>
            </a:r>
            <a:endParaRPr lang="en-US" sz="1050" dirty="0"/>
          </a:p>
        </p:txBody>
      </p:sp>
      <p:sp>
        <p:nvSpPr>
          <p:cNvPr id="46" name="Shape 44"/>
          <p:cNvSpPr/>
          <p:nvPr/>
        </p:nvSpPr>
        <p:spPr>
          <a:xfrm>
            <a:off x="8613648" y="4800600"/>
            <a:ext cx="68580" cy="68580"/>
          </a:xfrm>
          <a:prstGeom prst="ellipse">
            <a:avLst/>
          </a:prstGeom>
          <a:solidFill>
            <a:srgbClr val="7CC7A5"/>
          </a:solidFill>
          <a:ln w="12700">
            <a:solidFill>
              <a:srgbClr val="7CC7A5"/>
            </a:solidFill>
            <a:prstDash val="solid"/>
          </a:ln>
        </p:spPr>
      </p:sp>
      <p:sp>
        <p:nvSpPr>
          <p:cNvPr id="47" name="Text 45"/>
          <p:cNvSpPr txBox="1"/>
          <p:nvPr/>
        </p:nvSpPr>
        <p:spPr>
          <a:xfrm>
            <a:off x="8778240" y="4690872"/>
            <a:ext cx="2121408" cy="256032"/>
          </a:xfrm>
          <a:prstGeom prst="rect">
            <a:avLst/>
          </a:prstGeom>
          <a:noFill/>
          <a:ln/>
        </p:spPr>
        <p:txBody>
          <a:bodyPr wrap="square" lIns="0" tIns="0" rIns="0" bIns="0" rtlCol="0" anchor="t">
            <a:normAutofit/>
          </a:bodyPr>
          <a:lstStyle/>
          <a:p>
            <a:pPr algn="l" indent="0" marL="0">
              <a:buNone/>
            </a:pPr>
            <a:r>
              <a:rPr lang="en-US" sz="1050" dirty="0">
                <a:solidFill>
                  <a:srgbClr val="E8E6E0"/>
                </a:solidFill>
                <a:latin typeface="Arial" pitchFamily="34" charset="0"/>
                <a:ea typeface="Arial" pitchFamily="34" charset="-122"/>
                <a:cs typeface="Arial" pitchFamily="34" charset="-120"/>
              </a:rPr>
              <a:t>5 GB roaming cap per trip</a:t>
            </a:r>
            <a:endParaRPr lang="en-US" sz="1050" dirty="0"/>
          </a:p>
        </p:txBody>
      </p:sp>
      <p:sp>
        <p:nvSpPr>
          <p:cNvPr id="48" name="Shape 46"/>
          <p:cNvSpPr/>
          <p:nvPr/>
        </p:nvSpPr>
        <p:spPr>
          <a:xfrm>
            <a:off x="713232" y="5632704"/>
            <a:ext cx="10552176" cy="411480"/>
          </a:xfrm>
          <a:prstGeom prst="roundRect">
            <a:avLst/>
          </a:prstGeom>
          <a:solidFill>
            <a:srgbClr val="3D3320"/>
          </a:solidFill>
          <a:ln w="10160">
            <a:solidFill>
              <a:srgbClr val="E8A33D"/>
            </a:solidFill>
            <a:prstDash val="solid"/>
          </a:ln>
        </p:spPr>
      </p:sp>
      <p:sp>
        <p:nvSpPr>
          <p:cNvPr id="49" name="Text 47"/>
          <p:cNvSpPr txBox="1"/>
          <p:nvPr/>
        </p:nvSpPr>
        <p:spPr>
          <a:xfrm>
            <a:off x="941832" y="5751576"/>
            <a:ext cx="10076688" cy="164592"/>
          </a:xfrm>
          <a:prstGeom prst="rect">
            <a:avLst/>
          </a:prstGeom>
          <a:noFill/>
          <a:ln/>
        </p:spPr>
        <p:txBody>
          <a:bodyPr wrap="square" lIns="0" tIns="0" rIns="0" bIns="0" rtlCol="0" anchor="t">
            <a:normAutofit/>
          </a:bodyPr>
          <a:lstStyle/>
          <a:p>
            <a:pPr algn="ctr" indent="0" marL="0">
              <a:buNone/>
            </a:pPr>
            <a:r>
              <a:rPr lang="en-US" sz="1050" b="1" dirty="0">
                <a:solidFill>
                  <a:srgbClr val="E8A33D"/>
                </a:solidFill>
                <a:latin typeface="Arial" pitchFamily="34" charset="0"/>
                <a:ea typeface="Arial" pitchFamily="34" charset="-122"/>
                <a:cs typeface="Arial" pitchFamily="34" charset="-120"/>
              </a:rPr>
              <a:t>Built now: audio capture • local transcription • information-request detection • short-session context • cards • audit • replay • optional Linux TTS</a:t>
            </a:r>
            <a:endParaRPr lang="en-US" sz="1050" dirty="0"/>
          </a:p>
        </p:txBody>
      </p:sp>
      <p:sp>
        <p:nvSpPr>
          <p:cNvPr id="25" name="Slide Number Placeholder 0"/>
          <p:cNvSpPr>
            <a:spLocks noGrp="1"/>
          </p:cNvSpPr>
          <p:nvPr>
            <p:ph type="sldNum" sz="quarter" idx="4294967295"/>
          </p:nvPr>
        </p:nvSpPr>
        <p:spPr>
          <a:xfrm>
            <a:off x="11109960" y="6483096"/>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9A97A3"/>
                </a:solidFill>
                <a:latin typeface="Courier New"/>
                <a:ea typeface="Courier New"/>
                <a:cs typeface="Courier New"/>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61D"/>
        </a:solidFill>
      </p:bgPr>
    </p:bg>
    <p:spTree>
      <p:nvGrpSpPr>
        <p:cNvPr id="1" name=""/>
        <p:cNvGrpSpPr/>
        <p:nvPr/>
      </p:nvGrpSpPr>
      <p:grpSpPr>
        <a:xfrm>
          <a:off x="0" y="0"/>
          <a:ext cx="0" cy="0"/>
          <a:chOff x="0" y="0"/>
          <a:chExt cx="0" cy="0"/>
        </a:xfrm>
      </p:grpSpPr>
      <p:sp>
        <p:nvSpPr>
          <p:cNvPr id="2" name="Text 0"/>
          <p:cNvSpPr txBox="1"/>
          <p:nvPr/>
        </p:nvSpPr>
        <p:spPr>
          <a:xfrm>
            <a:off x="713232" y="384048"/>
            <a:ext cx="5120640" cy="219456"/>
          </a:xfrm>
          <a:prstGeom prst="rect">
            <a:avLst/>
          </a:prstGeom>
          <a:noFill/>
          <a:ln/>
        </p:spPr>
        <p:txBody>
          <a:bodyPr wrap="square" lIns="0" tIns="0" rIns="0" bIns="0" rtlCol="0" anchor="t">
            <a:normAutofit/>
          </a:bodyPr>
          <a:lstStyle/>
          <a:p>
            <a:pPr algn="l" indent="0" marL="0">
              <a:buNone/>
            </a:pPr>
            <a:r>
              <a:rPr lang="en-US" sz="900" b="1" spc="210" kern="0" dirty="0">
                <a:solidFill>
                  <a:srgbClr val="9A97A3"/>
                </a:solidFill>
                <a:latin typeface="Courier New" pitchFamily="34" charset="0"/>
                <a:ea typeface="Courier New" pitchFamily="34" charset="-122"/>
                <a:cs typeface="Courier New" pitchFamily="34" charset="-120"/>
              </a:rPr>
              <a:t>DEMONSTRATED</a:t>
            </a:r>
            <a:endParaRPr lang="en-US" sz="900" dirty="0"/>
          </a:p>
        </p:txBody>
      </p:sp>
      <p:sp>
        <p:nvSpPr>
          <p:cNvPr id="3" name="Text 1"/>
          <p:cNvSpPr txBox="1"/>
          <p:nvPr/>
        </p:nvSpPr>
        <p:spPr>
          <a:xfrm>
            <a:off x="10424160" y="347472"/>
            <a:ext cx="1051560" cy="228600"/>
          </a:xfrm>
          <a:prstGeom prst="rect">
            <a:avLst/>
          </a:prstGeom>
          <a:noFill/>
          <a:ln/>
        </p:spPr>
        <p:txBody>
          <a:bodyPr wrap="square" lIns="0" tIns="0" rIns="0" bIns="0" rtlCol="0" anchor="t">
            <a:normAutofit/>
          </a:bodyPr>
          <a:lstStyle/>
          <a:p>
            <a:pPr algn="r" indent="0" marL="0">
              <a:buNone/>
            </a:pPr>
            <a:r>
              <a:rPr lang="en-US" sz="1000" b="1" spc="240" kern="0" dirty="0">
                <a:solidFill>
                  <a:srgbClr val="E8E6E0"/>
                </a:solidFill>
                <a:latin typeface="Courier New" pitchFamily="34" charset="0"/>
                <a:ea typeface="Courier New" pitchFamily="34" charset="-122"/>
                <a:cs typeface="Courier New" pitchFamily="34" charset="-120"/>
              </a:rPr>
              <a:t>CYBIC</a:t>
            </a:r>
            <a:endParaRPr lang="en-US" sz="1000" dirty="0"/>
          </a:p>
        </p:txBody>
      </p:sp>
      <p:sp>
        <p:nvSpPr>
          <p:cNvPr id="4" name="Text 2"/>
          <p:cNvSpPr txBox="1"/>
          <p:nvPr/>
        </p:nvSpPr>
        <p:spPr>
          <a:xfrm>
            <a:off x="685800" y="713232"/>
            <a:ext cx="10744200" cy="566928"/>
          </a:xfrm>
          <a:prstGeom prst="rect">
            <a:avLst/>
          </a:prstGeom>
          <a:noFill/>
          <a:ln/>
        </p:spPr>
        <p:txBody>
          <a:bodyPr wrap="square" lIns="0" tIns="0" rIns="0" bIns="0" rtlCol="0" anchor="t">
            <a:normAutofit/>
          </a:bodyPr>
          <a:lstStyle/>
          <a:p>
            <a:pPr algn="l" indent="0" marL="0">
              <a:buNone/>
            </a:pPr>
            <a:r>
              <a:rPr lang="en-US" sz="2800" b="1" dirty="0">
                <a:solidFill>
                  <a:srgbClr val="E8A33D"/>
                </a:solidFill>
                <a:latin typeface="Arial" pitchFamily="34" charset="0"/>
                <a:ea typeface="Arial" pitchFamily="34" charset="-122"/>
                <a:cs typeface="Arial" pitchFamily="34" charset="-120"/>
              </a:rPr>
              <a:t>Measured on the prototype</a:t>
            </a:r>
            <a:endParaRPr lang="en-US" sz="2800" dirty="0"/>
          </a:p>
        </p:txBody>
      </p:sp>
      <p:sp>
        <p:nvSpPr>
          <p:cNvPr id="5" name="Text 3"/>
          <p:cNvSpPr txBox="1"/>
          <p:nvPr/>
        </p:nvSpPr>
        <p:spPr>
          <a:xfrm>
            <a:off x="713232" y="1298448"/>
            <a:ext cx="10607040" cy="411480"/>
          </a:xfrm>
          <a:prstGeom prst="rect">
            <a:avLst/>
          </a:prstGeom>
          <a:noFill/>
          <a:ln/>
        </p:spPr>
        <p:txBody>
          <a:bodyPr wrap="square" lIns="0" tIns="0" rIns="0" bIns="0" rtlCol="0" anchor="t">
            <a:normAutofit/>
          </a:bodyPr>
          <a:lstStyle/>
          <a:p>
            <a:pPr algn="l" indent="0" marL="0">
              <a:buNone/>
            </a:pPr>
            <a:r>
              <a:rPr lang="en-US" sz="1350" dirty="0">
                <a:solidFill>
                  <a:srgbClr val="9A97A3"/>
                </a:solidFill>
                <a:latin typeface="Arial" pitchFamily="34" charset="0"/>
                <a:ea typeface="Arial" pitchFamily="34" charset="-122"/>
                <a:cs typeface="Arial" pitchFamily="34" charset="-120"/>
              </a:rPr>
              <a:t>Internal benchmarks establish engineering evidence — not production SLAs.</a:t>
            </a:r>
            <a:endParaRPr lang="en-US" sz="1350" dirty="0"/>
          </a:p>
        </p:txBody>
      </p:sp>
      <p:sp>
        <p:nvSpPr>
          <p:cNvPr id="6" name="Shape 4"/>
          <p:cNvSpPr/>
          <p:nvPr/>
        </p:nvSpPr>
        <p:spPr>
          <a:xfrm>
            <a:off x="658368" y="6428232"/>
            <a:ext cx="10863072" cy="0"/>
          </a:xfrm>
          <a:prstGeom prst="line">
            <a:avLst/>
          </a:prstGeom>
          <a:noFill/>
          <a:ln w="8890">
            <a:solidFill>
              <a:srgbClr val="34323E"/>
            </a:solidFill>
            <a:prstDash val="solid"/>
          </a:ln>
        </p:spPr>
      </p:sp>
      <p:sp>
        <p:nvSpPr>
          <p:cNvPr id="7" name="Text 5"/>
          <p:cNvSpPr txBox="1"/>
          <p:nvPr/>
        </p:nvSpPr>
        <p:spPr>
          <a:xfrm>
            <a:off x="685800" y="6473952"/>
            <a:ext cx="2926080" cy="146304"/>
          </a:xfrm>
          <a:prstGeom prst="rect">
            <a:avLst/>
          </a:prstGeom>
          <a:noFill/>
          <a:ln/>
        </p:spPr>
        <p:txBody>
          <a:bodyPr wrap="square" lIns="0" tIns="0" rIns="0" bIns="0" rtlCol="0" anchor="t">
            <a:normAutofit/>
          </a:bodyPr>
          <a:lstStyle/>
          <a:p>
            <a:pPr algn="l" indent="0" marL="0">
              <a:buNone/>
            </a:pPr>
            <a:r>
              <a:rPr lang="en-US" sz="750" spc="120" kern="0" dirty="0">
                <a:solidFill>
                  <a:srgbClr val="9A97A3"/>
                </a:solidFill>
                <a:latin typeface="Courier New" pitchFamily="34" charset="0"/>
                <a:ea typeface="Courier New" pitchFamily="34" charset="-122"/>
                <a:cs typeface="Courier New" pitchFamily="34" charset="-120"/>
              </a:rPr>
              <a:t>CYBIC  •  CONFIDENTIAL</a:t>
            </a:r>
            <a:endParaRPr lang="en-US" sz="750" dirty="0"/>
          </a:p>
        </p:txBody>
      </p:sp>
      <p:sp>
        <p:nvSpPr>
          <p:cNvPr id="8" name="Text 6"/>
          <p:cNvSpPr txBox="1"/>
          <p:nvPr/>
        </p:nvSpPr>
        <p:spPr>
          <a:xfrm>
            <a:off x="777240" y="1883664"/>
            <a:ext cx="1207008" cy="182880"/>
          </a:xfrm>
          <a:prstGeom prst="rect">
            <a:avLst/>
          </a:prstGeom>
          <a:noFill/>
          <a:ln/>
        </p:spPr>
        <p:txBody>
          <a:bodyPr wrap="square" lIns="0" tIns="0" rIns="0" bIns="0" rtlCol="0" anchor="t">
            <a:normAutofit/>
          </a:bodyPr>
          <a:lstStyle/>
          <a:p>
            <a:pPr algn="l" indent="0" marL="0">
              <a:buNone/>
            </a:pPr>
            <a:r>
              <a:rPr lang="en-US" sz="800" b="1" spc="100" kern="0" dirty="0">
                <a:solidFill>
                  <a:srgbClr val="9A97A3"/>
                </a:solidFill>
                <a:latin typeface="Courier New" pitchFamily="34" charset="0"/>
                <a:ea typeface="Courier New" pitchFamily="34" charset="-122"/>
                <a:cs typeface="Courier New" pitchFamily="34" charset="-120"/>
              </a:rPr>
              <a:t>QUESTION ENDS</a:t>
            </a:r>
            <a:endParaRPr lang="en-US" sz="800" dirty="0"/>
          </a:p>
        </p:txBody>
      </p:sp>
      <p:sp>
        <p:nvSpPr>
          <p:cNvPr id="9" name="Shape 7"/>
          <p:cNvSpPr/>
          <p:nvPr/>
        </p:nvSpPr>
        <p:spPr>
          <a:xfrm>
            <a:off x="950976" y="2395728"/>
            <a:ext cx="9966960" cy="0"/>
          </a:xfrm>
          <a:prstGeom prst="line">
            <a:avLst/>
          </a:prstGeom>
          <a:noFill/>
          <a:ln w="38100">
            <a:solidFill>
              <a:srgbClr val="34323E"/>
            </a:solidFill>
            <a:prstDash val="solid"/>
          </a:ln>
        </p:spPr>
      </p:sp>
      <p:sp>
        <p:nvSpPr>
          <p:cNvPr id="10" name="Shape 8"/>
          <p:cNvSpPr/>
          <p:nvPr/>
        </p:nvSpPr>
        <p:spPr>
          <a:xfrm>
            <a:off x="1170432" y="2249424"/>
            <a:ext cx="292608" cy="292608"/>
          </a:xfrm>
          <a:prstGeom prst="ellipse">
            <a:avLst/>
          </a:prstGeom>
          <a:solidFill>
            <a:srgbClr val="16161D"/>
          </a:solidFill>
          <a:ln w="25400">
            <a:solidFill>
              <a:srgbClr val="E8A33D"/>
            </a:solidFill>
            <a:prstDash val="solid"/>
          </a:ln>
        </p:spPr>
      </p:sp>
      <p:sp>
        <p:nvSpPr>
          <p:cNvPr id="11" name="Text 9"/>
          <p:cNvSpPr txBox="1"/>
          <p:nvPr/>
        </p:nvSpPr>
        <p:spPr>
          <a:xfrm>
            <a:off x="731520" y="1828800"/>
            <a:ext cx="1170432" cy="228600"/>
          </a:xfrm>
          <a:prstGeom prst="rect">
            <a:avLst/>
          </a:prstGeom>
          <a:noFill/>
          <a:ln/>
        </p:spPr>
        <p:txBody>
          <a:bodyPr wrap="square" lIns="0" tIns="0" rIns="0" bIns="0" rtlCol="0" anchor="t">
            <a:normAutofit/>
          </a:bodyPr>
          <a:lstStyle/>
          <a:p>
            <a:pPr algn="ctr" indent="0" marL="0">
              <a:buNone/>
            </a:pPr>
            <a:r>
              <a:rPr lang="en-US" sz="1000" b="1" dirty="0">
                <a:solidFill>
                  <a:srgbClr val="E8A33D"/>
                </a:solidFill>
                <a:latin typeface="Courier New" pitchFamily="34" charset="0"/>
                <a:ea typeface="Courier New" pitchFamily="34" charset="-122"/>
                <a:cs typeface="Courier New" pitchFamily="34" charset="-120"/>
              </a:rPr>
              <a:t>0.2–0.3 s</a:t>
            </a:r>
            <a:endParaRPr lang="en-US" sz="1000" dirty="0"/>
          </a:p>
        </p:txBody>
      </p:sp>
      <p:sp>
        <p:nvSpPr>
          <p:cNvPr id="12" name="Text 10"/>
          <p:cNvSpPr txBox="1"/>
          <p:nvPr/>
        </p:nvSpPr>
        <p:spPr>
          <a:xfrm>
            <a:off x="603504" y="2706624"/>
            <a:ext cx="1444752" cy="320040"/>
          </a:xfrm>
          <a:prstGeom prst="rect">
            <a:avLst/>
          </a:prstGeom>
          <a:noFill/>
          <a:ln/>
        </p:spPr>
        <p:txBody>
          <a:bodyPr wrap="square" lIns="0" tIns="0" rIns="0" bIns="0" rtlCol="0" anchor="t">
            <a:normAutofit/>
          </a:bodyPr>
          <a:lstStyle/>
          <a:p>
            <a:pPr algn="ctr" indent="0" marL="0">
              <a:buNone/>
            </a:pPr>
            <a:r>
              <a:rPr lang="en-US" sz="750" b="1" spc="80" kern="0" dirty="0">
                <a:solidFill>
                  <a:srgbClr val="E8E6E0"/>
                </a:solidFill>
                <a:latin typeface="Courier New" pitchFamily="34" charset="0"/>
                <a:ea typeface="Courier New" pitchFamily="34" charset="-122"/>
                <a:cs typeface="Courier New" pitchFamily="34" charset="-120"/>
              </a:rPr>
              <a:t>LOCAL STT</a:t>
            </a:r>
            <a:endParaRPr lang="en-US" sz="750" dirty="0"/>
          </a:p>
        </p:txBody>
      </p:sp>
      <p:sp>
        <p:nvSpPr>
          <p:cNvPr id="13" name="Shape 11"/>
          <p:cNvSpPr/>
          <p:nvPr/>
        </p:nvSpPr>
        <p:spPr>
          <a:xfrm>
            <a:off x="3246120" y="2249424"/>
            <a:ext cx="292608" cy="292608"/>
          </a:xfrm>
          <a:prstGeom prst="ellipse">
            <a:avLst/>
          </a:prstGeom>
          <a:solidFill>
            <a:srgbClr val="16161D"/>
          </a:solidFill>
          <a:ln w="25400">
            <a:solidFill>
              <a:srgbClr val="E8A33D"/>
            </a:solidFill>
            <a:prstDash val="solid"/>
          </a:ln>
        </p:spPr>
      </p:sp>
      <p:sp>
        <p:nvSpPr>
          <p:cNvPr id="14" name="Text 12"/>
          <p:cNvSpPr txBox="1"/>
          <p:nvPr/>
        </p:nvSpPr>
        <p:spPr>
          <a:xfrm>
            <a:off x="2807208" y="1828800"/>
            <a:ext cx="1170432" cy="228600"/>
          </a:xfrm>
          <a:prstGeom prst="rect">
            <a:avLst/>
          </a:prstGeom>
          <a:noFill/>
          <a:ln/>
        </p:spPr>
        <p:txBody>
          <a:bodyPr wrap="square" lIns="0" tIns="0" rIns="0" bIns="0" rtlCol="0" anchor="t">
            <a:normAutofit/>
          </a:bodyPr>
          <a:lstStyle/>
          <a:p>
            <a:pPr algn="ctr" indent="0" marL="0">
              <a:buNone/>
            </a:pPr>
            <a:r>
              <a:rPr lang="en-US" sz="1000" b="1" dirty="0">
                <a:solidFill>
                  <a:srgbClr val="E8A33D"/>
                </a:solidFill>
                <a:latin typeface="Courier New" pitchFamily="34" charset="0"/>
                <a:ea typeface="Courier New" pitchFamily="34" charset="-122"/>
                <a:cs typeface="Courier New" pitchFamily="34" charset="-120"/>
              </a:rPr>
              <a:t>0.5–0.6 s</a:t>
            </a:r>
            <a:endParaRPr lang="en-US" sz="1000" dirty="0"/>
          </a:p>
        </p:txBody>
      </p:sp>
      <p:sp>
        <p:nvSpPr>
          <p:cNvPr id="15" name="Text 13"/>
          <p:cNvSpPr txBox="1"/>
          <p:nvPr/>
        </p:nvSpPr>
        <p:spPr>
          <a:xfrm>
            <a:off x="2679192" y="2706624"/>
            <a:ext cx="1444752" cy="320040"/>
          </a:xfrm>
          <a:prstGeom prst="rect">
            <a:avLst/>
          </a:prstGeom>
          <a:noFill/>
          <a:ln/>
        </p:spPr>
        <p:txBody>
          <a:bodyPr wrap="square" lIns="0" tIns="0" rIns="0" bIns="0" rtlCol="0" anchor="t">
            <a:normAutofit/>
          </a:bodyPr>
          <a:lstStyle/>
          <a:p>
            <a:pPr algn="ctr" indent="0" marL="0">
              <a:buNone/>
            </a:pPr>
            <a:r>
              <a:rPr lang="en-US" sz="750" b="1" spc="80" kern="0" dirty="0">
                <a:solidFill>
                  <a:srgbClr val="E8E6E0"/>
                </a:solidFill>
                <a:latin typeface="Courier New" pitchFamily="34" charset="0"/>
                <a:ea typeface="Courier New" pitchFamily="34" charset="-122"/>
                <a:cs typeface="Courier New" pitchFamily="34" charset="-120"/>
              </a:rPr>
              <a:t>LOCAL GATE</a:t>
            </a:r>
            <a:endParaRPr lang="en-US" sz="750" dirty="0"/>
          </a:p>
        </p:txBody>
      </p:sp>
      <p:sp>
        <p:nvSpPr>
          <p:cNvPr id="16" name="Shape 14"/>
          <p:cNvSpPr/>
          <p:nvPr/>
        </p:nvSpPr>
        <p:spPr>
          <a:xfrm>
            <a:off x="5742432" y="2249424"/>
            <a:ext cx="292608" cy="292608"/>
          </a:xfrm>
          <a:prstGeom prst="ellipse">
            <a:avLst/>
          </a:prstGeom>
          <a:solidFill>
            <a:srgbClr val="16161D"/>
          </a:solidFill>
          <a:ln w="25400">
            <a:solidFill>
              <a:srgbClr val="7CC7A5"/>
            </a:solidFill>
            <a:prstDash val="solid"/>
          </a:ln>
        </p:spPr>
      </p:sp>
      <p:sp>
        <p:nvSpPr>
          <p:cNvPr id="17" name="Text 15"/>
          <p:cNvSpPr txBox="1"/>
          <p:nvPr/>
        </p:nvSpPr>
        <p:spPr>
          <a:xfrm>
            <a:off x="5303520" y="1828800"/>
            <a:ext cx="1170432" cy="228600"/>
          </a:xfrm>
          <a:prstGeom prst="rect">
            <a:avLst/>
          </a:prstGeom>
          <a:noFill/>
          <a:ln/>
        </p:spPr>
        <p:txBody>
          <a:bodyPr wrap="square" lIns="0" tIns="0" rIns="0" bIns="0" rtlCol="0" anchor="t">
            <a:normAutofit/>
          </a:bodyPr>
          <a:lstStyle/>
          <a:p>
            <a:pPr algn="ctr" indent="0" marL="0">
              <a:buNone/>
            </a:pPr>
            <a:r>
              <a:rPr lang="en-US" sz="1000" b="1" dirty="0">
                <a:solidFill>
                  <a:srgbClr val="7CC7A5"/>
                </a:solidFill>
                <a:latin typeface="Courier New" pitchFamily="34" charset="0"/>
                <a:ea typeface="Courier New" pitchFamily="34" charset="-122"/>
                <a:cs typeface="Courier New" pitchFamily="34" charset="-120"/>
              </a:rPr>
              <a:t>3.5–4.5 s</a:t>
            </a:r>
            <a:endParaRPr lang="en-US" sz="1000" dirty="0"/>
          </a:p>
        </p:txBody>
      </p:sp>
      <p:sp>
        <p:nvSpPr>
          <p:cNvPr id="18" name="Text 16"/>
          <p:cNvSpPr txBox="1"/>
          <p:nvPr/>
        </p:nvSpPr>
        <p:spPr>
          <a:xfrm>
            <a:off x="5175504" y="2706624"/>
            <a:ext cx="1444752" cy="320040"/>
          </a:xfrm>
          <a:prstGeom prst="rect">
            <a:avLst/>
          </a:prstGeom>
          <a:noFill/>
          <a:ln/>
        </p:spPr>
        <p:txBody>
          <a:bodyPr wrap="square" lIns="0" tIns="0" rIns="0" bIns="0" rtlCol="0" anchor="t">
            <a:normAutofit/>
          </a:bodyPr>
          <a:lstStyle/>
          <a:p>
            <a:pPr algn="ctr" indent="0" marL="0">
              <a:buNone/>
            </a:pPr>
            <a:r>
              <a:rPr lang="en-US" sz="750" b="1" spc="80" kern="0" dirty="0">
                <a:solidFill>
                  <a:srgbClr val="E8E6E0"/>
                </a:solidFill>
                <a:latin typeface="Courier New" pitchFamily="34" charset="0"/>
                <a:ea typeface="Courier New" pitchFamily="34" charset="-122"/>
                <a:cs typeface="Courier New" pitchFamily="34" charset="-120"/>
              </a:rPr>
              <a:t>READABLE CARD</a:t>
            </a:r>
            <a:endParaRPr lang="en-US" sz="750" dirty="0"/>
          </a:p>
        </p:txBody>
      </p:sp>
      <p:sp>
        <p:nvSpPr>
          <p:cNvPr id="19" name="Shape 17"/>
          <p:cNvSpPr/>
          <p:nvPr/>
        </p:nvSpPr>
        <p:spPr>
          <a:xfrm>
            <a:off x="8275320" y="2249424"/>
            <a:ext cx="292608" cy="292608"/>
          </a:xfrm>
          <a:prstGeom prst="ellipse">
            <a:avLst/>
          </a:prstGeom>
          <a:solidFill>
            <a:srgbClr val="16161D"/>
          </a:solidFill>
          <a:ln w="25400">
            <a:solidFill>
              <a:srgbClr val="7CC7A5"/>
            </a:solidFill>
            <a:prstDash val="solid"/>
          </a:ln>
        </p:spPr>
      </p:sp>
      <p:sp>
        <p:nvSpPr>
          <p:cNvPr id="20" name="Text 18"/>
          <p:cNvSpPr txBox="1"/>
          <p:nvPr/>
        </p:nvSpPr>
        <p:spPr>
          <a:xfrm>
            <a:off x="7836408" y="1828800"/>
            <a:ext cx="1170432" cy="228600"/>
          </a:xfrm>
          <a:prstGeom prst="rect">
            <a:avLst/>
          </a:prstGeom>
          <a:noFill/>
          <a:ln/>
        </p:spPr>
        <p:txBody>
          <a:bodyPr wrap="square" lIns="0" tIns="0" rIns="0" bIns="0" rtlCol="0" anchor="t">
            <a:normAutofit/>
          </a:bodyPr>
          <a:lstStyle/>
          <a:p>
            <a:pPr algn="ctr" indent="0" marL="0">
              <a:buNone/>
            </a:pPr>
            <a:r>
              <a:rPr lang="en-US" sz="1000" b="1" dirty="0">
                <a:solidFill>
                  <a:srgbClr val="7CC7A5"/>
                </a:solidFill>
                <a:latin typeface="Courier New" pitchFamily="34" charset="0"/>
                <a:ea typeface="Courier New" pitchFamily="34" charset="-122"/>
                <a:cs typeface="Courier New" pitchFamily="34" charset="-120"/>
              </a:rPr>
              <a:t>~8 s behind</a:t>
            </a:r>
            <a:endParaRPr lang="en-US" sz="1000" dirty="0"/>
          </a:p>
        </p:txBody>
      </p:sp>
      <p:sp>
        <p:nvSpPr>
          <p:cNvPr id="21" name="Text 19"/>
          <p:cNvSpPr txBox="1"/>
          <p:nvPr/>
        </p:nvSpPr>
        <p:spPr>
          <a:xfrm>
            <a:off x="7708392" y="2706624"/>
            <a:ext cx="1444752" cy="320040"/>
          </a:xfrm>
          <a:prstGeom prst="rect">
            <a:avLst/>
          </a:prstGeom>
          <a:noFill/>
          <a:ln/>
        </p:spPr>
        <p:txBody>
          <a:bodyPr wrap="square" lIns="0" tIns="0" rIns="0" bIns="0" rtlCol="0" anchor="t">
            <a:normAutofit/>
          </a:bodyPr>
          <a:lstStyle/>
          <a:p>
            <a:pPr algn="ctr" indent="0" marL="0">
              <a:buNone/>
            </a:pPr>
            <a:r>
              <a:rPr lang="en-US" sz="750" b="1" spc="80" kern="0" dirty="0">
                <a:solidFill>
                  <a:srgbClr val="E8E6E0"/>
                </a:solidFill>
                <a:latin typeface="Courier New" pitchFamily="34" charset="0"/>
                <a:ea typeface="Courier New" pitchFamily="34" charset="-122"/>
                <a:cs typeface="Courier New" pitchFamily="34" charset="-120"/>
              </a:rPr>
              <a:t>AUDIT, IF NEEDED</a:t>
            </a:r>
            <a:endParaRPr lang="en-US" sz="750" dirty="0"/>
          </a:p>
        </p:txBody>
      </p:sp>
      <p:sp>
        <p:nvSpPr>
          <p:cNvPr id="22" name="Shape 20"/>
          <p:cNvSpPr/>
          <p:nvPr/>
        </p:nvSpPr>
        <p:spPr>
          <a:xfrm>
            <a:off x="10497312" y="2249424"/>
            <a:ext cx="292608" cy="292608"/>
          </a:xfrm>
          <a:prstGeom prst="ellipse">
            <a:avLst/>
          </a:prstGeom>
          <a:solidFill>
            <a:srgbClr val="16161D"/>
          </a:solidFill>
          <a:ln w="25400">
            <a:solidFill>
              <a:srgbClr val="6FB3E8"/>
            </a:solidFill>
            <a:prstDash val="solid"/>
          </a:ln>
        </p:spPr>
      </p:sp>
      <p:sp>
        <p:nvSpPr>
          <p:cNvPr id="23" name="Text 21"/>
          <p:cNvSpPr txBox="1"/>
          <p:nvPr/>
        </p:nvSpPr>
        <p:spPr>
          <a:xfrm>
            <a:off x="10058400" y="1828800"/>
            <a:ext cx="1170432" cy="228600"/>
          </a:xfrm>
          <a:prstGeom prst="rect">
            <a:avLst/>
          </a:prstGeom>
          <a:noFill/>
          <a:ln/>
        </p:spPr>
        <p:txBody>
          <a:bodyPr wrap="square" lIns="0" tIns="0" rIns="0" bIns="0" rtlCol="0" anchor="t">
            <a:normAutofit/>
          </a:bodyPr>
          <a:lstStyle/>
          <a:p>
            <a:pPr algn="ctr" indent="0" marL="0">
              <a:buNone/>
            </a:pPr>
            <a:r>
              <a:rPr lang="en-US" sz="1000" b="1" dirty="0">
                <a:solidFill>
                  <a:srgbClr val="6FB3E8"/>
                </a:solidFill>
                <a:latin typeface="Courier New" pitchFamily="34" charset="0"/>
                <a:ea typeface="Courier New" pitchFamily="34" charset="-122"/>
                <a:cs typeface="Courier New" pitchFamily="34" charset="-120"/>
              </a:rPr>
              <a:t>≤25 s</a:t>
            </a:r>
            <a:endParaRPr lang="en-US" sz="1000" dirty="0"/>
          </a:p>
        </p:txBody>
      </p:sp>
      <p:sp>
        <p:nvSpPr>
          <p:cNvPr id="24" name="Text 22"/>
          <p:cNvSpPr txBox="1"/>
          <p:nvPr/>
        </p:nvSpPr>
        <p:spPr>
          <a:xfrm>
            <a:off x="9930384" y="2706624"/>
            <a:ext cx="1444752" cy="320040"/>
          </a:xfrm>
          <a:prstGeom prst="rect">
            <a:avLst/>
          </a:prstGeom>
          <a:noFill/>
          <a:ln/>
        </p:spPr>
        <p:txBody>
          <a:bodyPr wrap="square" lIns="0" tIns="0" rIns="0" bIns="0" rtlCol="0" anchor="t">
            <a:normAutofit/>
          </a:bodyPr>
          <a:lstStyle/>
          <a:p>
            <a:pPr algn="ctr" indent="0" marL="0">
              <a:buNone/>
            </a:pPr>
            <a:r>
              <a:rPr lang="en-US" sz="750" b="1" spc="80" kern="0" dirty="0">
                <a:solidFill>
                  <a:srgbClr val="E8E6E0"/>
                </a:solidFill>
                <a:latin typeface="Courier New" pitchFamily="34" charset="0"/>
                <a:ea typeface="Courier New" pitchFamily="34" charset="-122"/>
                <a:cs typeface="Courier New" pitchFamily="34" charset="-120"/>
              </a:rPr>
              <a:t>MISSED-Q RECOVERY</a:t>
            </a:r>
            <a:endParaRPr lang="en-US" sz="750" dirty="0"/>
          </a:p>
        </p:txBody>
      </p:sp>
      <p:sp>
        <p:nvSpPr>
          <p:cNvPr id="25" name="Shape 23"/>
          <p:cNvSpPr/>
          <p:nvPr/>
        </p:nvSpPr>
        <p:spPr>
          <a:xfrm>
            <a:off x="749808" y="3429000"/>
            <a:ext cx="3246120" cy="1719072"/>
          </a:xfrm>
          <a:prstGeom prst="roundRect">
            <a:avLst/>
          </a:prstGeom>
          <a:solidFill>
            <a:srgbClr val="1E1E28"/>
          </a:solidFill>
          <a:ln w="12700">
            <a:solidFill>
              <a:srgbClr val="7CC7A5"/>
            </a:solidFill>
            <a:prstDash val="solid"/>
          </a:ln>
        </p:spPr>
      </p:sp>
      <p:sp>
        <p:nvSpPr>
          <p:cNvPr id="26" name="Text 24"/>
          <p:cNvSpPr txBox="1"/>
          <p:nvPr/>
        </p:nvSpPr>
        <p:spPr>
          <a:xfrm>
            <a:off x="987552" y="3712464"/>
            <a:ext cx="2761488" cy="475488"/>
          </a:xfrm>
          <a:prstGeom prst="rect">
            <a:avLst/>
          </a:prstGeom>
          <a:noFill/>
          <a:ln/>
        </p:spPr>
        <p:txBody>
          <a:bodyPr wrap="square" lIns="0" tIns="0" rIns="0" bIns="0" rtlCol="0" anchor="t">
            <a:normAutofit/>
          </a:bodyPr>
          <a:lstStyle/>
          <a:p>
            <a:pPr algn="ctr" indent="0" marL="0">
              <a:buNone/>
            </a:pPr>
            <a:r>
              <a:rPr lang="en-US" sz="2600" b="1" dirty="0">
                <a:solidFill>
                  <a:srgbClr val="7CC7A5"/>
                </a:solidFill>
                <a:latin typeface="Courier New" pitchFamily="34" charset="0"/>
                <a:ea typeface="Courier New" pitchFamily="34" charset="-122"/>
                <a:cs typeface="Courier New" pitchFamily="34" charset="-120"/>
              </a:rPr>
              <a:t>26 / 26</a:t>
            </a:r>
            <a:endParaRPr lang="en-US" sz="2600" dirty="0"/>
          </a:p>
        </p:txBody>
      </p:sp>
      <p:sp>
        <p:nvSpPr>
          <p:cNvPr id="27" name="Text 25"/>
          <p:cNvSpPr txBox="1"/>
          <p:nvPr/>
        </p:nvSpPr>
        <p:spPr>
          <a:xfrm>
            <a:off x="960120" y="4315968"/>
            <a:ext cx="2816352" cy="228600"/>
          </a:xfrm>
          <a:prstGeom prst="rect">
            <a:avLst/>
          </a:prstGeom>
          <a:noFill/>
          <a:ln/>
        </p:spPr>
        <p:txBody>
          <a:bodyPr wrap="square" lIns="0" tIns="0" rIns="0" bIns="0" rtlCol="0" anchor="t">
            <a:normAutofit/>
          </a:bodyPr>
          <a:lstStyle/>
          <a:p>
            <a:pPr algn="ctr" indent="0" marL="0">
              <a:buNone/>
            </a:pPr>
            <a:r>
              <a:rPr lang="en-US" sz="1200" dirty="0">
                <a:solidFill>
                  <a:srgbClr val="E8E6E0"/>
                </a:solidFill>
                <a:latin typeface="Arial" pitchFamily="34" charset="0"/>
                <a:ea typeface="Arial" pitchFamily="34" charset="-122"/>
                <a:cs typeface="Arial" pitchFamily="34" charset="-120"/>
              </a:rPr>
              <a:t>labelled balanced gate set</a:t>
            </a:r>
            <a:endParaRPr lang="en-US" sz="1200" dirty="0"/>
          </a:p>
        </p:txBody>
      </p:sp>
      <p:sp>
        <p:nvSpPr>
          <p:cNvPr id="28" name="Text 26"/>
          <p:cNvSpPr txBox="1"/>
          <p:nvPr/>
        </p:nvSpPr>
        <p:spPr>
          <a:xfrm>
            <a:off x="960120" y="4663440"/>
            <a:ext cx="2816352" cy="182880"/>
          </a:xfrm>
          <a:prstGeom prst="rect">
            <a:avLst/>
          </a:prstGeom>
          <a:noFill/>
          <a:ln/>
        </p:spPr>
        <p:txBody>
          <a:bodyPr wrap="square" lIns="0" tIns="0" rIns="0" bIns="0" rtlCol="0" anchor="t">
            <a:normAutofit/>
          </a:bodyPr>
          <a:lstStyle/>
          <a:p>
            <a:pPr algn="ctr" indent="0" marL="0">
              <a:buNone/>
            </a:pPr>
            <a:r>
              <a:rPr lang="en-US" sz="1000" dirty="0">
                <a:solidFill>
                  <a:srgbClr val="9A97A3"/>
                </a:solidFill>
                <a:latin typeface="Arial" pitchFamily="34" charset="0"/>
                <a:ea typeface="Arial" pitchFamily="34" charset="-122"/>
                <a:cs typeface="Arial" pitchFamily="34" charset="-120"/>
              </a:rPr>
              <a:t>0 false positives in that set</a:t>
            </a:r>
            <a:endParaRPr lang="en-US" sz="1000" dirty="0"/>
          </a:p>
        </p:txBody>
      </p:sp>
      <p:sp>
        <p:nvSpPr>
          <p:cNvPr id="29" name="Shape 27"/>
          <p:cNvSpPr/>
          <p:nvPr/>
        </p:nvSpPr>
        <p:spPr>
          <a:xfrm>
            <a:off x="4261104" y="3429000"/>
            <a:ext cx="3246120" cy="1719072"/>
          </a:xfrm>
          <a:prstGeom prst="roundRect">
            <a:avLst/>
          </a:prstGeom>
          <a:solidFill>
            <a:srgbClr val="1E1E28"/>
          </a:solidFill>
          <a:ln w="12700">
            <a:solidFill>
              <a:srgbClr val="E8A33D"/>
            </a:solidFill>
            <a:prstDash val="solid"/>
          </a:ln>
        </p:spPr>
      </p:sp>
      <p:sp>
        <p:nvSpPr>
          <p:cNvPr id="30" name="Text 28"/>
          <p:cNvSpPr txBox="1"/>
          <p:nvPr/>
        </p:nvSpPr>
        <p:spPr>
          <a:xfrm>
            <a:off x="4498848" y="3803904"/>
            <a:ext cx="2761488" cy="320040"/>
          </a:xfrm>
          <a:prstGeom prst="rect">
            <a:avLst/>
          </a:prstGeom>
          <a:noFill/>
          <a:ln/>
        </p:spPr>
        <p:txBody>
          <a:bodyPr wrap="square" lIns="0" tIns="0" rIns="0" bIns="0" rtlCol="0" anchor="t">
            <a:normAutofit/>
          </a:bodyPr>
          <a:lstStyle/>
          <a:p>
            <a:pPr algn="ctr" indent="0" marL="0">
              <a:buNone/>
            </a:pPr>
            <a:r>
              <a:rPr lang="en-US" sz="1700" b="1" spc="100" kern="0" dirty="0">
                <a:solidFill>
                  <a:srgbClr val="E8A33D"/>
                </a:solidFill>
                <a:latin typeface="Courier New" pitchFamily="34" charset="0"/>
                <a:ea typeface="Courier New" pitchFamily="34" charset="-122"/>
                <a:cs typeface="Courier New" pitchFamily="34" charset="-120"/>
              </a:rPr>
              <a:t>LOCAL FIRST</a:t>
            </a:r>
            <a:endParaRPr lang="en-US" sz="1700" dirty="0"/>
          </a:p>
        </p:txBody>
      </p:sp>
      <p:sp>
        <p:nvSpPr>
          <p:cNvPr id="31" name="Text 29"/>
          <p:cNvSpPr txBox="1"/>
          <p:nvPr/>
        </p:nvSpPr>
        <p:spPr>
          <a:xfrm>
            <a:off x="4498848" y="4343400"/>
            <a:ext cx="2761488" cy="219456"/>
          </a:xfrm>
          <a:prstGeom prst="rect">
            <a:avLst/>
          </a:prstGeom>
          <a:noFill/>
          <a:ln/>
        </p:spPr>
        <p:txBody>
          <a:bodyPr wrap="square" lIns="0" tIns="0" rIns="0" bIns="0" rtlCol="0" anchor="t">
            <a:normAutofit/>
          </a:bodyPr>
          <a:lstStyle/>
          <a:p>
            <a:pPr algn="ctr" indent="0" marL="0">
              <a:buNone/>
            </a:pPr>
            <a:r>
              <a:rPr lang="en-US" sz="1200" dirty="0">
                <a:solidFill>
                  <a:srgbClr val="E8E6E0"/>
                </a:solidFill>
                <a:latin typeface="Arial" pitchFamily="34" charset="0"/>
                <a:ea typeface="Arial" pitchFamily="34" charset="-122"/>
                <a:cs typeface="Arial" pitchFamily="34" charset="-120"/>
              </a:rPr>
              <a:t>audio • STT • first gate</a:t>
            </a:r>
            <a:endParaRPr lang="en-US" sz="1200" dirty="0"/>
          </a:p>
        </p:txBody>
      </p:sp>
      <p:sp>
        <p:nvSpPr>
          <p:cNvPr id="32" name="Text 30"/>
          <p:cNvSpPr txBox="1"/>
          <p:nvPr/>
        </p:nvSpPr>
        <p:spPr>
          <a:xfrm>
            <a:off x="4498848" y="4663440"/>
            <a:ext cx="2761488" cy="256032"/>
          </a:xfrm>
          <a:prstGeom prst="rect">
            <a:avLst/>
          </a:prstGeom>
          <a:noFill/>
          <a:ln/>
        </p:spPr>
        <p:txBody>
          <a:bodyPr wrap="square" lIns="0" tIns="0" rIns="0" bIns="0" rtlCol="0" anchor="t">
            <a:normAutofit/>
          </a:bodyPr>
          <a:lstStyle/>
          <a:p>
            <a:pPr algn="ctr" indent="0" marL="0">
              <a:buNone/>
            </a:pPr>
            <a:r>
              <a:rPr lang="en-US" sz="950" dirty="0">
                <a:solidFill>
                  <a:srgbClr val="9A97A3"/>
                </a:solidFill>
                <a:latin typeface="Arial" pitchFamily="34" charset="0"/>
                <a:ea typeface="Arial" pitchFamily="34" charset="-122"/>
                <a:cs typeface="Arial" pitchFamily="34" charset="-120"/>
              </a:rPr>
              <a:t>accepted text + bounded context may leave device</a:t>
            </a:r>
            <a:endParaRPr lang="en-US" sz="950" dirty="0"/>
          </a:p>
        </p:txBody>
      </p:sp>
      <p:sp>
        <p:nvSpPr>
          <p:cNvPr id="33" name="Shape 31"/>
          <p:cNvSpPr/>
          <p:nvPr/>
        </p:nvSpPr>
        <p:spPr>
          <a:xfrm>
            <a:off x="7772400" y="3429000"/>
            <a:ext cx="3246120" cy="1719072"/>
          </a:xfrm>
          <a:prstGeom prst="roundRect">
            <a:avLst/>
          </a:prstGeom>
          <a:solidFill>
            <a:srgbClr val="1E1E28"/>
          </a:solidFill>
          <a:ln w="12700">
            <a:solidFill>
              <a:srgbClr val="6FB3E8"/>
            </a:solidFill>
            <a:prstDash val="solid"/>
          </a:ln>
        </p:spPr>
      </p:sp>
      <p:sp>
        <p:nvSpPr>
          <p:cNvPr id="34" name="Text 32"/>
          <p:cNvSpPr txBox="1"/>
          <p:nvPr/>
        </p:nvSpPr>
        <p:spPr>
          <a:xfrm>
            <a:off x="8010144" y="3803904"/>
            <a:ext cx="2761488" cy="320040"/>
          </a:xfrm>
          <a:prstGeom prst="rect">
            <a:avLst/>
          </a:prstGeom>
          <a:noFill/>
          <a:ln/>
        </p:spPr>
        <p:txBody>
          <a:bodyPr wrap="square" lIns="0" tIns="0" rIns="0" bIns="0" rtlCol="0" anchor="t">
            <a:normAutofit/>
          </a:bodyPr>
          <a:lstStyle/>
          <a:p>
            <a:pPr algn="ctr" indent="0" marL="0">
              <a:buNone/>
            </a:pPr>
            <a:r>
              <a:rPr lang="en-US" sz="1700" b="1" spc="100" kern="0" dirty="0">
                <a:solidFill>
                  <a:srgbClr val="6FB3E8"/>
                </a:solidFill>
                <a:latin typeface="Courier New" pitchFamily="34" charset="0"/>
                <a:ea typeface="Courier New" pitchFamily="34" charset="-122"/>
                <a:cs typeface="Courier New" pitchFamily="34" charset="-120"/>
              </a:rPr>
              <a:t>REPLAYABLE</a:t>
            </a:r>
            <a:endParaRPr lang="en-US" sz="1700" dirty="0"/>
          </a:p>
        </p:txBody>
      </p:sp>
      <p:sp>
        <p:nvSpPr>
          <p:cNvPr id="35" name="Text 33"/>
          <p:cNvSpPr txBox="1"/>
          <p:nvPr/>
        </p:nvSpPr>
        <p:spPr>
          <a:xfrm>
            <a:off x="8010144" y="4343400"/>
            <a:ext cx="2761488" cy="219456"/>
          </a:xfrm>
          <a:prstGeom prst="rect">
            <a:avLst/>
          </a:prstGeom>
          <a:noFill/>
          <a:ln/>
        </p:spPr>
        <p:txBody>
          <a:bodyPr wrap="square" lIns="0" tIns="0" rIns="0" bIns="0" rtlCol="0" anchor="t">
            <a:normAutofit/>
          </a:bodyPr>
          <a:lstStyle/>
          <a:p>
            <a:pPr algn="ctr" indent="0" marL="0">
              <a:buNone/>
            </a:pPr>
            <a:r>
              <a:rPr lang="en-US" sz="1200" dirty="0">
                <a:solidFill>
                  <a:srgbClr val="E8E6E0"/>
                </a:solidFill>
                <a:latin typeface="Arial" pitchFamily="34" charset="0"/>
                <a:ea typeface="Arial" pitchFamily="34" charset="-122"/>
                <a:cs typeface="Arial" pitchFamily="34" charset="-120"/>
              </a:rPr>
              <a:t>decisions • status • latency</a:t>
            </a:r>
            <a:endParaRPr lang="en-US" sz="1200" dirty="0"/>
          </a:p>
        </p:txBody>
      </p:sp>
      <p:sp>
        <p:nvSpPr>
          <p:cNvPr id="36" name="Text 34"/>
          <p:cNvSpPr txBox="1"/>
          <p:nvPr/>
        </p:nvSpPr>
        <p:spPr>
          <a:xfrm>
            <a:off x="8010144" y="4663440"/>
            <a:ext cx="2761488" cy="219456"/>
          </a:xfrm>
          <a:prstGeom prst="rect">
            <a:avLst/>
          </a:prstGeom>
          <a:noFill/>
          <a:ln/>
        </p:spPr>
        <p:txBody>
          <a:bodyPr wrap="square" lIns="0" tIns="0" rIns="0" bIns="0" rtlCol="0" anchor="t">
            <a:normAutofit/>
          </a:bodyPr>
          <a:lstStyle/>
          <a:p>
            <a:pPr algn="ctr" indent="0" marL="0">
              <a:buNone/>
            </a:pPr>
            <a:r>
              <a:rPr lang="en-US" sz="950" dirty="0">
                <a:solidFill>
                  <a:srgbClr val="9A97A3"/>
                </a:solidFill>
                <a:latin typeface="Arial" pitchFamily="34" charset="0"/>
                <a:ea typeface="Arial" pitchFamily="34" charset="-122"/>
                <a:cs typeface="Arial" pitchFamily="34" charset="-120"/>
              </a:rPr>
              <a:t>local JSONL — not enterprise history</a:t>
            </a:r>
            <a:endParaRPr lang="en-US" sz="950" dirty="0"/>
          </a:p>
        </p:txBody>
      </p:sp>
      <p:sp>
        <p:nvSpPr>
          <p:cNvPr id="37" name="Text 35"/>
          <p:cNvSpPr txBox="1"/>
          <p:nvPr/>
        </p:nvSpPr>
        <p:spPr>
          <a:xfrm>
            <a:off x="932688" y="5687568"/>
            <a:ext cx="10287000" cy="329184"/>
          </a:xfrm>
          <a:prstGeom prst="rect">
            <a:avLst/>
          </a:prstGeom>
          <a:noFill/>
          <a:ln/>
        </p:spPr>
        <p:txBody>
          <a:bodyPr wrap="square" lIns="0" tIns="0" rIns="0" bIns="0" rtlCol="0" anchor="t">
            <a:normAutofit/>
          </a:bodyPr>
          <a:lstStyle/>
          <a:p>
            <a:pPr algn="ctr" indent="0" marL="0">
              <a:buNone/>
            </a:pPr>
            <a:r>
              <a:rPr lang="en-US" sz="1050" i="1" dirty="0">
                <a:solidFill>
                  <a:srgbClr val="9A97A3"/>
                </a:solidFill>
                <a:latin typeface="Arial" pitchFamily="34" charset="0"/>
                <a:ea typeface="Arial" pitchFamily="34" charset="-122"/>
                <a:cs typeface="Arial" pitchFamily="34" charset="-120"/>
              </a:rPr>
              <a:t>Prototype figures are configuration- and hardware-specific; repeat with production providers, real domain data, and agreed acceptance thresholds.</a:t>
            </a:r>
            <a:endParaRPr lang="en-US" sz="1050" dirty="0"/>
          </a:p>
        </p:txBody>
      </p:sp>
      <p:sp>
        <p:nvSpPr>
          <p:cNvPr id="25" name="Slide Number Placeholder 0"/>
          <p:cNvSpPr>
            <a:spLocks noGrp="1"/>
          </p:cNvSpPr>
          <p:nvPr>
            <p:ph type="sldNum" sz="quarter" idx="4294967295"/>
          </p:nvPr>
        </p:nvSpPr>
        <p:spPr>
          <a:xfrm>
            <a:off x="11109960" y="6483096"/>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9A97A3"/>
                </a:solidFill>
                <a:latin typeface="Courier New"/>
                <a:ea typeface="Courier New"/>
                <a:cs typeface="Courier New"/>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61D"/>
        </a:solidFill>
      </p:bgPr>
    </p:bg>
    <p:spTree>
      <p:nvGrpSpPr>
        <p:cNvPr id="1" name=""/>
        <p:cNvGrpSpPr/>
        <p:nvPr/>
      </p:nvGrpSpPr>
      <p:grpSpPr>
        <a:xfrm>
          <a:off x="0" y="0"/>
          <a:ext cx="0" cy="0"/>
          <a:chOff x="0" y="0"/>
          <a:chExt cx="0" cy="0"/>
        </a:xfrm>
      </p:grpSpPr>
      <p:sp>
        <p:nvSpPr>
          <p:cNvPr id="2" name="Text 0"/>
          <p:cNvSpPr txBox="1"/>
          <p:nvPr/>
        </p:nvSpPr>
        <p:spPr>
          <a:xfrm>
            <a:off x="713232" y="384048"/>
            <a:ext cx="5120640" cy="219456"/>
          </a:xfrm>
          <a:prstGeom prst="rect">
            <a:avLst/>
          </a:prstGeom>
          <a:noFill/>
          <a:ln/>
        </p:spPr>
        <p:txBody>
          <a:bodyPr wrap="square" lIns="0" tIns="0" rIns="0" bIns="0" rtlCol="0" anchor="t">
            <a:normAutofit/>
          </a:bodyPr>
          <a:lstStyle/>
          <a:p>
            <a:pPr algn="l" indent="0" marL="0">
              <a:buNone/>
            </a:pPr>
            <a:r>
              <a:rPr lang="en-US" sz="900" b="1" spc="210" kern="0" dirty="0">
                <a:solidFill>
                  <a:srgbClr val="9A97A3"/>
                </a:solidFill>
                <a:latin typeface="Courier New" pitchFamily="34" charset="0"/>
                <a:ea typeface="Courier New" pitchFamily="34" charset="-122"/>
                <a:cs typeface="Courier New" pitchFamily="34" charset="-120"/>
              </a:rPr>
              <a:t>ALIGNMENT</a:t>
            </a:r>
            <a:endParaRPr lang="en-US" sz="900" dirty="0"/>
          </a:p>
        </p:txBody>
      </p:sp>
      <p:sp>
        <p:nvSpPr>
          <p:cNvPr id="3" name="Text 1"/>
          <p:cNvSpPr txBox="1"/>
          <p:nvPr/>
        </p:nvSpPr>
        <p:spPr>
          <a:xfrm>
            <a:off x="10424160" y="347472"/>
            <a:ext cx="1051560" cy="228600"/>
          </a:xfrm>
          <a:prstGeom prst="rect">
            <a:avLst/>
          </a:prstGeom>
          <a:noFill/>
          <a:ln/>
        </p:spPr>
        <p:txBody>
          <a:bodyPr wrap="square" lIns="0" tIns="0" rIns="0" bIns="0" rtlCol="0" anchor="t">
            <a:normAutofit/>
          </a:bodyPr>
          <a:lstStyle/>
          <a:p>
            <a:pPr algn="r" indent="0" marL="0">
              <a:buNone/>
            </a:pPr>
            <a:r>
              <a:rPr lang="en-US" sz="1000" b="1" spc="240" kern="0" dirty="0">
                <a:solidFill>
                  <a:srgbClr val="E8E6E0"/>
                </a:solidFill>
                <a:latin typeface="Courier New" pitchFamily="34" charset="0"/>
                <a:ea typeface="Courier New" pitchFamily="34" charset="-122"/>
                <a:cs typeface="Courier New" pitchFamily="34" charset="-120"/>
              </a:rPr>
              <a:t>CYBIC</a:t>
            </a:r>
            <a:endParaRPr lang="en-US" sz="1000" dirty="0"/>
          </a:p>
        </p:txBody>
      </p:sp>
      <p:sp>
        <p:nvSpPr>
          <p:cNvPr id="4" name="Text 2"/>
          <p:cNvSpPr txBox="1"/>
          <p:nvPr/>
        </p:nvSpPr>
        <p:spPr>
          <a:xfrm>
            <a:off x="685800" y="713232"/>
            <a:ext cx="10744200" cy="566928"/>
          </a:xfrm>
          <a:prstGeom prst="rect">
            <a:avLst/>
          </a:prstGeom>
          <a:noFill/>
          <a:ln/>
        </p:spPr>
        <p:txBody>
          <a:bodyPr wrap="square" lIns="0" tIns="0" rIns="0" bIns="0" rtlCol="0" anchor="t">
            <a:normAutofit/>
          </a:bodyPr>
          <a:lstStyle/>
          <a:p>
            <a:pPr algn="l" indent="0" marL="0">
              <a:buNone/>
            </a:pPr>
            <a:r>
              <a:rPr lang="en-US" sz="2800" b="1" dirty="0">
                <a:solidFill>
                  <a:srgbClr val="E8E6E0"/>
                </a:solidFill>
                <a:latin typeface="Arial" pitchFamily="34" charset="0"/>
                <a:ea typeface="Arial" pitchFamily="34" charset="-122"/>
                <a:cs typeface="Arial" pitchFamily="34" charset="-120"/>
              </a:rPr>
              <a:t>Selective alignment — credible because it is incomplete</a:t>
            </a:r>
            <a:endParaRPr lang="en-US" sz="2800" dirty="0"/>
          </a:p>
        </p:txBody>
      </p:sp>
      <p:sp>
        <p:nvSpPr>
          <p:cNvPr id="5" name="Text 3"/>
          <p:cNvSpPr txBox="1"/>
          <p:nvPr/>
        </p:nvSpPr>
        <p:spPr>
          <a:xfrm>
            <a:off x="713232" y="1298448"/>
            <a:ext cx="10607040" cy="411480"/>
          </a:xfrm>
          <a:prstGeom prst="rect">
            <a:avLst/>
          </a:prstGeom>
          <a:noFill/>
          <a:ln/>
        </p:spPr>
        <p:txBody>
          <a:bodyPr wrap="square" lIns="0" tIns="0" rIns="0" bIns="0" rtlCol="0" anchor="t">
            <a:normAutofit/>
          </a:bodyPr>
          <a:lstStyle/>
          <a:p>
            <a:pPr algn="l" indent="0" marL="0">
              <a:buNone/>
            </a:pPr>
            <a:r>
              <a:rPr lang="en-US" sz="1350" dirty="0">
                <a:solidFill>
                  <a:srgbClr val="9A97A3"/>
                </a:solidFill>
                <a:latin typeface="Arial" pitchFamily="34" charset="0"/>
                <a:ea typeface="Arial" pitchFamily="34" charset="-122"/>
                <a:cs typeface="Arial" pitchFamily="34" charset="-120"/>
              </a:rPr>
              <a:t>The proposal is substantially larger than the demonstrated product.</a:t>
            </a:r>
            <a:endParaRPr lang="en-US" sz="1350" dirty="0"/>
          </a:p>
        </p:txBody>
      </p:sp>
      <p:sp>
        <p:nvSpPr>
          <p:cNvPr id="6" name="Shape 4"/>
          <p:cNvSpPr/>
          <p:nvPr/>
        </p:nvSpPr>
        <p:spPr>
          <a:xfrm>
            <a:off x="658368" y="6428232"/>
            <a:ext cx="10863072" cy="0"/>
          </a:xfrm>
          <a:prstGeom prst="line">
            <a:avLst/>
          </a:prstGeom>
          <a:noFill/>
          <a:ln w="8890">
            <a:solidFill>
              <a:srgbClr val="34323E"/>
            </a:solidFill>
            <a:prstDash val="solid"/>
          </a:ln>
        </p:spPr>
      </p:sp>
      <p:sp>
        <p:nvSpPr>
          <p:cNvPr id="7" name="Text 5"/>
          <p:cNvSpPr txBox="1"/>
          <p:nvPr/>
        </p:nvSpPr>
        <p:spPr>
          <a:xfrm>
            <a:off x="685800" y="6473952"/>
            <a:ext cx="2926080" cy="146304"/>
          </a:xfrm>
          <a:prstGeom prst="rect">
            <a:avLst/>
          </a:prstGeom>
          <a:noFill/>
          <a:ln/>
        </p:spPr>
        <p:txBody>
          <a:bodyPr wrap="square" lIns="0" tIns="0" rIns="0" bIns="0" rtlCol="0" anchor="t">
            <a:normAutofit/>
          </a:bodyPr>
          <a:lstStyle/>
          <a:p>
            <a:pPr algn="l" indent="0" marL="0">
              <a:buNone/>
            </a:pPr>
            <a:r>
              <a:rPr lang="en-US" sz="750" spc="120" kern="0" dirty="0">
                <a:solidFill>
                  <a:srgbClr val="9A97A3"/>
                </a:solidFill>
                <a:latin typeface="Courier New" pitchFamily="34" charset="0"/>
                <a:ea typeface="Courier New" pitchFamily="34" charset="-122"/>
                <a:cs typeface="Courier New" pitchFamily="34" charset="-120"/>
              </a:rPr>
              <a:t>CYBIC  •  CONFIDENTIAL</a:t>
            </a:r>
            <a:endParaRPr lang="en-US" sz="750" dirty="0"/>
          </a:p>
        </p:txBody>
      </p:sp>
      <p:sp>
        <p:nvSpPr>
          <p:cNvPr id="8" name="Shape 6"/>
          <p:cNvSpPr/>
          <p:nvPr/>
        </p:nvSpPr>
        <p:spPr>
          <a:xfrm>
            <a:off x="713232" y="1755648"/>
            <a:ext cx="2971800" cy="4069080"/>
          </a:xfrm>
          <a:prstGeom prst="roundRect">
            <a:avLst/>
          </a:prstGeom>
          <a:solidFill>
            <a:srgbClr val="3D3320"/>
          </a:solidFill>
          <a:ln w="12700">
            <a:solidFill>
              <a:srgbClr val="E8A33D"/>
            </a:solidFill>
            <a:prstDash val="solid"/>
          </a:ln>
        </p:spPr>
      </p:sp>
      <p:sp>
        <p:nvSpPr>
          <p:cNvPr id="9" name="Shape 7"/>
          <p:cNvSpPr/>
          <p:nvPr/>
        </p:nvSpPr>
        <p:spPr>
          <a:xfrm>
            <a:off x="914400" y="1920240"/>
            <a:ext cx="1325880" cy="256032"/>
          </a:xfrm>
          <a:prstGeom prst="roundRect">
            <a:avLst/>
          </a:prstGeom>
          <a:solidFill>
            <a:srgbClr val="1E1E28"/>
          </a:solidFill>
          <a:ln w="10160">
            <a:solidFill>
              <a:srgbClr val="E8A33D"/>
            </a:solidFill>
            <a:prstDash val="solid"/>
          </a:ln>
        </p:spPr>
      </p:sp>
      <p:sp>
        <p:nvSpPr>
          <p:cNvPr id="10" name="Text 8"/>
          <p:cNvSpPr txBox="1"/>
          <p:nvPr/>
        </p:nvSpPr>
        <p:spPr>
          <a:xfrm>
            <a:off x="960120" y="1956816"/>
            <a:ext cx="1234440" cy="192024"/>
          </a:xfrm>
          <a:prstGeom prst="rect">
            <a:avLst/>
          </a:prstGeom>
          <a:noFill/>
          <a:ln/>
        </p:spPr>
        <p:txBody>
          <a:bodyPr wrap="square" lIns="0" tIns="0" rIns="0" bIns="0" rtlCol="0" anchor="ctr">
            <a:normAutofit/>
          </a:bodyPr>
          <a:lstStyle/>
          <a:p>
            <a:pPr algn="ctr" indent="0" marL="0">
              <a:buNone/>
            </a:pPr>
            <a:r>
              <a:rPr lang="en-US" sz="750" b="1" spc="100" kern="0" dirty="0">
                <a:solidFill>
                  <a:srgbClr val="E8A33D"/>
                </a:solidFill>
                <a:latin typeface="Courier New" pitchFamily="34" charset="0"/>
                <a:ea typeface="Courier New" pitchFamily="34" charset="-122"/>
                <a:cs typeface="Courier New" pitchFamily="34" charset="-120"/>
              </a:rPr>
              <a:t>DEMONSTRATED</a:t>
            </a:r>
            <a:endParaRPr lang="en-US" sz="750" dirty="0"/>
          </a:p>
        </p:txBody>
      </p:sp>
      <p:sp>
        <p:nvSpPr>
          <p:cNvPr id="11" name="Text 9"/>
          <p:cNvSpPr txBox="1"/>
          <p:nvPr/>
        </p:nvSpPr>
        <p:spPr>
          <a:xfrm>
            <a:off x="932688" y="2286000"/>
            <a:ext cx="2532888" cy="384048"/>
          </a:xfrm>
          <a:prstGeom prst="rect">
            <a:avLst/>
          </a:prstGeom>
          <a:noFill/>
          <a:ln/>
        </p:spPr>
        <p:txBody>
          <a:bodyPr wrap="square" lIns="0" tIns="0" rIns="0" bIns="0" rtlCol="0" anchor="t">
            <a:normAutofit/>
          </a:bodyPr>
          <a:lstStyle/>
          <a:p>
            <a:pPr algn="l" indent="0" marL="0">
              <a:buNone/>
            </a:pPr>
            <a:r>
              <a:rPr lang="en-US" sz="1700" b="1" dirty="0">
                <a:solidFill>
                  <a:srgbClr val="E8A33D"/>
                </a:solidFill>
                <a:latin typeface="Arial" pitchFamily="34" charset="0"/>
                <a:ea typeface="Arial" pitchFamily="34" charset="-122"/>
                <a:cs typeface="Arial" pitchFamily="34" charset="-120"/>
              </a:rPr>
              <a:t>Direct overlap</a:t>
            </a:r>
            <a:endParaRPr lang="en-US" sz="1700" dirty="0"/>
          </a:p>
        </p:txBody>
      </p:sp>
      <p:sp>
        <p:nvSpPr>
          <p:cNvPr id="12" name="Text 10"/>
          <p:cNvSpPr txBox="1"/>
          <p:nvPr/>
        </p:nvSpPr>
        <p:spPr>
          <a:xfrm>
            <a:off x="932688" y="2743200"/>
            <a:ext cx="2532888" cy="2880360"/>
          </a:xfrm>
          <a:prstGeom prst="rect">
            <a:avLst/>
          </a:prstGeom>
          <a:noFill/>
          <a:ln/>
        </p:spPr>
        <p:txBody>
          <a:bodyPr wrap="square" lIns="0" tIns="0" rIns="0" bIns="0" rtlCol="0" anchor="t">
            <a:normAutofit/>
          </a:bodyPr>
          <a:lstStyle/>
          <a:p>
            <a:pPr algn="l" indent="0" marL="0">
              <a:buNone/>
            </a:pPr>
            <a:r>
              <a:rPr lang="en-US" sz="1320" dirty="0">
                <a:solidFill>
                  <a:srgbClr val="E8E6E0"/>
                </a:solidFill>
                <a:latin typeface="Arial" pitchFamily="34" charset="0"/>
                <a:ea typeface="Arial" pitchFamily="34" charset="-122"/>
                <a:cs typeface="Arial" pitchFamily="34" charset="-120"/>
              </a:rPr>
              <a:t>Two-sided audio capture</a:t>
            </a:r>
            <a:endParaRPr lang="en-US" sz="1320" dirty="0"/>
          </a:p>
          <a:p>
            <a:pPr algn="l" indent="0" marL="0">
              <a:buNone/>
            </a:pPr>
            <a:endParaRPr lang="en-US" sz="1320" dirty="0"/>
          </a:p>
          <a:p>
            <a:pPr algn="l" indent="0" marL="0">
              <a:buNone/>
            </a:pPr>
            <a:r>
              <a:rPr lang="en-US" sz="1320" dirty="0">
                <a:solidFill>
                  <a:srgbClr val="E8E6E0"/>
                </a:solidFill>
                <a:latin typeface="Arial" pitchFamily="34" charset="0"/>
                <a:ea typeface="Arial" pitchFamily="34" charset="-122"/>
                <a:cs typeface="Arial" pitchFamily="34" charset="-120"/>
              </a:rPr>
              <a:t>Local transcription</a:t>
            </a:r>
            <a:endParaRPr lang="en-US" sz="1320" dirty="0"/>
          </a:p>
          <a:p>
            <a:pPr algn="l" indent="0" marL="0">
              <a:buNone/>
            </a:pPr>
            <a:endParaRPr lang="en-US" sz="1320" dirty="0"/>
          </a:p>
          <a:p>
            <a:pPr algn="l" indent="0" marL="0">
              <a:buNone/>
            </a:pPr>
            <a:r>
              <a:rPr lang="en-US" sz="1320" dirty="0">
                <a:solidFill>
                  <a:srgbClr val="E8E6E0"/>
                </a:solidFill>
                <a:latin typeface="Arial" pitchFamily="34" charset="0"/>
                <a:ea typeface="Arial" pitchFamily="34" charset="-122"/>
                <a:cs typeface="Arial" pitchFamily="34" charset="-120"/>
              </a:rPr>
              <a:t>Information-request detection</a:t>
            </a:r>
            <a:endParaRPr lang="en-US" sz="1320" dirty="0"/>
          </a:p>
          <a:p>
            <a:pPr algn="l" indent="0" marL="0">
              <a:buNone/>
            </a:pPr>
            <a:endParaRPr lang="en-US" sz="1320" dirty="0"/>
          </a:p>
          <a:p>
            <a:pPr algn="l" indent="0" marL="0">
              <a:buNone/>
            </a:pPr>
            <a:r>
              <a:rPr lang="en-US" sz="1320" dirty="0">
                <a:solidFill>
                  <a:srgbClr val="E8E6E0"/>
                </a:solidFill>
                <a:latin typeface="Arial" pitchFamily="34" charset="0"/>
                <a:ea typeface="Arial" pitchFamily="34" charset="-122"/>
                <a:cs typeface="Arial" pitchFamily="34" charset="-120"/>
              </a:rPr>
              <a:t>Short-session context</a:t>
            </a:r>
            <a:endParaRPr lang="en-US" sz="1320" dirty="0"/>
          </a:p>
          <a:p>
            <a:pPr algn="l" indent="0" marL="0">
              <a:buNone/>
            </a:pPr>
            <a:endParaRPr lang="en-US" sz="1320" dirty="0"/>
          </a:p>
          <a:p>
            <a:pPr algn="l" indent="0" marL="0">
              <a:buNone/>
            </a:pPr>
            <a:r>
              <a:rPr lang="en-US" sz="1320" dirty="0">
                <a:solidFill>
                  <a:srgbClr val="E8E6E0"/>
                </a:solidFill>
                <a:latin typeface="Arial" pitchFamily="34" charset="0"/>
                <a:ea typeface="Arial" pitchFamily="34" charset="-122"/>
                <a:cs typeface="Arial" pitchFamily="34" charset="-120"/>
              </a:rPr>
              <a:t>Contextual answer cards</a:t>
            </a:r>
            <a:endParaRPr lang="en-US" sz="1320" dirty="0"/>
          </a:p>
          <a:p>
            <a:pPr algn="l" indent="0" marL="0">
              <a:buNone/>
            </a:pPr>
            <a:endParaRPr lang="en-US" sz="1320" dirty="0"/>
          </a:p>
          <a:p>
            <a:pPr algn="l" indent="0" marL="0">
              <a:buNone/>
            </a:pPr>
            <a:r>
              <a:rPr lang="en-US" sz="1320" dirty="0">
                <a:solidFill>
                  <a:srgbClr val="E8E6E0"/>
                </a:solidFill>
                <a:latin typeface="Arial" pitchFamily="34" charset="0"/>
                <a:ea typeface="Arial" pitchFamily="34" charset="-122"/>
                <a:cs typeface="Arial" pitchFamily="34" charset="-120"/>
              </a:rPr>
              <a:t>Evaluation signals</a:t>
            </a:r>
            <a:endParaRPr lang="en-US" sz="1320" dirty="0"/>
          </a:p>
          <a:p>
            <a:pPr algn="l" indent="0" marL="0">
              <a:buNone/>
            </a:pPr>
            <a:endParaRPr lang="en-US" sz="1320" dirty="0"/>
          </a:p>
          <a:p>
            <a:pPr algn="l" indent="0" marL="0">
              <a:buNone/>
            </a:pPr>
            <a:r>
              <a:rPr lang="en-US" sz="1320" dirty="0">
                <a:solidFill>
                  <a:srgbClr val="E8E6E0"/>
                </a:solidFill>
                <a:latin typeface="Arial" pitchFamily="34" charset="0"/>
                <a:ea typeface="Arial" pitchFamily="34" charset="-122"/>
                <a:cs typeface="Arial" pitchFamily="34" charset="-120"/>
              </a:rPr>
              <a:t>Interaction logs</a:t>
            </a:r>
            <a:endParaRPr lang="en-US" sz="1320" dirty="0"/>
          </a:p>
        </p:txBody>
      </p:sp>
      <p:sp>
        <p:nvSpPr>
          <p:cNvPr id="13" name="Shape 11"/>
          <p:cNvSpPr/>
          <p:nvPr/>
        </p:nvSpPr>
        <p:spPr>
          <a:xfrm>
            <a:off x="3858768" y="1755648"/>
            <a:ext cx="2971800" cy="4069080"/>
          </a:xfrm>
          <a:prstGeom prst="roundRect">
            <a:avLst/>
          </a:prstGeom>
          <a:solidFill>
            <a:srgbClr val="20382F"/>
          </a:solidFill>
          <a:ln w="12700">
            <a:solidFill>
              <a:srgbClr val="7CC7A5"/>
            </a:solidFill>
            <a:prstDash val="solid"/>
          </a:ln>
        </p:spPr>
      </p:sp>
      <p:sp>
        <p:nvSpPr>
          <p:cNvPr id="14" name="Shape 12"/>
          <p:cNvSpPr/>
          <p:nvPr/>
        </p:nvSpPr>
        <p:spPr>
          <a:xfrm>
            <a:off x="4059936" y="1920240"/>
            <a:ext cx="1143000" cy="256032"/>
          </a:xfrm>
          <a:prstGeom prst="roundRect">
            <a:avLst/>
          </a:prstGeom>
          <a:solidFill>
            <a:srgbClr val="1E1E28"/>
          </a:solidFill>
          <a:ln w="10160">
            <a:solidFill>
              <a:srgbClr val="7CC7A5"/>
            </a:solidFill>
            <a:prstDash val="solid"/>
          </a:ln>
        </p:spPr>
      </p:sp>
      <p:sp>
        <p:nvSpPr>
          <p:cNvPr id="15" name="Text 13"/>
          <p:cNvSpPr txBox="1"/>
          <p:nvPr/>
        </p:nvSpPr>
        <p:spPr>
          <a:xfrm>
            <a:off x="4105656" y="1956816"/>
            <a:ext cx="1051560" cy="192024"/>
          </a:xfrm>
          <a:prstGeom prst="rect">
            <a:avLst/>
          </a:prstGeom>
          <a:noFill/>
          <a:ln/>
        </p:spPr>
        <p:txBody>
          <a:bodyPr wrap="square" lIns="0" tIns="0" rIns="0" bIns="0" rtlCol="0" anchor="ctr">
            <a:normAutofit/>
          </a:bodyPr>
          <a:lstStyle/>
          <a:p>
            <a:pPr algn="ctr" indent="0" marL="0">
              <a:buNone/>
            </a:pPr>
            <a:r>
              <a:rPr lang="en-US" sz="750" b="1" spc="100" kern="0" dirty="0">
                <a:solidFill>
                  <a:srgbClr val="7CC7A5"/>
                </a:solidFill>
                <a:latin typeface="Courier New" pitchFamily="34" charset="0"/>
                <a:ea typeface="Courier New" pitchFamily="34" charset="-122"/>
                <a:cs typeface="Courier New" pitchFamily="34" charset="-120"/>
              </a:rPr>
              <a:t>REUSABLE</a:t>
            </a:r>
            <a:endParaRPr lang="en-US" sz="750" dirty="0"/>
          </a:p>
        </p:txBody>
      </p:sp>
      <p:sp>
        <p:nvSpPr>
          <p:cNvPr id="16" name="Text 14"/>
          <p:cNvSpPr txBox="1"/>
          <p:nvPr/>
        </p:nvSpPr>
        <p:spPr>
          <a:xfrm>
            <a:off x="4078224" y="2286000"/>
            <a:ext cx="2532888" cy="384048"/>
          </a:xfrm>
          <a:prstGeom prst="rect">
            <a:avLst/>
          </a:prstGeom>
          <a:noFill/>
          <a:ln/>
        </p:spPr>
        <p:txBody>
          <a:bodyPr wrap="square" lIns="0" tIns="0" rIns="0" bIns="0" rtlCol="0" anchor="t">
            <a:normAutofit/>
          </a:bodyPr>
          <a:lstStyle/>
          <a:p>
            <a:pPr algn="l" indent="0" marL="0">
              <a:buNone/>
            </a:pPr>
            <a:r>
              <a:rPr lang="en-US" sz="1700" b="1" dirty="0">
                <a:solidFill>
                  <a:srgbClr val="7CC7A5"/>
                </a:solidFill>
                <a:latin typeface="Arial" pitchFamily="34" charset="0"/>
                <a:ea typeface="Arial" pitchFamily="34" charset="-122"/>
                <a:cs typeface="Arial" pitchFamily="34" charset="-120"/>
              </a:rPr>
              <a:t>Reusable patterns</a:t>
            </a:r>
            <a:endParaRPr lang="en-US" sz="1700" dirty="0"/>
          </a:p>
        </p:txBody>
      </p:sp>
      <p:sp>
        <p:nvSpPr>
          <p:cNvPr id="17" name="Text 15"/>
          <p:cNvSpPr txBox="1"/>
          <p:nvPr/>
        </p:nvSpPr>
        <p:spPr>
          <a:xfrm>
            <a:off x="4078224" y="2743200"/>
            <a:ext cx="2532888" cy="2880360"/>
          </a:xfrm>
          <a:prstGeom prst="rect">
            <a:avLst/>
          </a:prstGeom>
          <a:noFill/>
          <a:ln/>
        </p:spPr>
        <p:txBody>
          <a:bodyPr wrap="square" lIns="0" tIns="0" rIns="0" bIns="0" rtlCol="0" anchor="t">
            <a:normAutofit/>
          </a:bodyPr>
          <a:lstStyle/>
          <a:p>
            <a:pPr algn="l" indent="0" marL="0">
              <a:buNone/>
            </a:pPr>
            <a:r>
              <a:rPr lang="en-US" sz="1320" dirty="0">
                <a:solidFill>
                  <a:srgbClr val="E8E6E0"/>
                </a:solidFill>
                <a:latin typeface="Arial" pitchFamily="34" charset="0"/>
                <a:ea typeface="Arial" pitchFamily="34" charset="-122"/>
                <a:cs typeface="Arial" pitchFamily="34" charset="-120"/>
              </a:rPr>
              <a:t>Privacy-aware local processing</a:t>
            </a:r>
            <a:endParaRPr lang="en-US" sz="1320" dirty="0"/>
          </a:p>
          <a:p>
            <a:pPr algn="l" indent="0" marL="0">
              <a:buNone/>
            </a:pPr>
            <a:endParaRPr lang="en-US" sz="1320" dirty="0"/>
          </a:p>
          <a:p>
            <a:pPr algn="l" indent="0" marL="0">
              <a:buNone/>
            </a:pPr>
            <a:r>
              <a:rPr lang="en-US" sz="1320" dirty="0">
                <a:solidFill>
                  <a:srgbClr val="E8E6E0"/>
                </a:solidFill>
                <a:latin typeface="Arial" pitchFamily="34" charset="0"/>
                <a:ea typeface="Arial" pitchFamily="34" charset="-122"/>
                <a:cs typeface="Arial" pitchFamily="34" charset="-120"/>
              </a:rPr>
              <a:t>Configurable context profiles</a:t>
            </a:r>
            <a:endParaRPr lang="en-US" sz="1320" dirty="0"/>
          </a:p>
          <a:p>
            <a:pPr algn="l" indent="0" marL="0">
              <a:buNone/>
            </a:pPr>
            <a:endParaRPr lang="en-US" sz="1320" dirty="0"/>
          </a:p>
          <a:p>
            <a:pPr algn="l" indent="0" marL="0">
              <a:buNone/>
            </a:pPr>
            <a:r>
              <a:rPr lang="en-US" sz="1320" dirty="0">
                <a:solidFill>
                  <a:srgbClr val="E8E6E0"/>
                </a:solidFill>
                <a:latin typeface="Arial" pitchFamily="34" charset="0"/>
                <a:ea typeface="Arial" pitchFamily="34" charset="-122"/>
                <a:cs typeface="Arial" pitchFamily="34" charset="-120"/>
              </a:rPr>
              <a:t>Optional local TTS</a:t>
            </a:r>
            <a:endParaRPr lang="en-US" sz="1320" dirty="0"/>
          </a:p>
          <a:p>
            <a:pPr algn="l" indent="0" marL="0">
              <a:buNone/>
            </a:pPr>
            <a:endParaRPr lang="en-US" sz="1320" dirty="0"/>
          </a:p>
          <a:p>
            <a:pPr algn="l" indent="0" marL="0">
              <a:buNone/>
            </a:pPr>
            <a:r>
              <a:rPr lang="en-US" sz="1320" dirty="0">
                <a:solidFill>
                  <a:srgbClr val="E8E6E0"/>
                </a:solidFill>
                <a:latin typeface="Arial" pitchFamily="34" charset="0"/>
                <a:ea typeface="Arial" pitchFamily="34" charset="-122"/>
                <a:cs typeface="Arial" pitchFamily="34" charset="-120"/>
              </a:rPr>
              <a:t>Answer audit and recovery</a:t>
            </a:r>
            <a:endParaRPr lang="en-US" sz="1320" dirty="0"/>
          </a:p>
          <a:p>
            <a:pPr algn="l" indent="0" marL="0">
              <a:buNone/>
            </a:pPr>
            <a:endParaRPr lang="en-US" sz="1320" dirty="0"/>
          </a:p>
          <a:p>
            <a:pPr algn="l" indent="0" marL="0">
              <a:buNone/>
            </a:pPr>
            <a:r>
              <a:rPr lang="en-US" sz="1320" dirty="0">
                <a:solidFill>
                  <a:srgbClr val="E8E6E0"/>
                </a:solidFill>
                <a:latin typeface="Arial" pitchFamily="34" charset="0"/>
                <a:ea typeface="Arial" pitchFamily="34" charset="-122"/>
                <a:cs typeface="Arial" pitchFamily="34" charset="-120"/>
              </a:rPr>
              <a:t>Session replay</a:t>
            </a:r>
            <a:endParaRPr lang="en-US" sz="1320" dirty="0"/>
          </a:p>
          <a:p>
            <a:pPr algn="l" indent="0" marL="0">
              <a:buNone/>
            </a:pPr>
            <a:endParaRPr lang="en-US" sz="1320" dirty="0"/>
          </a:p>
          <a:p>
            <a:pPr algn="l" indent="0" marL="0">
              <a:buNone/>
            </a:pPr>
            <a:r>
              <a:rPr lang="en-US" sz="1320" dirty="0">
                <a:solidFill>
                  <a:srgbClr val="E8E6E0"/>
                </a:solidFill>
                <a:latin typeface="Arial" pitchFamily="34" charset="0"/>
                <a:ea typeface="Arial" pitchFamily="34" charset="-122"/>
                <a:cs typeface="Arial" pitchFamily="34" charset="-120"/>
              </a:rPr>
              <a:t>Resilient real-time pipelines</a:t>
            </a:r>
            <a:endParaRPr lang="en-US" sz="1320" dirty="0"/>
          </a:p>
        </p:txBody>
      </p:sp>
      <p:sp>
        <p:nvSpPr>
          <p:cNvPr id="18" name="Shape 16"/>
          <p:cNvSpPr/>
          <p:nvPr/>
        </p:nvSpPr>
        <p:spPr>
          <a:xfrm>
            <a:off x="7004304" y="1755648"/>
            <a:ext cx="4462272" cy="4069080"/>
          </a:xfrm>
          <a:prstGeom prst="roundRect">
            <a:avLst/>
          </a:prstGeom>
          <a:solidFill>
            <a:srgbClr val="20303D"/>
          </a:solidFill>
          <a:ln w="12700">
            <a:solidFill>
              <a:srgbClr val="6FB3E8"/>
            </a:solidFill>
            <a:prstDash val="solid"/>
          </a:ln>
        </p:spPr>
      </p:sp>
      <p:sp>
        <p:nvSpPr>
          <p:cNvPr id="19" name="Shape 17"/>
          <p:cNvSpPr/>
          <p:nvPr/>
        </p:nvSpPr>
        <p:spPr>
          <a:xfrm>
            <a:off x="7205472" y="1920240"/>
            <a:ext cx="1143000" cy="256032"/>
          </a:xfrm>
          <a:prstGeom prst="roundRect">
            <a:avLst/>
          </a:prstGeom>
          <a:solidFill>
            <a:srgbClr val="1E1E28"/>
          </a:solidFill>
          <a:ln w="10160">
            <a:solidFill>
              <a:srgbClr val="6FB3E8"/>
            </a:solidFill>
            <a:prstDash val="solid"/>
          </a:ln>
        </p:spPr>
      </p:sp>
      <p:sp>
        <p:nvSpPr>
          <p:cNvPr id="20" name="Text 18"/>
          <p:cNvSpPr txBox="1"/>
          <p:nvPr/>
        </p:nvSpPr>
        <p:spPr>
          <a:xfrm>
            <a:off x="7251192" y="1956816"/>
            <a:ext cx="1051560" cy="192024"/>
          </a:xfrm>
          <a:prstGeom prst="rect">
            <a:avLst/>
          </a:prstGeom>
          <a:noFill/>
          <a:ln/>
        </p:spPr>
        <p:txBody>
          <a:bodyPr wrap="square" lIns="0" tIns="0" rIns="0" bIns="0" rtlCol="0" anchor="ctr">
            <a:normAutofit/>
          </a:bodyPr>
          <a:lstStyle/>
          <a:p>
            <a:pPr algn="ctr" indent="0" marL="0">
              <a:buNone/>
            </a:pPr>
            <a:r>
              <a:rPr lang="en-US" sz="750" b="1" spc="100" kern="0" dirty="0">
                <a:solidFill>
                  <a:srgbClr val="6FB3E8"/>
                </a:solidFill>
                <a:latin typeface="Courier New" pitchFamily="34" charset="0"/>
                <a:ea typeface="Courier New" pitchFamily="34" charset="-122"/>
                <a:cs typeface="Courier New" pitchFamily="34" charset="-120"/>
              </a:rPr>
              <a:t>PROPOSED</a:t>
            </a:r>
            <a:endParaRPr lang="en-US" sz="750" dirty="0"/>
          </a:p>
        </p:txBody>
      </p:sp>
      <p:sp>
        <p:nvSpPr>
          <p:cNvPr id="21" name="Text 19"/>
          <p:cNvSpPr txBox="1"/>
          <p:nvPr/>
        </p:nvSpPr>
        <p:spPr>
          <a:xfrm>
            <a:off x="7223760" y="2286000"/>
            <a:ext cx="4023360" cy="384048"/>
          </a:xfrm>
          <a:prstGeom prst="rect">
            <a:avLst/>
          </a:prstGeom>
          <a:noFill/>
          <a:ln/>
        </p:spPr>
        <p:txBody>
          <a:bodyPr wrap="square" lIns="0" tIns="0" rIns="0" bIns="0" rtlCol="0" anchor="t">
            <a:normAutofit/>
          </a:bodyPr>
          <a:lstStyle/>
          <a:p>
            <a:pPr algn="l" indent="0" marL="0">
              <a:buNone/>
            </a:pPr>
            <a:r>
              <a:rPr lang="en-US" sz="1800" b="1" dirty="0">
                <a:solidFill>
                  <a:srgbClr val="6FB3E8"/>
                </a:solidFill>
                <a:latin typeface="Arial" pitchFamily="34" charset="0"/>
                <a:ea typeface="Arial" pitchFamily="34" charset="-122"/>
                <a:cs typeface="Arial" pitchFamily="34" charset="-120"/>
              </a:rPr>
              <a:t>Substantial net-new work</a:t>
            </a:r>
            <a:endParaRPr lang="en-US" sz="1800" dirty="0"/>
          </a:p>
        </p:txBody>
      </p:sp>
      <p:sp>
        <p:nvSpPr>
          <p:cNvPr id="22" name="Text 20"/>
          <p:cNvSpPr txBox="1"/>
          <p:nvPr/>
        </p:nvSpPr>
        <p:spPr>
          <a:xfrm>
            <a:off x="7223760" y="2743200"/>
            <a:ext cx="4023360" cy="2880360"/>
          </a:xfrm>
          <a:prstGeom prst="rect">
            <a:avLst/>
          </a:prstGeom>
          <a:noFill/>
          <a:ln/>
        </p:spPr>
        <p:txBody>
          <a:bodyPr wrap="square" lIns="0" tIns="0" rIns="0" bIns="0" rtlCol="0" anchor="t">
            <a:normAutofit/>
          </a:bodyPr>
          <a:lstStyle/>
          <a:p>
            <a:pPr algn="l" indent="0" marL="0">
              <a:buNone/>
            </a:pPr>
            <a:r>
              <a:rPr lang="en-US" sz="1310" dirty="0">
                <a:solidFill>
                  <a:srgbClr val="E8E6E0"/>
                </a:solidFill>
                <a:latin typeface="Arial" pitchFamily="34" charset="0"/>
                <a:ea typeface="Arial" pitchFamily="34" charset="-122"/>
                <a:cs typeface="Arial" pitchFamily="34" charset="-120"/>
              </a:rPr>
              <a:t>Telephony + call lifecycle  •  persistent identity  •  omnichannel history</a:t>
            </a:r>
            <a:endParaRPr lang="en-US" sz="1310" dirty="0"/>
          </a:p>
          <a:p>
            <a:pPr algn="l" indent="0" marL="0">
              <a:buNone/>
            </a:pPr>
            <a:endParaRPr lang="en-US" sz="1310" dirty="0"/>
          </a:p>
          <a:p>
            <a:pPr algn="l" indent="0" marL="0">
              <a:buNone/>
            </a:pPr>
            <a:r>
              <a:rPr lang="en-US" sz="1310" dirty="0">
                <a:solidFill>
                  <a:srgbClr val="E8E6E0"/>
                </a:solidFill>
                <a:latin typeface="Arial" pitchFamily="34" charset="0"/>
                <a:ea typeface="Arial" pitchFamily="34" charset="-122"/>
                <a:cs typeface="Arial" pitchFamily="34" charset="-120"/>
              </a:rPr>
              <a:t>Lead state + qualification  •  managed knowledge/RAG  •  intelligent scheduling</a:t>
            </a:r>
            <a:endParaRPr lang="en-US" sz="1310" dirty="0"/>
          </a:p>
          <a:p>
            <a:pPr algn="l" indent="0" marL="0">
              <a:buNone/>
            </a:pPr>
            <a:endParaRPr lang="en-US" sz="1310" dirty="0"/>
          </a:p>
          <a:p>
            <a:pPr algn="l" indent="0" marL="0">
              <a:buNone/>
            </a:pPr>
            <a:r>
              <a:rPr lang="en-US" sz="1310" dirty="0">
                <a:solidFill>
                  <a:srgbClr val="E8E6E0"/>
                </a:solidFill>
                <a:latin typeface="Arial" pitchFamily="34" charset="0"/>
                <a:ea typeface="Arial" pitchFamily="34" charset="-122"/>
                <a:cs typeface="Arial" pitchFamily="34" charset="-120"/>
              </a:rPr>
              <a:t>CRM actions  •  live transfer  •  campaigns + automation</a:t>
            </a:r>
            <a:endParaRPr lang="en-US" sz="1310" dirty="0"/>
          </a:p>
          <a:p>
            <a:pPr algn="l" indent="0" marL="0">
              <a:buNone/>
            </a:pPr>
            <a:endParaRPr lang="en-US" sz="1310" dirty="0"/>
          </a:p>
          <a:p>
            <a:pPr algn="l" indent="0" marL="0">
              <a:buNone/>
            </a:pPr>
            <a:r>
              <a:rPr lang="en-US" sz="1310" dirty="0">
                <a:solidFill>
                  <a:srgbClr val="E8E6E0"/>
                </a:solidFill>
                <a:latin typeface="Arial" pitchFamily="34" charset="0"/>
                <a:ea typeface="Arial" pitchFamily="34" charset="-122"/>
                <a:cs typeface="Arial" pitchFamily="34" charset="-120"/>
              </a:rPr>
              <a:t>Admin + analytics  •  APIs/webhooks  •  multitenancy + enterprise scale</a:t>
            </a:r>
            <a:endParaRPr lang="en-US" sz="1310" dirty="0"/>
          </a:p>
        </p:txBody>
      </p:sp>
      <p:sp>
        <p:nvSpPr>
          <p:cNvPr id="23" name="Text 21"/>
          <p:cNvSpPr txBox="1"/>
          <p:nvPr/>
        </p:nvSpPr>
        <p:spPr>
          <a:xfrm>
            <a:off x="877824" y="6016752"/>
            <a:ext cx="10469880" cy="237744"/>
          </a:xfrm>
          <a:prstGeom prst="rect">
            <a:avLst/>
          </a:prstGeom>
          <a:noFill/>
          <a:ln/>
        </p:spPr>
        <p:txBody>
          <a:bodyPr wrap="square" lIns="0" tIns="0" rIns="0" bIns="0" rtlCol="0" anchor="t">
            <a:normAutofit/>
          </a:bodyPr>
          <a:lstStyle/>
          <a:p>
            <a:pPr algn="ctr" indent="0" marL="0">
              <a:buNone/>
            </a:pPr>
            <a:r>
              <a:rPr lang="en-US" sz="1300" b="1" dirty="0">
                <a:solidFill>
                  <a:srgbClr val="E8E6E0"/>
                </a:solidFill>
                <a:latin typeface="Arial" pitchFamily="34" charset="0"/>
                <a:ea typeface="Arial" pitchFamily="34" charset="-122"/>
                <a:cs typeface="Arial" pitchFamily="34" charset="-120"/>
              </a:rPr>
              <a:t>The credible story: “We have implemented this component; the surrounding platform is proposed work.”</a:t>
            </a:r>
            <a:endParaRPr lang="en-US" sz="1300" dirty="0"/>
          </a:p>
        </p:txBody>
      </p:sp>
      <p:sp>
        <p:nvSpPr>
          <p:cNvPr id="25" name="Slide Number Placeholder 0"/>
          <p:cNvSpPr>
            <a:spLocks noGrp="1"/>
          </p:cNvSpPr>
          <p:nvPr>
            <p:ph type="sldNum" sz="quarter" idx="4294967295"/>
          </p:nvPr>
        </p:nvSpPr>
        <p:spPr>
          <a:xfrm>
            <a:off x="11109960" y="6483096"/>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9A97A3"/>
                </a:solidFill>
                <a:latin typeface="Courier New"/>
                <a:ea typeface="Courier New"/>
                <a:cs typeface="Courier New"/>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61D"/>
        </a:solidFill>
      </p:bgPr>
    </p:bg>
    <p:spTree>
      <p:nvGrpSpPr>
        <p:cNvPr id="1" name=""/>
        <p:cNvGrpSpPr/>
        <p:nvPr/>
      </p:nvGrpSpPr>
      <p:grpSpPr>
        <a:xfrm>
          <a:off x="0" y="0"/>
          <a:ext cx="0" cy="0"/>
          <a:chOff x="0" y="0"/>
          <a:chExt cx="0" cy="0"/>
        </a:xfrm>
      </p:grpSpPr>
      <p:sp>
        <p:nvSpPr>
          <p:cNvPr id="2" name="Text 0"/>
          <p:cNvSpPr txBox="1"/>
          <p:nvPr/>
        </p:nvSpPr>
        <p:spPr>
          <a:xfrm>
            <a:off x="713232" y="384048"/>
            <a:ext cx="5120640" cy="219456"/>
          </a:xfrm>
          <a:prstGeom prst="rect">
            <a:avLst/>
          </a:prstGeom>
          <a:noFill/>
          <a:ln/>
        </p:spPr>
        <p:txBody>
          <a:bodyPr wrap="square" lIns="0" tIns="0" rIns="0" bIns="0" rtlCol="0" anchor="t">
            <a:normAutofit/>
          </a:bodyPr>
          <a:lstStyle/>
          <a:p>
            <a:pPr algn="l" indent="0" marL="0">
              <a:buNone/>
            </a:pPr>
            <a:r>
              <a:rPr lang="en-US" sz="900" b="1" spc="210" kern="0" dirty="0">
                <a:solidFill>
                  <a:srgbClr val="9A97A3"/>
                </a:solidFill>
                <a:latin typeface="Courier New" pitchFamily="34" charset="0"/>
                <a:ea typeface="Courier New" pitchFamily="34" charset="-122"/>
                <a:cs typeface="Courier New" pitchFamily="34" charset="-120"/>
              </a:rPr>
              <a:t>LIVE DEMONSTRATION</a:t>
            </a:r>
            <a:endParaRPr lang="en-US" sz="900" dirty="0"/>
          </a:p>
        </p:txBody>
      </p:sp>
      <p:sp>
        <p:nvSpPr>
          <p:cNvPr id="3" name="Text 1"/>
          <p:cNvSpPr txBox="1"/>
          <p:nvPr/>
        </p:nvSpPr>
        <p:spPr>
          <a:xfrm>
            <a:off x="10424160" y="347472"/>
            <a:ext cx="1051560" cy="228600"/>
          </a:xfrm>
          <a:prstGeom prst="rect">
            <a:avLst/>
          </a:prstGeom>
          <a:noFill/>
          <a:ln/>
        </p:spPr>
        <p:txBody>
          <a:bodyPr wrap="square" lIns="0" tIns="0" rIns="0" bIns="0" rtlCol="0" anchor="t">
            <a:normAutofit/>
          </a:bodyPr>
          <a:lstStyle/>
          <a:p>
            <a:pPr algn="r" indent="0" marL="0">
              <a:buNone/>
            </a:pPr>
            <a:r>
              <a:rPr lang="en-US" sz="1000" b="1" spc="240" kern="0" dirty="0">
                <a:solidFill>
                  <a:srgbClr val="E8E6E0"/>
                </a:solidFill>
                <a:latin typeface="Courier New" pitchFamily="34" charset="0"/>
                <a:ea typeface="Courier New" pitchFamily="34" charset="-122"/>
                <a:cs typeface="Courier New" pitchFamily="34" charset="-120"/>
              </a:rPr>
              <a:t>CYBIC</a:t>
            </a:r>
            <a:endParaRPr lang="en-US" sz="1000" dirty="0"/>
          </a:p>
        </p:txBody>
      </p:sp>
      <p:sp>
        <p:nvSpPr>
          <p:cNvPr id="4" name="Text 2"/>
          <p:cNvSpPr txBox="1"/>
          <p:nvPr/>
        </p:nvSpPr>
        <p:spPr>
          <a:xfrm>
            <a:off x="685800" y="713232"/>
            <a:ext cx="10744200" cy="566928"/>
          </a:xfrm>
          <a:prstGeom prst="rect">
            <a:avLst/>
          </a:prstGeom>
          <a:noFill/>
          <a:ln/>
        </p:spPr>
        <p:txBody>
          <a:bodyPr wrap="square" lIns="0" tIns="0" rIns="0" bIns="0" rtlCol="0" anchor="t">
            <a:normAutofit/>
          </a:bodyPr>
          <a:lstStyle/>
          <a:p>
            <a:pPr algn="l" indent="0" marL="0">
              <a:buNone/>
            </a:pPr>
            <a:r>
              <a:rPr lang="en-US" sz="2800" b="1" dirty="0">
                <a:solidFill>
                  <a:srgbClr val="E8A33D"/>
                </a:solidFill>
                <a:latin typeface="Arial" pitchFamily="34" charset="0"/>
                <a:ea typeface="Arial" pitchFamily="34" charset="-122"/>
                <a:cs typeface="Arial" pitchFamily="34" charset="-120"/>
              </a:rPr>
              <a:t>What the demo should — and should not — prove</a:t>
            </a:r>
            <a:endParaRPr lang="en-US" sz="2800" dirty="0"/>
          </a:p>
        </p:txBody>
      </p:sp>
      <p:sp>
        <p:nvSpPr>
          <p:cNvPr id="5" name="Text 3"/>
          <p:cNvSpPr txBox="1"/>
          <p:nvPr/>
        </p:nvSpPr>
        <p:spPr>
          <a:xfrm>
            <a:off x="713232" y="1298448"/>
            <a:ext cx="10607040" cy="411480"/>
          </a:xfrm>
          <a:prstGeom prst="rect">
            <a:avLst/>
          </a:prstGeom>
          <a:noFill/>
          <a:ln/>
        </p:spPr>
        <p:txBody>
          <a:bodyPr wrap="square" lIns="0" tIns="0" rIns="0" bIns="0" rtlCol="0" anchor="t">
            <a:normAutofit/>
          </a:bodyPr>
          <a:lstStyle/>
          <a:p>
            <a:pPr algn="l" indent="0" marL="0">
              <a:buNone/>
            </a:pPr>
            <a:r>
              <a:rPr lang="en-US" sz="1350" dirty="0">
                <a:solidFill>
                  <a:srgbClr val="9A97A3"/>
                </a:solidFill>
                <a:latin typeface="Arial" pitchFamily="34" charset="0"/>
                <a:ea typeface="Arial" pitchFamily="34" charset="-122"/>
                <a:cs typeface="Arial" pitchFamily="34" charset="-120"/>
              </a:rPr>
              <a:t>Stop at working functionality; label the expansion path separately.</a:t>
            </a:r>
            <a:endParaRPr lang="en-US" sz="1350" dirty="0"/>
          </a:p>
        </p:txBody>
      </p:sp>
      <p:sp>
        <p:nvSpPr>
          <p:cNvPr id="6" name="Shape 4"/>
          <p:cNvSpPr/>
          <p:nvPr/>
        </p:nvSpPr>
        <p:spPr>
          <a:xfrm>
            <a:off x="658368" y="6428232"/>
            <a:ext cx="10863072" cy="0"/>
          </a:xfrm>
          <a:prstGeom prst="line">
            <a:avLst/>
          </a:prstGeom>
          <a:noFill/>
          <a:ln w="8890">
            <a:solidFill>
              <a:srgbClr val="34323E"/>
            </a:solidFill>
            <a:prstDash val="solid"/>
          </a:ln>
        </p:spPr>
      </p:sp>
      <p:sp>
        <p:nvSpPr>
          <p:cNvPr id="7" name="Text 5"/>
          <p:cNvSpPr txBox="1"/>
          <p:nvPr/>
        </p:nvSpPr>
        <p:spPr>
          <a:xfrm>
            <a:off x="685800" y="6473952"/>
            <a:ext cx="2926080" cy="146304"/>
          </a:xfrm>
          <a:prstGeom prst="rect">
            <a:avLst/>
          </a:prstGeom>
          <a:noFill/>
          <a:ln/>
        </p:spPr>
        <p:txBody>
          <a:bodyPr wrap="square" lIns="0" tIns="0" rIns="0" bIns="0" rtlCol="0" anchor="t">
            <a:normAutofit/>
          </a:bodyPr>
          <a:lstStyle/>
          <a:p>
            <a:pPr algn="l" indent="0" marL="0">
              <a:buNone/>
            </a:pPr>
            <a:r>
              <a:rPr lang="en-US" sz="750" spc="120" kern="0" dirty="0">
                <a:solidFill>
                  <a:srgbClr val="9A97A3"/>
                </a:solidFill>
                <a:latin typeface="Courier New" pitchFamily="34" charset="0"/>
                <a:ea typeface="Courier New" pitchFamily="34" charset="-122"/>
                <a:cs typeface="Courier New" pitchFamily="34" charset="-120"/>
              </a:rPr>
              <a:t>CYBIC  •  CONFIDENTIAL</a:t>
            </a:r>
            <a:endParaRPr lang="en-US" sz="750" dirty="0"/>
          </a:p>
        </p:txBody>
      </p:sp>
      <p:sp>
        <p:nvSpPr>
          <p:cNvPr id="8" name="Shape 6"/>
          <p:cNvSpPr/>
          <p:nvPr/>
        </p:nvSpPr>
        <p:spPr>
          <a:xfrm>
            <a:off x="713232" y="1719072"/>
            <a:ext cx="5193792" cy="4251960"/>
          </a:xfrm>
          <a:prstGeom prst="roundRect">
            <a:avLst/>
          </a:prstGeom>
          <a:solidFill>
            <a:srgbClr val="20382F"/>
          </a:solidFill>
          <a:ln w="13970">
            <a:solidFill>
              <a:srgbClr val="7CC7A5"/>
            </a:solidFill>
            <a:prstDash val="solid"/>
          </a:ln>
        </p:spPr>
      </p:sp>
      <p:sp>
        <p:nvSpPr>
          <p:cNvPr id="9" name="Shape 7"/>
          <p:cNvSpPr/>
          <p:nvPr/>
        </p:nvSpPr>
        <p:spPr>
          <a:xfrm>
            <a:off x="950976" y="1938528"/>
            <a:ext cx="1078992" cy="310896"/>
          </a:xfrm>
          <a:prstGeom prst="roundRect">
            <a:avLst/>
          </a:prstGeom>
          <a:solidFill>
            <a:srgbClr val="20382F"/>
          </a:solidFill>
          <a:ln w="10160">
            <a:solidFill>
              <a:srgbClr val="7CC7A5"/>
            </a:solidFill>
            <a:prstDash val="solid"/>
          </a:ln>
        </p:spPr>
      </p:sp>
      <p:sp>
        <p:nvSpPr>
          <p:cNvPr id="10" name="Text 8"/>
          <p:cNvSpPr txBox="1"/>
          <p:nvPr/>
        </p:nvSpPr>
        <p:spPr>
          <a:xfrm>
            <a:off x="996696" y="1975104"/>
            <a:ext cx="987552" cy="246888"/>
          </a:xfrm>
          <a:prstGeom prst="rect">
            <a:avLst/>
          </a:prstGeom>
          <a:noFill/>
          <a:ln/>
        </p:spPr>
        <p:txBody>
          <a:bodyPr wrap="square" lIns="0" tIns="0" rIns="0" bIns="0" rtlCol="0" anchor="ctr">
            <a:normAutofit/>
          </a:bodyPr>
          <a:lstStyle/>
          <a:p>
            <a:pPr algn="ctr" indent="0" marL="0">
              <a:buNone/>
            </a:pPr>
            <a:r>
              <a:rPr lang="en-US" sz="850" b="1" spc="100" kern="0" dirty="0">
                <a:solidFill>
                  <a:srgbClr val="7CC7A5"/>
                </a:solidFill>
                <a:latin typeface="Courier New" pitchFamily="34" charset="0"/>
                <a:ea typeface="Courier New" pitchFamily="34" charset="-122"/>
                <a:cs typeface="Courier New" pitchFamily="34" charset="-120"/>
              </a:rPr>
              <a:t>SHOW LIVE</a:t>
            </a:r>
            <a:endParaRPr lang="en-US" sz="850" dirty="0"/>
          </a:p>
        </p:txBody>
      </p:sp>
      <p:sp>
        <p:nvSpPr>
          <p:cNvPr id="11" name="Shape 9"/>
          <p:cNvSpPr/>
          <p:nvPr/>
        </p:nvSpPr>
        <p:spPr>
          <a:xfrm>
            <a:off x="960120" y="2432304"/>
            <a:ext cx="219456" cy="219456"/>
          </a:xfrm>
          <a:prstGeom prst="ellipse">
            <a:avLst/>
          </a:prstGeom>
          <a:solidFill>
            <a:srgbClr val="7CC7A5"/>
          </a:solidFill>
          <a:ln w="12700">
            <a:solidFill>
              <a:srgbClr val="7CC7A5"/>
            </a:solidFill>
            <a:prstDash val="solid"/>
          </a:ln>
        </p:spPr>
      </p:sp>
      <p:sp>
        <p:nvSpPr>
          <p:cNvPr id="12" name="Text 10"/>
          <p:cNvSpPr txBox="1"/>
          <p:nvPr/>
        </p:nvSpPr>
        <p:spPr>
          <a:xfrm>
            <a:off x="1010412" y="2483510"/>
            <a:ext cx="118872" cy="109728"/>
          </a:xfrm>
          <a:prstGeom prst="rect">
            <a:avLst/>
          </a:prstGeom>
          <a:noFill/>
          <a:ln/>
        </p:spPr>
        <p:txBody>
          <a:bodyPr wrap="square" lIns="0" tIns="0" rIns="0" bIns="0" rtlCol="0" anchor="t">
            <a:normAutofit/>
          </a:bodyPr>
          <a:lstStyle/>
          <a:p>
            <a:pPr algn="ctr" indent="0" marL="0">
              <a:buNone/>
            </a:pPr>
            <a:r>
              <a:rPr lang="en-US" sz="650" b="1" dirty="0">
                <a:solidFill>
                  <a:srgbClr val="16161D"/>
                </a:solidFill>
                <a:latin typeface="Courier New" pitchFamily="34" charset="0"/>
                <a:ea typeface="Courier New" pitchFamily="34" charset="-122"/>
                <a:cs typeface="Courier New" pitchFamily="34" charset="-120"/>
              </a:rPr>
              <a:t>1</a:t>
            </a:r>
            <a:endParaRPr lang="en-US" sz="650" dirty="0"/>
          </a:p>
        </p:txBody>
      </p:sp>
      <p:sp>
        <p:nvSpPr>
          <p:cNvPr id="13" name="Text 11"/>
          <p:cNvSpPr txBox="1"/>
          <p:nvPr/>
        </p:nvSpPr>
        <p:spPr>
          <a:xfrm>
            <a:off x="1344168" y="2404872"/>
            <a:ext cx="4187952" cy="256032"/>
          </a:xfrm>
          <a:prstGeom prst="rect">
            <a:avLst/>
          </a:prstGeom>
          <a:noFill/>
          <a:ln/>
        </p:spPr>
        <p:txBody>
          <a:bodyPr wrap="square" lIns="0" tIns="0" rIns="0" bIns="0" rtlCol="0" anchor="t">
            <a:normAutofit/>
          </a:bodyPr>
          <a:lstStyle/>
          <a:p>
            <a:pPr algn="l" indent="0" marL="0">
              <a:buNone/>
            </a:pPr>
            <a:r>
              <a:rPr lang="en-US" sz="1220" dirty="0">
                <a:solidFill>
                  <a:srgbClr val="E8E6E0"/>
                </a:solidFill>
                <a:latin typeface="Arial" pitchFamily="34" charset="0"/>
                <a:ea typeface="Arial" pitchFamily="34" charset="-122"/>
                <a:cs typeface="Arial" pitchFamily="34" charset="-120"/>
              </a:rPr>
              <a:t>Capture agent mic + customer/system audio</a:t>
            </a:r>
            <a:endParaRPr lang="en-US" sz="1220" dirty="0"/>
          </a:p>
        </p:txBody>
      </p:sp>
      <p:sp>
        <p:nvSpPr>
          <p:cNvPr id="14" name="Shape 12"/>
          <p:cNvSpPr/>
          <p:nvPr/>
        </p:nvSpPr>
        <p:spPr>
          <a:xfrm>
            <a:off x="960120" y="2871216"/>
            <a:ext cx="219456" cy="219456"/>
          </a:xfrm>
          <a:prstGeom prst="ellipse">
            <a:avLst/>
          </a:prstGeom>
          <a:solidFill>
            <a:srgbClr val="7CC7A5"/>
          </a:solidFill>
          <a:ln w="12700">
            <a:solidFill>
              <a:srgbClr val="7CC7A5"/>
            </a:solidFill>
            <a:prstDash val="solid"/>
          </a:ln>
        </p:spPr>
      </p:sp>
      <p:sp>
        <p:nvSpPr>
          <p:cNvPr id="15" name="Text 13"/>
          <p:cNvSpPr txBox="1"/>
          <p:nvPr/>
        </p:nvSpPr>
        <p:spPr>
          <a:xfrm>
            <a:off x="1010412" y="2922422"/>
            <a:ext cx="118872" cy="109728"/>
          </a:xfrm>
          <a:prstGeom prst="rect">
            <a:avLst/>
          </a:prstGeom>
          <a:noFill/>
          <a:ln/>
        </p:spPr>
        <p:txBody>
          <a:bodyPr wrap="square" lIns="0" tIns="0" rIns="0" bIns="0" rtlCol="0" anchor="t">
            <a:normAutofit/>
          </a:bodyPr>
          <a:lstStyle/>
          <a:p>
            <a:pPr algn="ctr" indent="0" marL="0">
              <a:buNone/>
            </a:pPr>
            <a:r>
              <a:rPr lang="en-US" sz="650" b="1" dirty="0">
                <a:solidFill>
                  <a:srgbClr val="16161D"/>
                </a:solidFill>
                <a:latin typeface="Courier New" pitchFamily="34" charset="0"/>
                <a:ea typeface="Courier New" pitchFamily="34" charset="-122"/>
                <a:cs typeface="Courier New" pitchFamily="34" charset="-120"/>
              </a:rPr>
              <a:t>2</a:t>
            </a:r>
            <a:endParaRPr lang="en-US" sz="650" dirty="0"/>
          </a:p>
        </p:txBody>
      </p:sp>
      <p:sp>
        <p:nvSpPr>
          <p:cNvPr id="16" name="Text 14"/>
          <p:cNvSpPr txBox="1"/>
          <p:nvPr/>
        </p:nvSpPr>
        <p:spPr>
          <a:xfrm>
            <a:off x="1344168" y="2843784"/>
            <a:ext cx="4187952" cy="256032"/>
          </a:xfrm>
          <a:prstGeom prst="rect">
            <a:avLst/>
          </a:prstGeom>
          <a:noFill/>
          <a:ln/>
        </p:spPr>
        <p:txBody>
          <a:bodyPr wrap="square" lIns="0" tIns="0" rIns="0" bIns="0" rtlCol="0" anchor="t">
            <a:normAutofit/>
          </a:bodyPr>
          <a:lstStyle/>
          <a:p>
            <a:pPr algn="l" indent="0" marL="0">
              <a:buNone/>
            </a:pPr>
            <a:r>
              <a:rPr lang="en-US" sz="1220" dirty="0">
                <a:solidFill>
                  <a:srgbClr val="E8E6E0"/>
                </a:solidFill>
                <a:latin typeface="Arial" pitchFamily="34" charset="0"/>
                <a:ea typeface="Arial" pitchFamily="34" charset="-122"/>
                <a:cs typeface="Arial" pitchFamily="34" charset="-120"/>
              </a:rPr>
              <a:t>Show live local transcription</a:t>
            </a:r>
            <a:endParaRPr lang="en-US" sz="1220" dirty="0"/>
          </a:p>
        </p:txBody>
      </p:sp>
      <p:sp>
        <p:nvSpPr>
          <p:cNvPr id="17" name="Shape 15"/>
          <p:cNvSpPr/>
          <p:nvPr/>
        </p:nvSpPr>
        <p:spPr>
          <a:xfrm>
            <a:off x="960120" y="3310128"/>
            <a:ext cx="219456" cy="219456"/>
          </a:xfrm>
          <a:prstGeom prst="ellipse">
            <a:avLst/>
          </a:prstGeom>
          <a:solidFill>
            <a:srgbClr val="7CC7A5"/>
          </a:solidFill>
          <a:ln w="12700">
            <a:solidFill>
              <a:srgbClr val="7CC7A5"/>
            </a:solidFill>
            <a:prstDash val="solid"/>
          </a:ln>
        </p:spPr>
      </p:sp>
      <p:sp>
        <p:nvSpPr>
          <p:cNvPr id="18" name="Text 16"/>
          <p:cNvSpPr txBox="1"/>
          <p:nvPr/>
        </p:nvSpPr>
        <p:spPr>
          <a:xfrm>
            <a:off x="1010412" y="3361334"/>
            <a:ext cx="118872" cy="109728"/>
          </a:xfrm>
          <a:prstGeom prst="rect">
            <a:avLst/>
          </a:prstGeom>
          <a:noFill/>
          <a:ln/>
        </p:spPr>
        <p:txBody>
          <a:bodyPr wrap="square" lIns="0" tIns="0" rIns="0" bIns="0" rtlCol="0" anchor="t">
            <a:normAutofit/>
          </a:bodyPr>
          <a:lstStyle/>
          <a:p>
            <a:pPr algn="ctr" indent="0" marL="0">
              <a:buNone/>
            </a:pPr>
            <a:r>
              <a:rPr lang="en-US" sz="650" b="1" dirty="0">
                <a:solidFill>
                  <a:srgbClr val="16161D"/>
                </a:solidFill>
                <a:latin typeface="Courier New" pitchFamily="34" charset="0"/>
                <a:ea typeface="Courier New" pitchFamily="34" charset="-122"/>
                <a:cs typeface="Courier New" pitchFamily="34" charset="-120"/>
              </a:rPr>
              <a:t>3</a:t>
            </a:r>
            <a:endParaRPr lang="en-US" sz="650" dirty="0"/>
          </a:p>
        </p:txBody>
      </p:sp>
      <p:sp>
        <p:nvSpPr>
          <p:cNvPr id="19" name="Text 17"/>
          <p:cNvSpPr txBox="1"/>
          <p:nvPr/>
        </p:nvSpPr>
        <p:spPr>
          <a:xfrm>
            <a:off x="1344168" y="3282696"/>
            <a:ext cx="4187952" cy="256032"/>
          </a:xfrm>
          <a:prstGeom prst="rect">
            <a:avLst/>
          </a:prstGeom>
          <a:noFill/>
          <a:ln/>
        </p:spPr>
        <p:txBody>
          <a:bodyPr wrap="square" lIns="0" tIns="0" rIns="0" bIns="0" rtlCol="0" anchor="t">
            <a:normAutofit/>
          </a:bodyPr>
          <a:lstStyle/>
          <a:p>
            <a:pPr algn="l" indent="0" marL="0">
              <a:buNone/>
            </a:pPr>
            <a:r>
              <a:rPr lang="en-US" sz="1220" dirty="0">
                <a:solidFill>
                  <a:srgbClr val="E8E6E0"/>
                </a:solidFill>
                <a:latin typeface="Arial" pitchFamily="34" charset="0"/>
                <a:ea typeface="Arial" pitchFamily="34" charset="-122"/>
                <a:cs typeface="Arial" pitchFamily="34" charset="-120"/>
              </a:rPr>
              <a:t>Ignore narration and small talk</a:t>
            </a:r>
            <a:endParaRPr lang="en-US" sz="1220" dirty="0"/>
          </a:p>
        </p:txBody>
      </p:sp>
      <p:sp>
        <p:nvSpPr>
          <p:cNvPr id="20" name="Shape 18"/>
          <p:cNvSpPr/>
          <p:nvPr/>
        </p:nvSpPr>
        <p:spPr>
          <a:xfrm>
            <a:off x="960120" y="3749040"/>
            <a:ext cx="219456" cy="219456"/>
          </a:xfrm>
          <a:prstGeom prst="ellipse">
            <a:avLst/>
          </a:prstGeom>
          <a:solidFill>
            <a:srgbClr val="7CC7A5"/>
          </a:solidFill>
          <a:ln w="12700">
            <a:solidFill>
              <a:srgbClr val="7CC7A5"/>
            </a:solidFill>
            <a:prstDash val="solid"/>
          </a:ln>
        </p:spPr>
      </p:sp>
      <p:sp>
        <p:nvSpPr>
          <p:cNvPr id="21" name="Text 19"/>
          <p:cNvSpPr txBox="1"/>
          <p:nvPr/>
        </p:nvSpPr>
        <p:spPr>
          <a:xfrm>
            <a:off x="1010412" y="3800246"/>
            <a:ext cx="118872" cy="109728"/>
          </a:xfrm>
          <a:prstGeom prst="rect">
            <a:avLst/>
          </a:prstGeom>
          <a:noFill/>
          <a:ln/>
        </p:spPr>
        <p:txBody>
          <a:bodyPr wrap="square" lIns="0" tIns="0" rIns="0" bIns="0" rtlCol="0" anchor="t">
            <a:normAutofit/>
          </a:bodyPr>
          <a:lstStyle/>
          <a:p>
            <a:pPr algn="ctr" indent="0" marL="0">
              <a:buNone/>
            </a:pPr>
            <a:r>
              <a:rPr lang="en-US" sz="650" b="1" dirty="0">
                <a:solidFill>
                  <a:srgbClr val="16161D"/>
                </a:solidFill>
                <a:latin typeface="Courier New" pitchFamily="34" charset="0"/>
                <a:ea typeface="Courier New" pitchFamily="34" charset="-122"/>
                <a:cs typeface="Courier New" pitchFamily="34" charset="-120"/>
              </a:rPr>
              <a:t>4</a:t>
            </a:r>
            <a:endParaRPr lang="en-US" sz="650" dirty="0"/>
          </a:p>
        </p:txBody>
      </p:sp>
      <p:sp>
        <p:nvSpPr>
          <p:cNvPr id="22" name="Text 20"/>
          <p:cNvSpPr txBox="1"/>
          <p:nvPr/>
        </p:nvSpPr>
        <p:spPr>
          <a:xfrm>
            <a:off x="1344168" y="3721608"/>
            <a:ext cx="4187952" cy="256032"/>
          </a:xfrm>
          <a:prstGeom prst="rect">
            <a:avLst/>
          </a:prstGeom>
          <a:noFill/>
          <a:ln/>
        </p:spPr>
        <p:txBody>
          <a:bodyPr wrap="square" lIns="0" tIns="0" rIns="0" bIns="0" rtlCol="0" anchor="t">
            <a:normAutofit/>
          </a:bodyPr>
          <a:lstStyle/>
          <a:p>
            <a:pPr algn="l" indent="0" marL="0">
              <a:buNone/>
            </a:pPr>
            <a:r>
              <a:rPr lang="en-US" sz="1220" dirty="0">
                <a:solidFill>
                  <a:srgbClr val="E8E6E0"/>
                </a:solidFill>
                <a:latin typeface="Arial" pitchFamily="34" charset="0"/>
                <a:ea typeface="Arial" pitchFamily="34" charset="-122"/>
                <a:cs typeface="Arial" pitchFamily="34" charset="-120"/>
              </a:rPr>
              <a:t>Answer direct and indirect information requests</a:t>
            </a:r>
            <a:endParaRPr lang="en-US" sz="1220" dirty="0"/>
          </a:p>
        </p:txBody>
      </p:sp>
      <p:sp>
        <p:nvSpPr>
          <p:cNvPr id="23" name="Shape 21"/>
          <p:cNvSpPr/>
          <p:nvPr/>
        </p:nvSpPr>
        <p:spPr>
          <a:xfrm>
            <a:off x="960120" y="4187952"/>
            <a:ext cx="219456" cy="219456"/>
          </a:xfrm>
          <a:prstGeom prst="ellipse">
            <a:avLst/>
          </a:prstGeom>
          <a:solidFill>
            <a:srgbClr val="7CC7A5"/>
          </a:solidFill>
          <a:ln w="12700">
            <a:solidFill>
              <a:srgbClr val="7CC7A5"/>
            </a:solidFill>
            <a:prstDash val="solid"/>
          </a:ln>
        </p:spPr>
      </p:sp>
      <p:sp>
        <p:nvSpPr>
          <p:cNvPr id="24" name="Text 22"/>
          <p:cNvSpPr txBox="1"/>
          <p:nvPr/>
        </p:nvSpPr>
        <p:spPr>
          <a:xfrm>
            <a:off x="1010412" y="4239158"/>
            <a:ext cx="118872" cy="109728"/>
          </a:xfrm>
          <a:prstGeom prst="rect">
            <a:avLst/>
          </a:prstGeom>
          <a:noFill/>
          <a:ln/>
        </p:spPr>
        <p:txBody>
          <a:bodyPr wrap="square" lIns="0" tIns="0" rIns="0" bIns="0" rtlCol="0" anchor="t">
            <a:normAutofit/>
          </a:bodyPr>
          <a:lstStyle/>
          <a:p>
            <a:pPr algn="ctr" indent="0" marL="0">
              <a:buNone/>
            </a:pPr>
            <a:r>
              <a:rPr lang="en-US" sz="650" b="1" dirty="0">
                <a:solidFill>
                  <a:srgbClr val="16161D"/>
                </a:solidFill>
                <a:latin typeface="Courier New" pitchFamily="34" charset="0"/>
                <a:ea typeface="Courier New" pitchFamily="34" charset="-122"/>
                <a:cs typeface="Courier New" pitchFamily="34" charset="-120"/>
              </a:rPr>
              <a:t>5</a:t>
            </a:r>
            <a:endParaRPr lang="en-US" sz="650" dirty="0"/>
          </a:p>
        </p:txBody>
      </p:sp>
      <p:sp>
        <p:nvSpPr>
          <p:cNvPr id="25" name="Text 23"/>
          <p:cNvSpPr txBox="1"/>
          <p:nvPr/>
        </p:nvSpPr>
        <p:spPr>
          <a:xfrm>
            <a:off x="1344168" y="4160520"/>
            <a:ext cx="4187952" cy="256032"/>
          </a:xfrm>
          <a:prstGeom prst="rect">
            <a:avLst/>
          </a:prstGeom>
          <a:noFill/>
          <a:ln/>
        </p:spPr>
        <p:txBody>
          <a:bodyPr wrap="square" lIns="0" tIns="0" rIns="0" bIns="0" rtlCol="0" anchor="t">
            <a:normAutofit/>
          </a:bodyPr>
          <a:lstStyle/>
          <a:p>
            <a:pPr algn="l" indent="0" marL="0">
              <a:buNone/>
            </a:pPr>
            <a:r>
              <a:rPr lang="en-US" sz="1220" dirty="0">
                <a:solidFill>
                  <a:srgbClr val="E8E6E0"/>
                </a:solidFill>
                <a:latin typeface="Arial" pitchFamily="34" charset="0"/>
                <a:ea typeface="Arial" pitchFamily="34" charset="-122"/>
                <a:cs typeface="Arial" pitchFamily="34" charset="-120"/>
              </a:rPr>
              <a:t>Resolve a follow-up from current-session context</a:t>
            </a:r>
            <a:endParaRPr lang="en-US" sz="1220" dirty="0"/>
          </a:p>
        </p:txBody>
      </p:sp>
      <p:sp>
        <p:nvSpPr>
          <p:cNvPr id="26" name="Shape 24"/>
          <p:cNvSpPr/>
          <p:nvPr/>
        </p:nvSpPr>
        <p:spPr>
          <a:xfrm>
            <a:off x="960120" y="4626864"/>
            <a:ext cx="219456" cy="219456"/>
          </a:xfrm>
          <a:prstGeom prst="ellipse">
            <a:avLst/>
          </a:prstGeom>
          <a:solidFill>
            <a:srgbClr val="7CC7A5"/>
          </a:solidFill>
          <a:ln w="12700">
            <a:solidFill>
              <a:srgbClr val="7CC7A5"/>
            </a:solidFill>
            <a:prstDash val="solid"/>
          </a:ln>
        </p:spPr>
      </p:sp>
      <p:sp>
        <p:nvSpPr>
          <p:cNvPr id="27" name="Text 25"/>
          <p:cNvSpPr txBox="1"/>
          <p:nvPr/>
        </p:nvSpPr>
        <p:spPr>
          <a:xfrm>
            <a:off x="1010412" y="4678070"/>
            <a:ext cx="118872" cy="109728"/>
          </a:xfrm>
          <a:prstGeom prst="rect">
            <a:avLst/>
          </a:prstGeom>
          <a:noFill/>
          <a:ln/>
        </p:spPr>
        <p:txBody>
          <a:bodyPr wrap="square" lIns="0" tIns="0" rIns="0" bIns="0" rtlCol="0" anchor="t">
            <a:normAutofit/>
          </a:bodyPr>
          <a:lstStyle/>
          <a:p>
            <a:pPr algn="ctr" indent="0" marL="0">
              <a:buNone/>
            </a:pPr>
            <a:r>
              <a:rPr lang="en-US" sz="650" b="1" dirty="0">
                <a:solidFill>
                  <a:srgbClr val="16161D"/>
                </a:solidFill>
                <a:latin typeface="Courier New" pitchFamily="34" charset="0"/>
                <a:ea typeface="Courier New" pitchFamily="34" charset="-122"/>
                <a:cs typeface="Courier New" pitchFamily="34" charset="-120"/>
              </a:rPr>
              <a:t>6</a:t>
            </a:r>
            <a:endParaRPr lang="en-US" sz="650" dirty="0"/>
          </a:p>
        </p:txBody>
      </p:sp>
      <p:sp>
        <p:nvSpPr>
          <p:cNvPr id="28" name="Text 26"/>
          <p:cNvSpPr txBox="1"/>
          <p:nvPr/>
        </p:nvSpPr>
        <p:spPr>
          <a:xfrm>
            <a:off x="1344168" y="4599432"/>
            <a:ext cx="4187952" cy="256032"/>
          </a:xfrm>
          <a:prstGeom prst="rect">
            <a:avLst/>
          </a:prstGeom>
          <a:noFill/>
          <a:ln/>
        </p:spPr>
        <p:txBody>
          <a:bodyPr wrap="square" lIns="0" tIns="0" rIns="0" bIns="0" rtlCol="0" anchor="t">
            <a:normAutofit/>
          </a:bodyPr>
          <a:lstStyle/>
          <a:p>
            <a:pPr algn="l" indent="0" marL="0">
              <a:buNone/>
            </a:pPr>
            <a:r>
              <a:rPr lang="en-US" sz="1220" dirty="0">
                <a:solidFill>
                  <a:srgbClr val="E8E6E0"/>
                </a:solidFill>
                <a:latin typeface="Arial" pitchFamily="34" charset="0"/>
                <a:ea typeface="Arial" pitchFamily="34" charset="-122"/>
                <a:cs typeface="Arial" pitchFamily="34" charset="-120"/>
              </a:rPr>
              <a:t>Switch a local context profile</a:t>
            </a:r>
            <a:endParaRPr lang="en-US" sz="1220" dirty="0"/>
          </a:p>
        </p:txBody>
      </p:sp>
      <p:sp>
        <p:nvSpPr>
          <p:cNvPr id="29" name="Shape 27"/>
          <p:cNvSpPr/>
          <p:nvPr/>
        </p:nvSpPr>
        <p:spPr>
          <a:xfrm>
            <a:off x="960120" y="5065776"/>
            <a:ext cx="219456" cy="219456"/>
          </a:xfrm>
          <a:prstGeom prst="ellipse">
            <a:avLst/>
          </a:prstGeom>
          <a:solidFill>
            <a:srgbClr val="7CC7A5"/>
          </a:solidFill>
          <a:ln w="12700">
            <a:solidFill>
              <a:srgbClr val="7CC7A5"/>
            </a:solidFill>
            <a:prstDash val="solid"/>
          </a:ln>
        </p:spPr>
      </p:sp>
      <p:sp>
        <p:nvSpPr>
          <p:cNvPr id="30" name="Text 28"/>
          <p:cNvSpPr txBox="1"/>
          <p:nvPr/>
        </p:nvSpPr>
        <p:spPr>
          <a:xfrm>
            <a:off x="1010412" y="5116982"/>
            <a:ext cx="118872" cy="109728"/>
          </a:xfrm>
          <a:prstGeom prst="rect">
            <a:avLst/>
          </a:prstGeom>
          <a:noFill/>
          <a:ln/>
        </p:spPr>
        <p:txBody>
          <a:bodyPr wrap="square" lIns="0" tIns="0" rIns="0" bIns="0" rtlCol="0" anchor="t">
            <a:normAutofit/>
          </a:bodyPr>
          <a:lstStyle/>
          <a:p>
            <a:pPr algn="ctr" indent="0" marL="0">
              <a:buNone/>
            </a:pPr>
            <a:r>
              <a:rPr lang="en-US" sz="650" b="1" dirty="0">
                <a:solidFill>
                  <a:srgbClr val="16161D"/>
                </a:solidFill>
                <a:latin typeface="Courier New" pitchFamily="34" charset="0"/>
                <a:ea typeface="Courier New" pitchFamily="34" charset="-122"/>
                <a:cs typeface="Courier New" pitchFamily="34" charset="-120"/>
              </a:rPr>
              <a:t>7</a:t>
            </a:r>
            <a:endParaRPr lang="en-US" sz="650" dirty="0"/>
          </a:p>
        </p:txBody>
      </p:sp>
      <p:sp>
        <p:nvSpPr>
          <p:cNvPr id="31" name="Text 29"/>
          <p:cNvSpPr txBox="1"/>
          <p:nvPr/>
        </p:nvSpPr>
        <p:spPr>
          <a:xfrm>
            <a:off x="1344168" y="5038344"/>
            <a:ext cx="4187952" cy="256032"/>
          </a:xfrm>
          <a:prstGeom prst="rect">
            <a:avLst/>
          </a:prstGeom>
          <a:noFill/>
          <a:ln/>
        </p:spPr>
        <p:txBody>
          <a:bodyPr wrap="square" lIns="0" tIns="0" rIns="0" bIns="0" rtlCol="0" anchor="t">
            <a:normAutofit/>
          </a:bodyPr>
          <a:lstStyle/>
          <a:p>
            <a:pPr algn="l" indent="0" marL="0">
              <a:buNone/>
            </a:pPr>
            <a:r>
              <a:rPr lang="en-US" sz="1220" dirty="0">
                <a:solidFill>
                  <a:srgbClr val="E8E6E0"/>
                </a:solidFill>
                <a:latin typeface="Arial" pitchFamily="34" charset="0"/>
                <a:ea typeface="Arial" pitchFamily="34" charset="-122"/>
                <a:cs typeface="Arial" pitchFamily="34" charset="-120"/>
              </a:rPr>
              <a:t>Audit, recover, and replay the session</a:t>
            </a:r>
            <a:endParaRPr lang="en-US" sz="1220" dirty="0"/>
          </a:p>
        </p:txBody>
      </p:sp>
      <p:sp>
        <p:nvSpPr>
          <p:cNvPr id="32" name="Shape 30"/>
          <p:cNvSpPr/>
          <p:nvPr/>
        </p:nvSpPr>
        <p:spPr>
          <a:xfrm>
            <a:off x="6199632" y="1719072"/>
            <a:ext cx="5065776" cy="4251960"/>
          </a:xfrm>
          <a:prstGeom prst="roundRect">
            <a:avLst/>
          </a:prstGeom>
          <a:solidFill>
            <a:srgbClr val="3D2020"/>
          </a:solidFill>
          <a:ln w="13970">
            <a:solidFill>
              <a:srgbClr val="E86F6F"/>
            </a:solidFill>
            <a:prstDash val="solid"/>
          </a:ln>
        </p:spPr>
      </p:sp>
      <p:sp>
        <p:nvSpPr>
          <p:cNvPr id="33" name="Shape 31"/>
          <p:cNvSpPr/>
          <p:nvPr/>
        </p:nvSpPr>
        <p:spPr>
          <a:xfrm>
            <a:off x="6437376" y="1938528"/>
            <a:ext cx="1444752" cy="310896"/>
          </a:xfrm>
          <a:prstGeom prst="roundRect">
            <a:avLst/>
          </a:prstGeom>
          <a:solidFill>
            <a:srgbClr val="3D2020"/>
          </a:solidFill>
          <a:ln w="10160">
            <a:solidFill>
              <a:srgbClr val="E86F6F"/>
            </a:solidFill>
            <a:prstDash val="solid"/>
          </a:ln>
        </p:spPr>
      </p:sp>
      <p:sp>
        <p:nvSpPr>
          <p:cNvPr id="34" name="Text 32"/>
          <p:cNvSpPr txBox="1"/>
          <p:nvPr/>
        </p:nvSpPr>
        <p:spPr>
          <a:xfrm>
            <a:off x="6483096" y="1975104"/>
            <a:ext cx="1353312" cy="246888"/>
          </a:xfrm>
          <a:prstGeom prst="rect">
            <a:avLst/>
          </a:prstGeom>
          <a:noFill/>
          <a:ln/>
        </p:spPr>
        <p:txBody>
          <a:bodyPr wrap="square" lIns="0" tIns="0" rIns="0" bIns="0" rtlCol="0" anchor="ctr">
            <a:normAutofit/>
          </a:bodyPr>
          <a:lstStyle/>
          <a:p>
            <a:pPr algn="ctr" indent="0" marL="0">
              <a:buNone/>
            </a:pPr>
            <a:r>
              <a:rPr lang="en-US" sz="850" b="1" spc="100" kern="0" dirty="0">
                <a:solidFill>
                  <a:srgbClr val="E86F6F"/>
                </a:solidFill>
                <a:latin typeface="Courier New" pitchFamily="34" charset="0"/>
                <a:ea typeface="Courier New" pitchFamily="34" charset="-122"/>
                <a:cs typeface="Courier New" pitchFamily="34" charset="-120"/>
              </a:rPr>
              <a:t>DO NOT IMPLY</a:t>
            </a:r>
            <a:endParaRPr lang="en-US" sz="850" dirty="0"/>
          </a:p>
        </p:txBody>
      </p:sp>
      <p:sp>
        <p:nvSpPr>
          <p:cNvPr id="35" name="Text 33"/>
          <p:cNvSpPr txBox="1"/>
          <p:nvPr/>
        </p:nvSpPr>
        <p:spPr>
          <a:xfrm>
            <a:off x="6473952" y="2459736"/>
            <a:ext cx="201168" cy="274320"/>
          </a:xfrm>
          <a:prstGeom prst="rect">
            <a:avLst/>
          </a:prstGeom>
          <a:noFill/>
          <a:ln/>
        </p:spPr>
        <p:txBody>
          <a:bodyPr wrap="square" lIns="0" tIns="0" rIns="0" bIns="0" rtlCol="0" anchor="ctr">
            <a:normAutofit/>
          </a:bodyPr>
          <a:lstStyle/>
          <a:p>
            <a:pPr algn="ctr" indent="0" marL="0">
              <a:buNone/>
            </a:pPr>
            <a:r>
              <a:rPr lang="en-US" sz="1600" b="1" dirty="0">
                <a:solidFill>
                  <a:srgbClr val="E86F6F"/>
                </a:solidFill>
                <a:latin typeface="Arial" pitchFamily="34" charset="0"/>
                <a:ea typeface="Arial" pitchFamily="34" charset="-122"/>
                <a:cs typeface="Arial" pitchFamily="34" charset="-120"/>
              </a:rPr>
              <a:t>×</a:t>
            </a:r>
            <a:endParaRPr lang="en-US" sz="1600" dirty="0"/>
          </a:p>
        </p:txBody>
      </p:sp>
      <p:sp>
        <p:nvSpPr>
          <p:cNvPr id="36" name="Text 34"/>
          <p:cNvSpPr txBox="1"/>
          <p:nvPr/>
        </p:nvSpPr>
        <p:spPr>
          <a:xfrm>
            <a:off x="6839712" y="2487168"/>
            <a:ext cx="4069080" cy="356616"/>
          </a:xfrm>
          <a:prstGeom prst="rect">
            <a:avLst/>
          </a:prstGeom>
          <a:noFill/>
          <a:ln/>
        </p:spPr>
        <p:txBody>
          <a:bodyPr wrap="square" lIns="0" tIns="0" rIns="0" bIns="0" rtlCol="0" anchor="t">
            <a:normAutofit/>
          </a:bodyPr>
          <a:lstStyle/>
          <a:p>
            <a:pPr algn="l" indent="0" marL="0">
              <a:buNone/>
            </a:pPr>
            <a:r>
              <a:rPr lang="en-US" sz="1250" dirty="0">
                <a:solidFill>
                  <a:srgbClr val="E8E6E0"/>
                </a:solidFill>
                <a:latin typeface="Arial" pitchFamily="34" charset="0"/>
                <a:ea typeface="Arial" pitchFamily="34" charset="-122"/>
                <a:cs typeface="Arial" pitchFamily="34" charset="-120"/>
              </a:rPr>
              <a:t>Inbound call answering or outbound dialing</a:t>
            </a:r>
            <a:endParaRPr lang="en-US" sz="1250" dirty="0"/>
          </a:p>
        </p:txBody>
      </p:sp>
      <p:sp>
        <p:nvSpPr>
          <p:cNvPr id="37" name="Text 35"/>
          <p:cNvSpPr txBox="1"/>
          <p:nvPr/>
        </p:nvSpPr>
        <p:spPr>
          <a:xfrm>
            <a:off x="6473952" y="3063240"/>
            <a:ext cx="201168" cy="274320"/>
          </a:xfrm>
          <a:prstGeom prst="rect">
            <a:avLst/>
          </a:prstGeom>
          <a:noFill/>
          <a:ln/>
        </p:spPr>
        <p:txBody>
          <a:bodyPr wrap="square" lIns="0" tIns="0" rIns="0" bIns="0" rtlCol="0" anchor="ctr">
            <a:normAutofit/>
          </a:bodyPr>
          <a:lstStyle/>
          <a:p>
            <a:pPr algn="ctr" indent="0" marL="0">
              <a:buNone/>
            </a:pPr>
            <a:r>
              <a:rPr lang="en-US" sz="1600" b="1" dirty="0">
                <a:solidFill>
                  <a:srgbClr val="E86F6F"/>
                </a:solidFill>
                <a:latin typeface="Arial" pitchFamily="34" charset="0"/>
                <a:ea typeface="Arial" pitchFamily="34" charset="-122"/>
                <a:cs typeface="Arial" pitchFamily="34" charset="-120"/>
              </a:rPr>
              <a:t>×</a:t>
            </a:r>
            <a:endParaRPr lang="en-US" sz="1600" dirty="0"/>
          </a:p>
        </p:txBody>
      </p:sp>
      <p:sp>
        <p:nvSpPr>
          <p:cNvPr id="38" name="Text 36"/>
          <p:cNvSpPr txBox="1"/>
          <p:nvPr/>
        </p:nvSpPr>
        <p:spPr>
          <a:xfrm>
            <a:off x="6839712" y="3090672"/>
            <a:ext cx="4069080" cy="356616"/>
          </a:xfrm>
          <a:prstGeom prst="rect">
            <a:avLst/>
          </a:prstGeom>
          <a:noFill/>
          <a:ln/>
        </p:spPr>
        <p:txBody>
          <a:bodyPr wrap="square" lIns="0" tIns="0" rIns="0" bIns="0" rtlCol="0" anchor="t">
            <a:normAutofit/>
          </a:bodyPr>
          <a:lstStyle/>
          <a:p>
            <a:pPr algn="l" indent="0" marL="0">
              <a:buNone/>
            </a:pPr>
            <a:r>
              <a:rPr lang="en-US" sz="1250" dirty="0">
                <a:solidFill>
                  <a:srgbClr val="E8E6E0"/>
                </a:solidFill>
                <a:latin typeface="Arial" pitchFamily="34" charset="0"/>
                <a:ea typeface="Arial" pitchFamily="34" charset="-122"/>
                <a:cs typeface="Arial" pitchFamily="34" charset="-120"/>
              </a:rPr>
              <a:t>Full-duplex voice routed through telephony</a:t>
            </a:r>
            <a:endParaRPr lang="en-US" sz="1250" dirty="0"/>
          </a:p>
        </p:txBody>
      </p:sp>
      <p:sp>
        <p:nvSpPr>
          <p:cNvPr id="39" name="Text 37"/>
          <p:cNvSpPr txBox="1"/>
          <p:nvPr/>
        </p:nvSpPr>
        <p:spPr>
          <a:xfrm>
            <a:off x="6473952" y="3666744"/>
            <a:ext cx="201168" cy="274320"/>
          </a:xfrm>
          <a:prstGeom prst="rect">
            <a:avLst/>
          </a:prstGeom>
          <a:noFill/>
          <a:ln/>
        </p:spPr>
        <p:txBody>
          <a:bodyPr wrap="square" lIns="0" tIns="0" rIns="0" bIns="0" rtlCol="0" anchor="ctr">
            <a:normAutofit/>
          </a:bodyPr>
          <a:lstStyle/>
          <a:p>
            <a:pPr algn="ctr" indent="0" marL="0">
              <a:buNone/>
            </a:pPr>
            <a:r>
              <a:rPr lang="en-US" sz="1600" b="1" dirty="0">
                <a:solidFill>
                  <a:srgbClr val="E86F6F"/>
                </a:solidFill>
                <a:latin typeface="Arial" pitchFamily="34" charset="0"/>
                <a:ea typeface="Arial" pitchFamily="34" charset="-122"/>
                <a:cs typeface="Arial" pitchFamily="34" charset="-120"/>
              </a:rPr>
              <a:t>×</a:t>
            </a:r>
            <a:endParaRPr lang="en-US" sz="1600" dirty="0"/>
          </a:p>
        </p:txBody>
      </p:sp>
      <p:sp>
        <p:nvSpPr>
          <p:cNvPr id="40" name="Text 38"/>
          <p:cNvSpPr txBox="1"/>
          <p:nvPr/>
        </p:nvSpPr>
        <p:spPr>
          <a:xfrm>
            <a:off x="6839712" y="3694176"/>
            <a:ext cx="4069080" cy="356616"/>
          </a:xfrm>
          <a:prstGeom prst="rect">
            <a:avLst/>
          </a:prstGeom>
          <a:noFill/>
          <a:ln/>
        </p:spPr>
        <p:txBody>
          <a:bodyPr wrap="square" lIns="0" tIns="0" rIns="0" bIns="0" rtlCol="0" anchor="t">
            <a:normAutofit/>
          </a:bodyPr>
          <a:lstStyle/>
          <a:p>
            <a:pPr algn="l" indent="0" marL="0">
              <a:buNone/>
            </a:pPr>
            <a:r>
              <a:rPr lang="en-US" sz="1250" dirty="0">
                <a:solidFill>
                  <a:srgbClr val="E8E6E0"/>
                </a:solidFill>
                <a:latin typeface="Arial" pitchFamily="34" charset="0"/>
                <a:ea typeface="Arial" pitchFamily="34" charset="-122"/>
                <a:cs typeface="Arial" pitchFamily="34" charset="-120"/>
              </a:rPr>
              <a:t>Persistent customer identity or omnichannel memory</a:t>
            </a:r>
            <a:endParaRPr lang="en-US" sz="1250" dirty="0"/>
          </a:p>
        </p:txBody>
      </p:sp>
      <p:sp>
        <p:nvSpPr>
          <p:cNvPr id="41" name="Text 39"/>
          <p:cNvSpPr txBox="1"/>
          <p:nvPr/>
        </p:nvSpPr>
        <p:spPr>
          <a:xfrm>
            <a:off x="6473952" y="4270248"/>
            <a:ext cx="201168" cy="274320"/>
          </a:xfrm>
          <a:prstGeom prst="rect">
            <a:avLst/>
          </a:prstGeom>
          <a:noFill/>
          <a:ln/>
        </p:spPr>
        <p:txBody>
          <a:bodyPr wrap="square" lIns="0" tIns="0" rIns="0" bIns="0" rtlCol="0" anchor="ctr">
            <a:normAutofit/>
          </a:bodyPr>
          <a:lstStyle/>
          <a:p>
            <a:pPr algn="ctr" indent="0" marL="0">
              <a:buNone/>
            </a:pPr>
            <a:r>
              <a:rPr lang="en-US" sz="1600" b="1" dirty="0">
                <a:solidFill>
                  <a:srgbClr val="E86F6F"/>
                </a:solidFill>
                <a:latin typeface="Arial" pitchFamily="34" charset="0"/>
                <a:ea typeface="Arial" pitchFamily="34" charset="-122"/>
                <a:cs typeface="Arial" pitchFamily="34" charset="-120"/>
              </a:rPr>
              <a:t>×</a:t>
            </a:r>
            <a:endParaRPr lang="en-US" sz="1600" dirty="0"/>
          </a:p>
        </p:txBody>
      </p:sp>
      <p:sp>
        <p:nvSpPr>
          <p:cNvPr id="42" name="Text 40"/>
          <p:cNvSpPr txBox="1"/>
          <p:nvPr/>
        </p:nvSpPr>
        <p:spPr>
          <a:xfrm>
            <a:off x="6839712" y="4297680"/>
            <a:ext cx="4069080" cy="356616"/>
          </a:xfrm>
          <a:prstGeom prst="rect">
            <a:avLst/>
          </a:prstGeom>
          <a:noFill/>
          <a:ln/>
        </p:spPr>
        <p:txBody>
          <a:bodyPr wrap="square" lIns="0" tIns="0" rIns="0" bIns="0" rtlCol="0" anchor="t">
            <a:normAutofit/>
          </a:bodyPr>
          <a:lstStyle/>
          <a:p>
            <a:pPr algn="l" indent="0" marL="0">
              <a:buNone/>
            </a:pPr>
            <a:r>
              <a:rPr lang="en-US" sz="1250" dirty="0">
                <a:solidFill>
                  <a:srgbClr val="E8E6E0"/>
                </a:solidFill>
                <a:latin typeface="Arial" pitchFamily="34" charset="0"/>
                <a:ea typeface="Arial" pitchFamily="34" charset="-122"/>
                <a:cs typeface="Arial" pitchFamily="34" charset="-120"/>
              </a:rPr>
              <a:t>Qualification, booking, CRM writes, or SMS</a:t>
            </a:r>
            <a:endParaRPr lang="en-US" sz="1250" dirty="0"/>
          </a:p>
        </p:txBody>
      </p:sp>
      <p:sp>
        <p:nvSpPr>
          <p:cNvPr id="43" name="Text 41"/>
          <p:cNvSpPr txBox="1"/>
          <p:nvPr/>
        </p:nvSpPr>
        <p:spPr>
          <a:xfrm>
            <a:off x="6473952" y="4873752"/>
            <a:ext cx="201168" cy="274320"/>
          </a:xfrm>
          <a:prstGeom prst="rect">
            <a:avLst/>
          </a:prstGeom>
          <a:noFill/>
          <a:ln/>
        </p:spPr>
        <p:txBody>
          <a:bodyPr wrap="square" lIns="0" tIns="0" rIns="0" bIns="0" rtlCol="0" anchor="ctr">
            <a:normAutofit/>
          </a:bodyPr>
          <a:lstStyle/>
          <a:p>
            <a:pPr algn="ctr" indent="0" marL="0">
              <a:buNone/>
            </a:pPr>
            <a:r>
              <a:rPr lang="en-US" sz="1600" b="1" dirty="0">
                <a:solidFill>
                  <a:srgbClr val="E86F6F"/>
                </a:solidFill>
                <a:latin typeface="Arial" pitchFamily="34" charset="0"/>
                <a:ea typeface="Arial" pitchFamily="34" charset="-122"/>
                <a:cs typeface="Arial" pitchFamily="34" charset="-120"/>
              </a:rPr>
              <a:t>×</a:t>
            </a:r>
            <a:endParaRPr lang="en-US" sz="1600" dirty="0"/>
          </a:p>
        </p:txBody>
      </p:sp>
      <p:sp>
        <p:nvSpPr>
          <p:cNvPr id="44" name="Text 42"/>
          <p:cNvSpPr txBox="1"/>
          <p:nvPr/>
        </p:nvSpPr>
        <p:spPr>
          <a:xfrm>
            <a:off x="6839712" y="4901184"/>
            <a:ext cx="4069080" cy="356616"/>
          </a:xfrm>
          <a:prstGeom prst="rect">
            <a:avLst/>
          </a:prstGeom>
          <a:noFill/>
          <a:ln/>
        </p:spPr>
        <p:txBody>
          <a:bodyPr wrap="square" lIns="0" tIns="0" rIns="0" bIns="0" rtlCol="0" anchor="t">
            <a:normAutofit/>
          </a:bodyPr>
          <a:lstStyle/>
          <a:p>
            <a:pPr algn="l" indent="0" marL="0">
              <a:buNone/>
            </a:pPr>
            <a:r>
              <a:rPr lang="en-US" sz="1250" dirty="0">
                <a:solidFill>
                  <a:srgbClr val="E8E6E0"/>
                </a:solidFill>
                <a:latin typeface="Arial" pitchFamily="34" charset="0"/>
                <a:ea typeface="Arial" pitchFamily="34" charset="-122"/>
                <a:cs typeface="Arial" pitchFamily="34" charset="-120"/>
              </a:rPr>
              <a:t>Warm transfer, campaigns, dashboards, or multitenancy</a:t>
            </a:r>
            <a:endParaRPr lang="en-US" sz="1250" dirty="0"/>
          </a:p>
        </p:txBody>
      </p:sp>
      <p:sp>
        <p:nvSpPr>
          <p:cNvPr id="45" name="Text 43"/>
          <p:cNvSpPr txBox="1"/>
          <p:nvPr/>
        </p:nvSpPr>
        <p:spPr>
          <a:xfrm>
            <a:off x="6455664" y="5513832"/>
            <a:ext cx="4544568" cy="256032"/>
          </a:xfrm>
          <a:prstGeom prst="rect">
            <a:avLst/>
          </a:prstGeom>
          <a:noFill/>
          <a:ln/>
        </p:spPr>
        <p:txBody>
          <a:bodyPr wrap="square" lIns="0" tIns="0" rIns="0" bIns="0" rtlCol="0" anchor="t">
            <a:normAutofit/>
          </a:bodyPr>
          <a:lstStyle/>
          <a:p>
            <a:pPr algn="ctr" indent="0" marL="0">
              <a:buNone/>
            </a:pPr>
            <a:r>
              <a:rPr lang="en-US" sz="1050" i="1" dirty="0">
                <a:solidFill>
                  <a:srgbClr val="E86F6F"/>
                </a:solidFill>
                <a:latin typeface="Arial" pitchFamily="34" charset="0"/>
                <a:ea typeface="Arial" pitchFamily="34" charset="-122"/>
                <a:cs typeface="Arial" pitchFamily="34" charset="-120"/>
              </a:rPr>
              <a:t>Discuss these as roadmap items — never as mocked working screens.</a:t>
            </a:r>
            <a:endParaRPr lang="en-US" sz="1050" dirty="0"/>
          </a:p>
        </p:txBody>
      </p:sp>
      <p:sp>
        <p:nvSpPr>
          <p:cNvPr id="46" name="Shape 44"/>
          <p:cNvSpPr/>
          <p:nvPr/>
        </p:nvSpPr>
        <p:spPr>
          <a:xfrm>
            <a:off x="713232" y="6053328"/>
            <a:ext cx="10771632" cy="347472"/>
          </a:xfrm>
          <a:prstGeom prst="roundRect">
            <a:avLst/>
          </a:prstGeom>
          <a:solidFill>
            <a:srgbClr val="100F14"/>
          </a:solidFill>
          <a:ln w="10160">
            <a:solidFill>
              <a:srgbClr val="34323E"/>
            </a:solidFill>
            <a:prstDash val="solid"/>
          </a:ln>
        </p:spPr>
      </p:sp>
      <p:sp>
        <p:nvSpPr>
          <p:cNvPr id="47" name="Text 45"/>
          <p:cNvSpPr txBox="1"/>
          <p:nvPr/>
        </p:nvSpPr>
        <p:spPr>
          <a:xfrm>
            <a:off x="896112" y="6126480"/>
            <a:ext cx="10387584" cy="164592"/>
          </a:xfrm>
          <a:prstGeom prst="rect">
            <a:avLst/>
          </a:prstGeom>
          <a:noFill/>
          <a:ln/>
        </p:spPr>
        <p:txBody>
          <a:bodyPr wrap="square" lIns="0" tIns="0" rIns="0" bIns="0" rtlCol="0" anchor="t">
            <a:normAutofit/>
          </a:bodyPr>
          <a:lstStyle/>
          <a:p>
            <a:pPr algn="l" indent="0" marL="0">
              <a:buNone/>
            </a:pPr>
            <a:r>
              <a:rPr lang="en-US" sz="840" dirty="0">
                <a:solidFill>
                  <a:srgbClr val="9A97A3"/>
                </a:solidFill>
                <a:latin typeface="Courier New" pitchFamily="34" charset="0"/>
                <a:ea typeface="Courier New" pitchFamily="34" charset="-122"/>
                <a:cs typeface="Courier New" pitchFamily="34" charset="-120"/>
              </a:rPr>
              <a:t>● listening   mic:on   sys:on   gate:balanced   profile:support-queue   mode:agent-assist</a:t>
            </a:r>
            <a:endParaRPr lang="en-US" sz="840" dirty="0"/>
          </a:p>
        </p:txBody>
      </p:sp>
      <p:sp>
        <p:nvSpPr>
          <p:cNvPr id="25" name="Slide Number Placeholder 0"/>
          <p:cNvSpPr>
            <a:spLocks noGrp="1"/>
          </p:cNvSpPr>
          <p:nvPr>
            <p:ph type="sldNum" sz="quarter" idx="4294967295"/>
          </p:nvPr>
        </p:nvSpPr>
        <p:spPr>
          <a:xfrm>
            <a:off x="11109960" y="6483096"/>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9A97A3"/>
                </a:solidFill>
                <a:latin typeface="Courier New"/>
                <a:ea typeface="Courier New"/>
                <a:cs typeface="Courier New"/>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61D"/>
        </a:solidFill>
      </p:bgPr>
    </p:bg>
    <p:spTree>
      <p:nvGrpSpPr>
        <p:cNvPr id="1" name=""/>
        <p:cNvGrpSpPr/>
        <p:nvPr/>
      </p:nvGrpSpPr>
      <p:grpSpPr>
        <a:xfrm>
          <a:off x="0" y="0"/>
          <a:ext cx="0" cy="0"/>
          <a:chOff x="0" y="0"/>
          <a:chExt cx="0" cy="0"/>
        </a:xfrm>
      </p:grpSpPr>
      <p:sp>
        <p:nvSpPr>
          <p:cNvPr id="2" name="Text 0"/>
          <p:cNvSpPr txBox="1"/>
          <p:nvPr/>
        </p:nvSpPr>
        <p:spPr>
          <a:xfrm>
            <a:off x="713232" y="384048"/>
            <a:ext cx="5120640" cy="219456"/>
          </a:xfrm>
          <a:prstGeom prst="rect">
            <a:avLst/>
          </a:prstGeom>
          <a:noFill/>
          <a:ln/>
        </p:spPr>
        <p:txBody>
          <a:bodyPr wrap="square" lIns="0" tIns="0" rIns="0" bIns="0" rtlCol="0" anchor="t">
            <a:normAutofit/>
          </a:bodyPr>
          <a:lstStyle/>
          <a:p>
            <a:pPr algn="l" indent="0" marL="0">
              <a:buNone/>
            </a:pPr>
            <a:r>
              <a:rPr lang="en-US" sz="900" b="1" spc="210" kern="0" dirty="0">
                <a:solidFill>
                  <a:srgbClr val="9A97A3"/>
                </a:solidFill>
                <a:latin typeface="Courier New" pitchFamily="34" charset="0"/>
                <a:ea typeface="Courier New" pitchFamily="34" charset="-122"/>
                <a:cs typeface="Courier New" pitchFamily="34" charset="-120"/>
              </a:rPr>
              <a:t>PROPOSED MVP</a:t>
            </a:r>
            <a:endParaRPr lang="en-US" sz="900" dirty="0"/>
          </a:p>
        </p:txBody>
      </p:sp>
      <p:sp>
        <p:nvSpPr>
          <p:cNvPr id="3" name="Text 1"/>
          <p:cNvSpPr txBox="1"/>
          <p:nvPr/>
        </p:nvSpPr>
        <p:spPr>
          <a:xfrm>
            <a:off x="10424160" y="347472"/>
            <a:ext cx="1051560" cy="228600"/>
          </a:xfrm>
          <a:prstGeom prst="rect">
            <a:avLst/>
          </a:prstGeom>
          <a:noFill/>
          <a:ln/>
        </p:spPr>
        <p:txBody>
          <a:bodyPr wrap="square" lIns="0" tIns="0" rIns="0" bIns="0" rtlCol="0" anchor="t">
            <a:normAutofit/>
          </a:bodyPr>
          <a:lstStyle/>
          <a:p>
            <a:pPr algn="r" indent="0" marL="0">
              <a:buNone/>
            </a:pPr>
            <a:r>
              <a:rPr lang="en-US" sz="1000" b="1" spc="240" kern="0" dirty="0">
                <a:solidFill>
                  <a:srgbClr val="E8E6E0"/>
                </a:solidFill>
                <a:latin typeface="Courier New" pitchFamily="34" charset="0"/>
                <a:ea typeface="Courier New" pitchFamily="34" charset="-122"/>
                <a:cs typeface="Courier New" pitchFamily="34" charset="-120"/>
              </a:rPr>
              <a:t>CYBIC</a:t>
            </a:r>
            <a:endParaRPr lang="en-US" sz="1000" dirty="0"/>
          </a:p>
        </p:txBody>
      </p:sp>
      <p:sp>
        <p:nvSpPr>
          <p:cNvPr id="4" name="Text 2"/>
          <p:cNvSpPr txBox="1"/>
          <p:nvPr/>
        </p:nvSpPr>
        <p:spPr>
          <a:xfrm>
            <a:off x="685800" y="713232"/>
            <a:ext cx="10744200" cy="566928"/>
          </a:xfrm>
          <a:prstGeom prst="rect">
            <a:avLst/>
          </a:prstGeom>
          <a:noFill/>
          <a:ln/>
        </p:spPr>
        <p:txBody>
          <a:bodyPr wrap="square" lIns="0" tIns="0" rIns="0" bIns="0" rtlCol="0" anchor="t">
            <a:normAutofit/>
          </a:bodyPr>
          <a:lstStyle/>
          <a:p>
            <a:pPr algn="l" indent="0" marL="0">
              <a:buNone/>
            </a:pPr>
            <a:r>
              <a:rPr lang="en-US" sz="2800" b="1" dirty="0">
                <a:solidFill>
                  <a:srgbClr val="6FB3E8"/>
                </a:solidFill>
                <a:latin typeface="Arial" pitchFamily="34" charset="0"/>
                <a:ea typeface="Arial" pitchFamily="34" charset="-122"/>
                <a:cs typeface="Arial" pitchFamily="34" charset="-120"/>
              </a:rPr>
              <a:t>The proof point: change channels without starting over</a:t>
            </a:r>
            <a:endParaRPr lang="en-US" sz="2800" dirty="0"/>
          </a:p>
        </p:txBody>
      </p:sp>
      <p:sp>
        <p:nvSpPr>
          <p:cNvPr id="5" name="Text 3"/>
          <p:cNvSpPr txBox="1"/>
          <p:nvPr/>
        </p:nvSpPr>
        <p:spPr>
          <a:xfrm>
            <a:off x="713232" y="1298448"/>
            <a:ext cx="10607040" cy="411480"/>
          </a:xfrm>
          <a:prstGeom prst="rect">
            <a:avLst/>
          </a:prstGeom>
          <a:noFill/>
          <a:ln/>
        </p:spPr>
        <p:txBody>
          <a:bodyPr wrap="square" lIns="0" tIns="0" rIns="0" bIns="0" rtlCol="0" anchor="t">
            <a:normAutofit/>
          </a:bodyPr>
          <a:lstStyle/>
          <a:p>
            <a:pPr algn="l" indent="0" marL="0">
              <a:buNone/>
            </a:pPr>
            <a:r>
              <a:rPr lang="en-US" sz="1350" dirty="0">
                <a:solidFill>
                  <a:srgbClr val="9A97A3"/>
                </a:solidFill>
                <a:latin typeface="Arial" pitchFamily="34" charset="0"/>
                <a:ea typeface="Arial" pitchFamily="34" charset="-122"/>
                <a:cs typeface="Arial" pitchFamily="34" charset="-120"/>
              </a:rPr>
              <a:t>One controlled journey demonstrates the platform's defining differentiator.</a:t>
            </a:r>
            <a:endParaRPr lang="en-US" sz="1350" dirty="0"/>
          </a:p>
        </p:txBody>
      </p:sp>
      <p:sp>
        <p:nvSpPr>
          <p:cNvPr id="6" name="Shape 4"/>
          <p:cNvSpPr/>
          <p:nvPr/>
        </p:nvSpPr>
        <p:spPr>
          <a:xfrm>
            <a:off x="658368" y="6428232"/>
            <a:ext cx="10863072" cy="0"/>
          </a:xfrm>
          <a:prstGeom prst="line">
            <a:avLst/>
          </a:prstGeom>
          <a:noFill/>
          <a:ln w="8890">
            <a:solidFill>
              <a:srgbClr val="34323E"/>
            </a:solidFill>
            <a:prstDash val="solid"/>
          </a:ln>
        </p:spPr>
      </p:sp>
      <p:sp>
        <p:nvSpPr>
          <p:cNvPr id="7" name="Text 5"/>
          <p:cNvSpPr txBox="1"/>
          <p:nvPr/>
        </p:nvSpPr>
        <p:spPr>
          <a:xfrm>
            <a:off x="685800" y="6473952"/>
            <a:ext cx="2926080" cy="146304"/>
          </a:xfrm>
          <a:prstGeom prst="rect">
            <a:avLst/>
          </a:prstGeom>
          <a:noFill/>
          <a:ln/>
        </p:spPr>
        <p:txBody>
          <a:bodyPr wrap="square" lIns="0" tIns="0" rIns="0" bIns="0" rtlCol="0" anchor="t">
            <a:normAutofit/>
          </a:bodyPr>
          <a:lstStyle/>
          <a:p>
            <a:pPr algn="l" indent="0" marL="0">
              <a:buNone/>
            </a:pPr>
            <a:r>
              <a:rPr lang="en-US" sz="750" spc="120" kern="0" dirty="0">
                <a:solidFill>
                  <a:srgbClr val="9A97A3"/>
                </a:solidFill>
                <a:latin typeface="Courier New" pitchFamily="34" charset="0"/>
                <a:ea typeface="Courier New" pitchFamily="34" charset="-122"/>
                <a:cs typeface="Courier New" pitchFamily="34" charset="-120"/>
              </a:rPr>
              <a:t>CYBIC  •  CONFIDENTIAL</a:t>
            </a:r>
            <a:endParaRPr lang="en-US" sz="750" dirty="0"/>
          </a:p>
        </p:txBody>
      </p:sp>
      <p:sp>
        <p:nvSpPr>
          <p:cNvPr id="8" name="Shape 6"/>
          <p:cNvSpPr/>
          <p:nvPr/>
        </p:nvSpPr>
        <p:spPr>
          <a:xfrm>
            <a:off x="9857232" y="1307592"/>
            <a:ext cx="1371600" cy="310896"/>
          </a:xfrm>
          <a:prstGeom prst="roundRect">
            <a:avLst/>
          </a:prstGeom>
          <a:solidFill>
            <a:srgbClr val="20303D"/>
          </a:solidFill>
          <a:ln w="10160">
            <a:solidFill>
              <a:srgbClr val="6FB3E8"/>
            </a:solidFill>
            <a:prstDash val="solid"/>
          </a:ln>
        </p:spPr>
      </p:sp>
      <p:sp>
        <p:nvSpPr>
          <p:cNvPr id="9" name="Text 7"/>
          <p:cNvSpPr txBox="1"/>
          <p:nvPr/>
        </p:nvSpPr>
        <p:spPr>
          <a:xfrm>
            <a:off x="9902952" y="1344168"/>
            <a:ext cx="1280160" cy="246888"/>
          </a:xfrm>
          <a:prstGeom prst="rect">
            <a:avLst/>
          </a:prstGeom>
          <a:noFill/>
          <a:ln/>
        </p:spPr>
        <p:txBody>
          <a:bodyPr wrap="square" lIns="0" tIns="0" rIns="0" bIns="0" rtlCol="0" anchor="ctr">
            <a:normAutofit/>
          </a:bodyPr>
          <a:lstStyle/>
          <a:p>
            <a:pPr algn="ctr" indent="0" marL="0">
              <a:buNone/>
            </a:pPr>
            <a:r>
              <a:rPr lang="en-US" sz="850" b="1" spc="100" kern="0" dirty="0">
                <a:solidFill>
                  <a:srgbClr val="6FB3E8"/>
                </a:solidFill>
                <a:latin typeface="Courier New" pitchFamily="34" charset="0"/>
                <a:ea typeface="Courier New" pitchFamily="34" charset="-122"/>
                <a:cs typeface="Courier New" pitchFamily="34" charset="-120"/>
              </a:rPr>
              <a:t>PROPOSED MVP</a:t>
            </a:r>
            <a:endParaRPr lang="en-US" sz="850" dirty="0"/>
          </a:p>
        </p:txBody>
      </p:sp>
      <p:sp>
        <p:nvSpPr>
          <p:cNvPr id="10" name="Shape 8"/>
          <p:cNvSpPr/>
          <p:nvPr/>
        </p:nvSpPr>
        <p:spPr>
          <a:xfrm>
            <a:off x="749808" y="1828800"/>
            <a:ext cx="2267712" cy="1234440"/>
          </a:xfrm>
          <a:prstGeom prst="roundRect">
            <a:avLst/>
          </a:prstGeom>
          <a:solidFill>
            <a:srgbClr val="1E1E28"/>
          </a:solidFill>
          <a:ln w="10160">
            <a:solidFill>
              <a:srgbClr val="34323E"/>
            </a:solidFill>
            <a:prstDash val="solid"/>
          </a:ln>
        </p:spPr>
      </p:sp>
      <p:sp>
        <p:nvSpPr>
          <p:cNvPr id="11" name="Text 9"/>
          <p:cNvSpPr txBox="1"/>
          <p:nvPr/>
        </p:nvSpPr>
        <p:spPr>
          <a:xfrm>
            <a:off x="896112" y="1975104"/>
            <a:ext cx="329184" cy="182880"/>
          </a:xfrm>
          <a:prstGeom prst="rect">
            <a:avLst/>
          </a:prstGeom>
          <a:noFill/>
          <a:ln/>
        </p:spPr>
        <p:txBody>
          <a:bodyPr wrap="square" lIns="0" tIns="0" rIns="0" bIns="0" rtlCol="0" anchor="t">
            <a:normAutofit/>
          </a:bodyPr>
          <a:lstStyle/>
          <a:p>
            <a:pPr algn="l" indent="0" marL="0">
              <a:buNone/>
            </a:pPr>
            <a:r>
              <a:rPr lang="en-US" sz="800" b="1" dirty="0">
                <a:solidFill>
                  <a:srgbClr val="9A97A3"/>
                </a:solidFill>
                <a:latin typeface="Courier New" pitchFamily="34" charset="0"/>
                <a:ea typeface="Courier New" pitchFamily="34" charset="-122"/>
                <a:cs typeface="Courier New" pitchFamily="34" charset="-120"/>
              </a:rPr>
              <a:t>01</a:t>
            </a:r>
            <a:endParaRPr lang="en-US" sz="800" dirty="0"/>
          </a:p>
        </p:txBody>
      </p:sp>
      <p:sp>
        <p:nvSpPr>
          <p:cNvPr id="12" name="Text 10"/>
          <p:cNvSpPr txBox="1"/>
          <p:nvPr/>
        </p:nvSpPr>
        <p:spPr>
          <a:xfrm>
            <a:off x="1225296" y="1975104"/>
            <a:ext cx="1572768" cy="201168"/>
          </a:xfrm>
          <a:prstGeom prst="rect">
            <a:avLst/>
          </a:prstGeom>
          <a:noFill/>
          <a:ln/>
        </p:spPr>
        <p:txBody>
          <a:bodyPr wrap="square" lIns="0" tIns="0" rIns="0" bIns="0" rtlCol="0" anchor="t">
            <a:normAutofit/>
          </a:bodyPr>
          <a:lstStyle/>
          <a:p>
            <a:pPr algn="r" indent="0" marL="0">
              <a:buNone/>
            </a:pPr>
            <a:r>
              <a:rPr lang="en-US" sz="850" b="1" spc="80" kern="0" dirty="0">
                <a:solidFill>
                  <a:srgbClr val="E8A33D"/>
                </a:solidFill>
                <a:latin typeface="Courier New" pitchFamily="34" charset="0"/>
                <a:ea typeface="Courier New" pitchFamily="34" charset="-122"/>
                <a:cs typeface="Courier New" pitchFamily="34" charset="-120"/>
              </a:rPr>
              <a:t>WEB CHAT</a:t>
            </a:r>
            <a:endParaRPr lang="en-US" sz="850" dirty="0"/>
          </a:p>
        </p:txBody>
      </p:sp>
      <p:sp>
        <p:nvSpPr>
          <p:cNvPr id="13" name="Text 11"/>
          <p:cNvSpPr txBox="1"/>
          <p:nvPr/>
        </p:nvSpPr>
        <p:spPr>
          <a:xfrm>
            <a:off x="914400" y="2368296"/>
            <a:ext cx="1938528" cy="411480"/>
          </a:xfrm>
          <a:prstGeom prst="rect">
            <a:avLst/>
          </a:prstGeom>
          <a:noFill/>
          <a:ln/>
        </p:spPr>
        <p:txBody>
          <a:bodyPr wrap="square" lIns="0" tIns="0" rIns="0" bIns="0" rtlCol="0" anchor="ctr">
            <a:normAutofit/>
          </a:bodyPr>
          <a:lstStyle/>
          <a:p>
            <a:pPr algn="ctr" indent="0" marL="0">
              <a:buNone/>
            </a:pPr>
            <a:r>
              <a:rPr lang="en-US" sz="1250" b="1" dirty="0">
                <a:solidFill>
                  <a:srgbClr val="E8E6E0"/>
                </a:solidFill>
                <a:latin typeface="Arial" pitchFamily="34" charset="0"/>
                <a:ea typeface="Arial" pitchFamily="34" charset="-122"/>
                <a:cs typeface="Arial" pitchFamily="34" charset="-120"/>
              </a:rPr>
              <a:t>Describe roof damage</a:t>
            </a:r>
            <a:endParaRPr lang="en-US" sz="1250" dirty="0"/>
          </a:p>
        </p:txBody>
      </p:sp>
      <p:sp>
        <p:nvSpPr>
          <p:cNvPr id="14" name="Shape 12"/>
          <p:cNvSpPr/>
          <p:nvPr/>
        </p:nvSpPr>
        <p:spPr>
          <a:xfrm>
            <a:off x="3145536" y="2340864"/>
            <a:ext cx="219456" cy="219456"/>
          </a:xfrm>
          <a:prstGeom prst="chevron">
            <a:avLst/>
          </a:prstGeom>
          <a:solidFill>
            <a:srgbClr val="6FB3E8"/>
          </a:solidFill>
          <a:ln w="12700">
            <a:solidFill>
              <a:srgbClr val="6FB3E8"/>
            </a:solidFill>
            <a:prstDash val="solid"/>
          </a:ln>
        </p:spPr>
      </p:sp>
      <p:sp>
        <p:nvSpPr>
          <p:cNvPr id="15" name="Shape 13"/>
          <p:cNvSpPr/>
          <p:nvPr/>
        </p:nvSpPr>
        <p:spPr>
          <a:xfrm>
            <a:off x="3538728" y="1828800"/>
            <a:ext cx="2267712" cy="1234440"/>
          </a:xfrm>
          <a:prstGeom prst="roundRect">
            <a:avLst/>
          </a:prstGeom>
          <a:solidFill>
            <a:srgbClr val="1E1E28"/>
          </a:solidFill>
          <a:ln w="10160">
            <a:solidFill>
              <a:srgbClr val="34323E"/>
            </a:solidFill>
            <a:prstDash val="solid"/>
          </a:ln>
        </p:spPr>
      </p:sp>
      <p:sp>
        <p:nvSpPr>
          <p:cNvPr id="16" name="Text 14"/>
          <p:cNvSpPr txBox="1"/>
          <p:nvPr/>
        </p:nvSpPr>
        <p:spPr>
          <a:xfrm>
            <a:off x="3685032" y="1975104"/>
            <a:ext cx="329184" cy="182880"/>
          </a:xfrm>
          <a:prstGeom prst="rect">
            <a:avLst/>
          </a:prstGeom>
          <a:noFill/>
          <a:ln/>
        </p:spPr>
        <p:txBody>
          <a:bodyPr wrap="square" lIns="0" tIns="0" rIns="0" bIns="0" rtlCol="0" anchor="t">
            <a:normAutofit/>
          </a:bodyPr>
          <a:lstStyle/>
          <a:p>
            <a:pPr algn="l" indent="0" marL="0">
              <a:buNone/>
            </a:pPr>
            <a:r>
              <a:rPr lang="en-US" sz="800" b="1" dirty="0">
                <a:solidFill>
                  <a:srgbClr val="9A97A3"/>
                </a:solidFill>
                <a:latin typeface="Courier New" pitchFamily="34" charset="0"/>
                <a:ea typeface="Courier New" pitchFamily="34" charset="-122"/>
                <a:cs typeface="Courier New" pitchFamily="34" charset="-120"/>
              </a:rPr>
              <a:t>02</a:t>
            </a:r>
            <a:endParaRPr lang="en-US" sz="800" dirty="0"/>
          </a:p>
        </p:txBody>
      </p:sp>
      <p:sp>
        <p:nvSpPr>
          <p:cNvPr id="17" name="Text 15"/>
          <p:cNvSpPr txBox="1"/>
          <p:nvPr/>
        </p:nvSpPr>
        <p:spPr>
          <a:xfrm>
            <a:off x="4014216" y="1975104"/>
            <a:ext cx="1572768" cy="201168"/>
          </a:xfrm>
          <a:prstGeom prst="rect">
            <a:avLst/>
          </a:prstGeom>
          <a:noFill/>
          <a:ln/>
        </p:spPr>
        <p:txBody>
          <a:bodyPr wrap="square" lIns="0" tIns="0" rIns="0" bIns="0" rtlCol="0" anchor="t">
            <a:normAutofit/>
          </a:bodyPr>
          <a:lstStyle/>
          <a:p>
            <a:pPr algn="r" indent="0" marL="0">
              <a:buNone/>
            </a:pPr>
            <a:r>
              <a:rPr lang="en-US" sz="850" b="1" spc="80" kern="0" dirty="0">
                <a:solidFill>
                  <a:srgbClr val="E8A33D"/>
                </a:solidFill>
                <a:latin typeface="Courier New" pitchFamily="34" charset="0"/>
                <a:ea typeface="Courier New" pitchFamily="34" charset="-122"/>
                <a:cs typeface="Courier New" pitchFamily="34" charset="-120"/>
              </a:rPr>
              <a:t>IDENTITY</a:t>
            </a:r>
            <a:endParaRPr lang="en-US" sz="850" dirty="0"/>
          </a:p>
        </p:txBody>
      </p:sp>
      <p:sp>
        <p:nvSpPr>
          <p:cNvPr id="18" name="Text 16"/>
          <p:cNvSpPr txBox="1"/>
          <p:nvPr/>
        </p:nvSpPr>
        <p:spPr>
          <a:xfrm>
            <a:off x="3703320" y="2368296"/>
            <a:ext cx="1938528" cy="411480"/>
          </a:xfrm>
          <a:prstGeom prst="rect">
            <a:avLst/>
          </a:prstGeom>
          <a:noFill/>
          <a:ln/>
        </p:spPr>
        <p:txBody>
          <a:bodyPr wrap="square" lIns="0" tIns="0" rIns="0" bIns="0" rtlCol="0" anchor="ctr">
            <a:normAutofit/>
          </a:bodyPr>
          <a:lstStyle/>
          <a:p>
            <a:pPr algn="ctr" indent="0" marL="0">
              <a:buNone/>
            </a:pPr>
            <a:r>
              <a:rPr lang="en-US" sz="1250" b="1" dirty="0">
                <a:solidFill>
                  <a:srgbClr val="E8E6E0"/>
                </a:solidFill>
                <a:latin typeface="Arial" pitchFamily="34" charset="0"/>
                <a:ea typeface="Arial" pitchFamily="34" charset="-122"/>
                <a:cs typeface="Arial" pitchFamily="34" charset="-120"/>
              </a:rPr>
              <a:t>Verify mobile number</a:t>
            </a:r>
            <a:endParaRPr lang="en-US" sz="1250" dirty="0"/>
          </a:p>
        </p:txBody>
      </p:sp>
      <p:sp>
        <p:nvSpPr>
          <p:cNvPr id="19" name="Shape 17"/>
          <p:cNvSpPr/>
          <p:nvPr/>
        </p:nvSpPr>
        <p:spPr>
          <a:xfrm>
            <a:off x="5934456" y="2340864"/>
            <a:ext cx="219456" cy="219456"/>
          </a:xfrm>
          <a:prstGeom prst="chevron">
            <a:avLst/>
          </a:prstGeom>
          <a:solidFill>
            <a:srgbClr val="6FB3E8"/>
          </a:solidFill>
          <a:ln w="12700">
            <a:solidFill>
              <a:srgbClr val="6FB3E8"/>
            </a:solidFill>
            <a:prstDash val="solid"/>
          </a:ln>
        </p:spPr>
      </p:sp>
      <p:sp>
        <p:nvSpPr>
          <p:cNvPr id="20" name="Shape 18"/>
          <p:cNvSpPr/>
          <p:nvPr/>
        </p:nvSpPr>
        <p:spPr>
          <a:xfrm>
            <a:off x="6327648" y="1828800"/>
            <a:ext cx="2267712" cy="1234440"/>
          </a:xfrm>
          <a:prstGeom prst="roundRect">
            <a:avLst/>
          </a:prstGeom>
          <a:solidFill>
            <a:srgbClr val="20303D"/>
          </a:solidFill>
          <a:ln w="17780">
            <a:solidFill>
              <a:srgbClr val="6FB3E8"/>
            </a:solidFill>
            <a:prstDash val="solid"/>
          </a:ln>
        </p:spPr>
      </p:sp>
      <p:sp>
        <p:nvSpPr>
          <p:cNvPr id="21" name="Text 19"/>
          <p:cNvSpPr txBox="1"/>
          <p:nvPr/>
        </p:nvSpPr>
        <p:spPr>
          <a:xfrm>
            <a:off x="6473952" y="1975104"/>
            <a:ext cx="329184" cy="182880"/>
          </a:xfrm>
          <a:prstGeom prst="rect">
            <a:avLst/>
          </a:prstGeom>
          <a:noFill/>
          <a:ln/>
        </p:spPr>
        <p:txBody>
          <a:bodyPr wrap="square" lIns="0" tIns="0" rIns="0" bIns="0" rtlCol="0" anchor="t">
            <a:normAutofit/>
          </a:bodyPr>
          <a:lstStyle/>
          <a:p>
            <a:pPr algn="l" indent="0" marL="0">
              <a:buNone/>
            </a:pPr>
            <a:r>
              <a:rPr lang="en-US" sz="800" b="1" dirty="0">
                <a:solidFill>
                  <a:srgbClr val="6FB3E8"/>
                </a:solidFill>
                <a:latin typeface="Courier New" pitchFamily="34" charset="0"/>
                <a:ea typeface="Courier New" pitchFamily="34" charset="-122"/>
                <a:cs typeface="Courier New" pitchFamily="34" charset="-120"/>
              </a:rPr>
              <a:t>03</a:t>
            </a:r>
            <a:endParaRPr lang="en-US" sz="800" dirty="0"/>
          </a:p>
        </p:txBody>
      </p:sp>
      <p:sp>
        <p:nvSpPr>
          <p:cNvPr id="22" name="Text 20"/>
          <p:cNvSpPr txBox="1"/>
          <p:nvPr/>
        </p:nvSpPr>
        <p:spPr>
          <a:xfrm>
            <a:off x="6803136" y="1975104"/>
            <a:ext cx="1572768" cy="201168"/>
          </a:xfrm>
          <a:prstGeom prst="rect">
            <a:avLst/>
          </a:prstGeom>
          <a:noFill/>
          <a:ln/>
        </p:spPr>
        <p:txBody>
          <a:bodyPr wrap="square" lIns="0" tIns="0" rIns="0" bIns="0" rtlCol="0" anchor="t">
            <a:normAutofit/>
          </a:bodyPr>
          <a:lstStyle/>
          <a:p>
            <a:pPr algn="r" indent="0" marL="0">
              <a:buNone/>
            </a:pPr>
            <a:r>
              <a:rPr lang="en-US" sz="850" b="1" spc="80" kern="0" dirty="0">
                <a:solidFill>
                  <a:srgbClr val="6FB3E8"/>
                </a:solidFill>
                <a:latin typeface="Courier New" pitchFamily="34" charset="0"/>
                <a:ea typeface="Courier New" pitchFamily="34" charset="-122"/>
                <a:cs typeface="Courier New" pitchFamily="34" charset="-120"/>
              </a:rPr>
              <a:t>PHONE</a:t>
            </a:r>
            <a:endParaRPr lang="en-US" sz="850" dirty="0"/>
          </a:p>
        </p:txBody>
      </p:sp>
      <p:sp>
        <p:nvSpPr>
          <p:cNvPr id="23" name="Text 21"/>
          <p:cNvSpPr txBox="1"/>
          <p:nvPr/>
        </p:nvSpPr>
        <p:spPr>
          <a:xfrm>
            <a:off x="6492240" y="2368296"/>
            <a:ext cx="1938528" cy="411480"/>
          </a:xfrm>
          <a:prstGeom prst="rect">
            <a:avLst/>
          </a:prstGeom>
          <a:noFill/>
          <a:ln/>
        </p:spPr>
        <p:txBody>
          <a:bodyPr wrap="square" lIns="0" tIns="0" rIns="0" bIns="0" rtlCol="0" anchor="ctr">
            <a:normAutofit/>
          </a:bodyPr>
          <a:lstStyle/>
          <a:p>
            <a:pPr algn="ctr" indent="0" marL="0">
              <a:buNone/>
            </a:pPr>
            <a:r>
              <a:rPr lang="en-US" sz="1250" b="1" dirty="0">
                <a:solidFill>
                  <a:srgbClr val="E8E6E0"/>
                </a:solidFill>
                <a:latin typeface="Arial" pitchFamily="34" charset="0"/>
                <a:ea typeface="Arial" pitchFamily="34" charset="-122"/>
                <a:cs typeface="Arial" pitchFamily="34" charset="-120"/>
              </a:rPr>
              <a:t>Call five minutes later</a:t>
            </a:r>
            <a:endParaRPr lang="en-US" sz="1250" dirty="0"/>
          </a:p>
        </p:txBody>
      </p:sp>
      <p:sp>
        <p:nvSpPr>
          <p:cNvPr id="24" name="Shape 22"/>
          <p:cNvSpPr/>
          <p:nvPr/>
        </p:nvSpPr>
        <p:spPr>
          <a:xfrm>
            <a:off x="8723376" y="2340864"/>
            <a:ext cx="219456" cy="219456"/>
          </a:xfrm>
          <a:prstGeom prst="chevron">
            <a:avLst/>
          </a:prstGeom>
          <a:solidFill>
            <a:srgbClr val="6FB3E8"/>
          </a:solidFill>
          <a:ln w="12700">
            <a:solidFill>
              <a:srgbClr val="6FB3E8"/>
            </a:solidFill>
            <a:prstDash val="solid"/>
          </a:ln>
        </p:spPr>
      </p:sp>
      <p:sp>
        <p:nvSpPr>
          <p:cNvPr id="25" name="Shape 23"/>
          <p:cNvSpPr/>
          <p:nvPr/>
        </p:nvSpPr>
        <p:spPr>
          <a:xfrm>
            <a:off x="9116568" y="1828800"/>
            <a:ext cx="2267712" cy="1234440"/>
          </a:xfrm>
          <a:prstGeom prst="roundRect">
            <a:avLst/>
          </a:prstGeom>
          <a:solidFill>
            <a:srgbClr val="20303D"/>
          </a:solidFill>
          <a:ln w="17780">
            <a:solidFill>
              <a:srgbClr val="6FB3E8"/>
            </a:solidFill>
            <a:prstDash val="solid"/>
          </a:ln>
        </p:spPr>
      </p:sp>
      <p:sp>
        <p:nvSpPr>
          <p:cNvPr id="26" name="Text 24"/>
          <p:cNvSpPr txBox="1"/>
          <p:nvPr/>
        </p:nvSpPr>
        <p:spPr>
          <a:xfrm>
            <a:off x="9262872" y="1975104"/>
            <a:ext cx="329184" cy="182880"/>
          </a:xfrm>
          <a:prstGeom prst="rect">
            <a:avLst/>
          </a:prstGeom>
          <a:noFill/>
          <a:ln/>
        </p:spPr>
        <p:txBody>
          <a:bodyPr wrap="square" lIns="0" tIns="0" rIns="0" bIns="0" rtlCol="0" anchor="t">
            <a:normAutofit/>
          </a:bodyPr>
          <a:lstStyle/>
          <a:p>
            <a:pPr algn="l" indent="0" marL="0">
              <a:buNone/>
            </a:pPr>
            <a:r>
              <a:rPr lang="en-US" sz="800" b="1" dirty="0">
                <a:solidFill>
                  <a:srgbClr val="6FB3E8"/>
                </a:solidFill>
                <a:latin typeface="Courier New" pitchFamily="34" charset="0"/>
                <a:ea typeface="Courier New" pitchFamily="34" charset="-122"/>
                <a:cs typeface="Courier New" pitchFamily="34" charset="-120"/>
              </a:rPr>
              <a:t>04</a:t>
            </a:r>
            <a:endParaRPr lang="en-US" sz="800" dirty="0"/>
          </a:p>
        </p:txBody>
      </p:sp>
      <p:sp>
        <p:nvSpPr>
          <p:cNvPr id="27" name="Text 25"/>
          <p:cNvSpPr txBox="1"/>
          <p:nvPr/>
        </p:nvSpPr>
        <p:spPr>
          <a:xfrm>
            <a:off x="9592056" y="1975104"/>
            <a:ext cx="1572768" cy="201168"/>
          </a:xfrm>
          <a:prstGeom prst="rect">
            <a:avLst/>
          </a:prstGeom>
          <a:noFill/>
          <a:ln/>
        </p:spPr>
        <p:txBody>
          <a:bodyPr wrap="square" lIns="0" tIns="0" rIns="0" bIns="0" rtlCol="0" anchor="t">
            <a:normAutofit/>
          </a:bodyPr>
          <a:lstStyle/>
          <a:p>
            <a:pPr algn="r" indent="0" marL="0">
              <a:buNone/>
            </a:pPr>
            <a:r>
              <a:rPr lang="en-US" sz="850" b="1" spc="80" kern="0" dirty="0">
                <a:solidFill>
                  <a:srgbClr val="6FB3E8"/>
                </a:solidFill>
                <a:latin typeface="Courier New" pitchFamily="34" charset="0"/>
                <a:ea typeface="Courier New" pitchFamily="34" charset="-122"/>
                <a:cs typeface="Courier New" pitchFamily="34" charset="-120"/>
              </a:rPr>
              <a:t>CONTEXT</a:t>
            </a:r>
            <a:endParaRPr lang="en-US" sz="850" dirty="0"/>
          </a:p>
        </p:txBody>
      </p:sp>
      <p:sp>
        <p:nvSpPr>
          <p:cNvPr id="28" name="Text 26"/>
          <p:cNvSpPr txBox="1"/>
          <p:nvPr/>
        </p:nvSpPr>
        <p:spPr>
          <a:xfrm>
            <a:off x="9281160" y="2368296"/>
            <a:ext cx="1938528" cy="411480"/>
          </a:xfrm>
          <a:prstGeom prst="rect">
            <a:avLst/>
          </a:prstGeom>
          <a:noFill/>
          <a:ln/>
        </p:spPr>
        <p:txBody>
          <a:bodyPr wrap="square" lIns="0" tIns="0" rIns="0" bIns="0" rtlCol="0" anchor="ctr">
            <a:normAutofit/>
          </a:bodyPr>
          <a:lstStyle/>
          <a:p>
            <a:pPr algn="ctr" indent="0" marL="0">
              <a:buNone/>
            </a:pPr>
            <a:r>
              <a:rPr lang="en-US" sz="1250" b="1" dirty="0">
                <a:solidFill>
                  <a:srgbClr val="E8E6E0"/>
                </a:solidFill>
                <a:latin typeface="Arial" pitchFamily="34" charset="0"/>
                <a:ea typeface="Arial" pitchFamily="34" charset="-122"/>
                <a:cs typeface="Arial" pitchFamily="34" charset="-120"/>
              </a:rPr>
              <a:t>Restore history + summary</a:t>
            </a:r>
            <a:endParaRPr lang="en-US" sz="1250" dirty="0"/>
          </a:p>
        </p:txBody>
      </p:sp>
      <p:sp>
        <p:nvSpPr>
          <p:cNvPr id="29" name="Shape 27"/>
          <p:cNvSpPr/>
          <p:nvPr/>
        </p:nvSpPr>
        <p:spPr>
          <a:xfrm>
            <a:off x="9116568" y="4160520"/>
            <a:ext cx="2267712" cy="1234440"/>
          </a:xfrm>
          <a:prstGeom prst="roundRect">
            <a:avLst/>
          </a:prstGeom>
          <a:solidFill>
            <a:srgbClr val="1E1E28"/>
          </a:solidFill>
          <a:ln w="10160">
            <a:solidFill>
              <a:srgbClr val="34323E"/>
            </a:solidFill>
            <a:prstDash val="solid"/>
          </a:ln>
        </p:spPr>
      </p:sp>
      <p:sp>
        <p:nvSpPr>
          <p:cNvPr id="30" name="Text 28"/>
          <p:cNvSpPr txBox="1"/>
          <p:nvPr/>
        </p:nvSpPr>
        <p:spPr>
          <a:xfrm>
            <a:off x="9262872" y="4306824"/>
            <a:ext cx="329184" cy="182880"/>
          </a:xfrm>
          <a:prstGeom prst="rect">
            <a:avLst/>
          </a:prstGeom>
          <a:noFill/>
          <a:ln/>
        </p:spPr>
        <p:txBody>
          <a:bodyPr wrap="square" lIns="0" tIns="0" rIns="0" bIns="0" rtlCol="0" anchor="t">
            <a:normAutofit/>
          </a:bodyPr>
          <a:lstStyle/>
          <a:p>
            <a:pPr algn="l" indent="0" marL="0">
              <a:buNone/>
            </a:pPr>
            <a:r>
              <a:rPr lang="en-US" sz="800" b="1" dirty="0">
                <a:solidFill>
                  <a:srgbClr val="9A97A3"/>
                </a:solidFill>
                <a:latin typeface="Courier New" pitchFamily="34" charset="0"/>
                <a:ea typeface="Courier New" pitchFamily="34" charset="-122"/>
                <a:cs typeface="Courier New" pitchFamily="34" charset="-120"/>
              </a:rPr>
              <a:t>05</a:t>
            </a:r>
            <a:endParaRPr lang="en-US" sz="800" dirty="0"/>
          </a:p>
        </p:txBody>
      </p:sp>
      <p:sp>
        <p:nvSpPr>
          <p:cNvPr id="31" name="Text 29"/>
          <p:cNvSpPr txBox="1"/>
          <p:nvPr/>
        </p:nvSpPr>
        <p:spPr>
          <a:xfrm>
            <a:off x="9592056" y="4306824"/>
            <a:ext cx="1572768" cy="201168"/>
          </a:xfrm>
          <a:prstGeom prst="rect">
            <a:avLst/>
          </a:prstGeom>
          <a:noFill/>
          <a:ln/>
        </p:spPr>
        <p:txBody>
          <a:bodyPr wrap="square" lIns="0" tIns="0" rIns="0" bIns="0" rtlCol="0" anchor="t">
            <a:normAutofit/>
          </a:bodyPr>
          <a:lstStyle/>
          <a:p>
            <a:pPr algn="r" indent="0" marL="0">
              <a:buNone/>
            </a:pPr>
            <a:r>
              <a:rPr lang="en-US" sz="850" b="1" spc="80" kern="0" dirty="0">
                <a:solidFill>
                  <a:srgbClr val="E8A33D"/>
                </a:solidFill>
                <a:latin typeface="Courier New" pitchFamily="34" charset="0"/>
                <a:ea typeface="Courier New" pitchFamily="34" charset="-122"/>
                <a:cs typeface="Courier New" pitchFamily="34" charset="-120"/>
              </a:rPr>
              <a:t>QUALIFY</a:t>
            </a:r>
            <a:endParaRPr lang="en-US" sz="850" dirty="0"/>
          </a:p>
        </p:txBody>
      </p:sp>
      <p:sp>
        <p:nvSpPr>
          <p:cNvPr id="32" name="Text 30"/>
          <p:cNvSpPr txBox="1"/>
          <p:nvPr/>
        </p:nvSpPr>
        <p:spPr>
          <a:xfrm>
            <a:off x="9281160" y="4700016"/>
            <a:ext cx="1938528" cy="411480"/>
          </a:xfrm>
          <a:prstGeom prst="rect">
            <a:avLst/>
          </a:prstGeom>
          <a:noFill/>
          <a:ln/>
        </p:spPr>
        <p:txBody>
          <a:bodyPr wrap="square" lIns="0" tIns="0" rIns="0" bIns="0" rtlCol="0" anchor="ctr">
            <a:normAutofit/>
          </a:bodyPr>
          <a:lstStyle/>
          <a:p>
            <a:pPr algn="ctr" indent="0" marL="0">
              <a:buNone/>
            </a:pPr>
            <a:r>
              <a:rPr lang="en-US" sz="1250" b="1" dirty="0">
                <a:solidFill>
                  <a:srgbClr val="E8E6E0"/>
                </a:solidFill>
                <a:latin typeface="Arial" pitchFamily="34" charset="0"/>
                <a:ea typeface="Arial" pitchFamily="34" charset="-122"/>
                <a:cs typeface="Arial" pitchFamily="34" charset="-120"/>
              </a:rPr>
              <a:t>ZIP • urgency • skills</a:t>
            </a:r>
            <a:endParaRPr lang="en-US" sz="1250" dirty="0"/>
          </a:p>
        </p:txBody>
      </p:sp>
      <p:sp>
        <p:nvSpPr>
          <p:cNvPr id="33" name="Shape 31"/>
          <p:cNvSpPr/>
          <p:nvPr/>
        </p:nvSpPr>
        <p:spPr>
          <a:xfrm>
            <a:off x="6327648" y="4160520"/>
            <a:ext cx="2267712" cy="1234440"/>
          </a:xfrm>
          <a:prstGeom prst="roundRect">
            <a:avLst/>
          </a:prstGeom>
          <a:solidFill>
            <a:srgbClr val="1E1E28"/>
          </a:solidFill>
          <a:ln w="10160">
            <a:solidFill>
              <a:srgbClr val="34323E"/>
            </a:solidFill>
            <a:prstDash val="solid"/>
          </a:ln>
        </p:spPr>
      </p:sp>
      <p:sp>
        <p:nvSpPr>
          <p:cNvPr id="34" name="Text 32"/>
          <p:cNvSpPr txBox="1"/>
          <p:nvPr/>
        </p:nvSpPr>
        <p:spPr>
          <a:xfrm>
            <a:off x="6473952" y="4306824"/>
            <a:ext cx="329184" cy="182880"/>
          </a:xfrm>
          <a:prstGeom prst="rect">
            <a:avLst/>
          </a:prstGeom>
          <a:noFill/>
          <a:ln/>
        </p:spPr>
        <p:txBody>
          <a:bodyPr wrap="square" lIns="0" tIns="0" rIns="0" bIns="0" rtlCol="0" anchor="t">
            <a:normAutofit/>
          </a:bodyPr>
          <a:lstStyle/>
          <a:p>
            <a:pPr algn="l" indent="0" marL="0">
              <a:buNone/>
            </a:pPr>
            <a:r>
              <a:rPr lang="en-US" sz="800" b="1" dirty="0">
                <a:solidFill>
                  <a:srgbClr val="9A97A3"/>
                </a:solidFill>
                <a:latin typeface="Courier New" pitchFamily="34" charset="0"/>
                <a:ea typeface="Courier New" pitchFamily="34" charset="-122"/>
                <a:cs typeface="Courier New" pitchFamily="34" charset="-120"/>
              </a:rPr>
              <a:t>06</a:t>
            </a:r>
            <a:endParaRPr lang="en-US" sz="800" dirty="0"/>
          </a:p>
        </p:txBody>
      </p:sp>
      <p:sp>
        <p:nvSpPr>
          <p:cNvPr id="35" name="Text 33"/>
          <p:cNvSpPr txBox="1"/>
          <p:nvPr/>
        </p:nvSpPr>
        <p:spPr>
          <a:xfrm>
            <a:off x="6803136" y="4306824"/>
            <a:ext cx="1572768" cy="201168"/>
          </a:xfrm>
          <a:prstGeom prst="rect">
            <a:avLst/>
          </a:prstGeom>
          <a:noFill/>
          <a:ln/>
        </p:spPr>
        <p:txBody>
          <a:bodyPr wrap="square" lIns="0" tIns="0" rIns="0" bIns="0" rtlCol="0" anchor="t">
            <a:normAutofit/>
          </a:bodyPr>
          <a:lstStyle/>
          <a:p>
            <a:pPr algn="r" indent="0" marL="0">
              <a:buNone/>
            </a:pPr>
            <a:r>
              <a:rPr lang="en-US" sz="850" b="1" spc="80" kern="0" dirty="0">
                <a:solidFill>
                  <a:srgbClr val="E8A33D"/>
                </a:solidFill>
                <a:latin typeface="Courier New" pitchFamily="34" charset="0"/>
                <a:ea typeface="Courier New" pitchFamily="34" charset="-122"/>
                <a:cs typeface="Courier New" pitchFamily="34" charset="-120"/>
              </a:rPr>
              <a:t>SCHEDULE</a:t>
            </a:r>
            <a:endParaRPr lang="en-US" sz="850" dirty="0"/>
          </a:p>
        </p:txBody>
      </p:sp>
      <p:sp>
        <p:nvSpPr>
          <p:cNvPr id="36" name="Text 34"/>
          <p:cNvSpPr txBox="1"/>
          <p:nvPr/>
        </p:nvSpPr>
        <p:spPr>
          <a:xfrm>
            <a:off x="6492240" y="4700016"/>
            <a:ext cx="1938528" cy="411480"/>
          </a:xfrm>
          <a:prstGeom prst="rect">
            <a:avLst/>
          </a:prstGeom>
          <a:noFill/>
          <a:ln/>
        </p:spPr>
        <p:txBody>
          <a:bodyPr wrap="square" lIns="0" tIns="0" rIns="0" bIns="0" rtlCol="0" anchor="ctr">
            <a:normAutofit/>
          </a:bodyPr>
          <a:lstStyle/>
          <a:p>
            <a:pPr algn="ctr" indent="0" marL="0">
              <a:buNone/>
            </a:pPr>
            <a:r>
              <a:rPr lang="en-US" sz="1250" b="1" dirty="0">
                <a:solidFill>
                  <a:srgbClr val="E8E6E0"/>
                </a:solidFill>
                <a:latin typeface="Arial" pitchFamily="34" charset="0"/>
                <a:ea typeface="Arial" pitchFamily="34" charset="-122"/>
                <a:cs typeface="Arial" pitchFamily="34" charset="-120"/>
              </a:rPr>
              <a:t>Offer best valid slot</a:t>
            </a:r>
            <a:endParaRPr lang="en-US" sz="1250" dirty="0"/>
          </a:p>
        </p:txBody>
      </p:sp>
      <p:sp>
        <p:nvSpPr>
          <p:cNvPr id="37" name="Shape 35"/>
          <p:cNvSpPr/>
          <p:nvPr/>
        </p:nvSpPr>
        <p:spPr>
          <a:xfrm rot="10800000">
            <a:off x="5980176" y="4672584"/>
            <a:ext cx="219456" cy="219456"/>
          </a:xfrm>
          <a:prstGeom prst="chevron">
            <a:avLst/>
          </a:prstGeom>
          <a:solidFill>
            <a:srgbClr val="6FB3E8"/>
          </a:solidFill>
          <a:ln w="12700">
            <a:solidFill>
              <a:srgbClr val="6FB3E8"/>
            </a:solidFill>
            <a:prstDash val="solid"/>
          </a:ln>
        </p:spPr>
      </p:sp>
      <p:sp>
        <p:nvSpPr>
          <p:cNvPr id="38" name="Shape 36"/>
          <p:cNvSpPr/>
          <p:nvPr/>
        </p:nvSpPr>
        <p:spPr>
          <a:xfrm>
            <a:off x="3538728" y="4160520"/>
            <a:ext cx="2267712" cy="1234440"/>
          </a:xfrm>
          <a:prstGeom prst="roundRect">
            <a:avLst/>
          </a:prstGeom>
          <a:solidFill>
            <a:srgbClr val="1E1E28"/>
          </a:solidFill>
          <a:ln w="10160">
            <a:solidFill>
              <a:srgbClr val="34323E"/>
            </a:solidFill>
            <a:prstDash val="solid"/>
          </a:ln>
        </p:spPr>
      </p:sp>
      <p:sp>
        <p:nvSpPr>
          <p:cNvPr id="39" name="Text 37"/>
          <p:cNvSpPr txBox="1"/>
          <p:nvPr/>
        </p:nvSpPr>
        <p:spPr>
          <a:xfrm>
            <a:off x="3685032" y="4306824"/>
            <a:ext cx="329184" cy="182880"/>
          </a:xfrm>
          <a:prstGeom prst="rect">
            <a:avLst/>
          </a:prstGeom>
          <a:noFill/>
          <a:ln/>
        </p:spPr>
        <p:txBody>
          <a:bodyPr wrap="square" lIns="0" tIns="0" rIns="0" bIns="0" rtlCol="0" anchor="t">
            <a:normAutofit/>
          </a:bodyPr>
          <a:lstStyle/>
          <a:p>
            <a:pPr algn="l" indent="0" marL="0">
              <a:buNone/>
            </a:pPr>
            <a:r>
              <a:rPr lang="en-US" sz="800" b="1" dirty="0">
                <a:solidFill>
                  <a:srgbClr val="9A97A3"/>
                </a:solidFill>
                <a:latin typeface="Courier New" pitchFamily="34" charset="0"/>
                <a:ea typeface="Courier New" pitchFamily="34" charset="-122"/>
                <a:cs typeface="Courier New" pitchFamily="34" charset="-120"/>
              </a:rPr>
              <a:t>07</a:t>
            </a:r>
            <a:endParaRPr lang="en-US" sz="800" dirty="0"/>
          </a:p>
        </p:txBody>
      </p:sp>
      <p:sp>
        <p:nvSpPr>
          <p:cNvPr id="40" name="Text 38"/>
          <p:cNvSpPr txBox="1"/>
          <p:nvPr/>
        </p:nvSpPr>
        <p:spPr>
          <a:xfrm>
            <a:off x="4014216" y="4306824"/>
            <a:ext cx="1572768" cy="201168"/>
          </a:xfrm>
          <a:prstGeom prst="rect">
            <a:avLst/>
          </a:prstGeom>
          <a:noFill/>
          <a:ln/>
        </p:spPr>
        <p:txBody>
          <a:bodyPr wrap="square" lIns="0" tIns="0" rIns="0" bIns="0" rtlCol="0" anchor="t">
            <a:normAutofit/>
          </a:bodyPr>
          <a:lstStyle/>
          <a:p>
            <a:pPr algn="r" indent="0" marL="0">
              <a:buNone/>
            </a:pPr>
            <a:r>
              <a:rPr lang="en-US" sz="850" b="1" spc="80" kern="0" dirty="0">
                <a:solidFill>
                  <a:srgbClr val="E8A33D"/>
                </a:solidFill>
                <a:latin typeface="Courier New" pitchFamily="34" charset="0"/>
                <a:ea typeface="Courier New" pitchFamily="34" charset="-122"/>
                <a:cs typeface="Courier New" pitchFamily="34" charset="-120"/>
              </a:rPr>
              <a:t>ACT</a:t>
            </a:r>
            <a:endParaRPr lang="en-US" sz="850" dirty="0"/>
          </a:p>
        </p:txBody>
      </p:sp>
      <p:sp>
        <p:nvSpPr>
          <p:cNvPr id="41" name="Text 39"/>
          <p:cNvSpPr txBox="1"/>
          <p:nvPr/>
        </p:nvSpPr>
        <p:spPr>
          <a:xfrm>
            <a:off x="3703320" y="4700016"/>
            <a:ext cx="1938528" cy="411480"/>
          </a:xfrm>
          <a:prstGeom prst="rect">
            <a:avLst/>
          </a:prstGeom>
          <a:noFill/>
          <a:ln/>
        </p:spPr>
        <p:txBody>
          <a:bodyPr wrap="square" lIns="0" tIns="0" rIns="0" bIns="0" rtlCol="0" anchor="ctr">
            <a:normAutofit/>
          </a:bodyPr>
          <a:lstStyle/>
          <a:p>
            <a:pPr algn="ctr" indent="0" marL="0">
              <a:buNone/>
            </a:pPr>
            <a:r>
              <a:rPr lang="en-US" sz="1250" b="1" dirty="0">
                <a:solidFill>
                  <a:srgbClr val="E8E6E0"/>
                </a:solidFill>
                <a:latin typeface="Arial" pitchFamily="34" charset="0"/>
                <a:ea typeface="Arial" pitchFamily="34" charset="-122"/>
                <a:cs typeface="Arial" pitchFamily="34" charset="-120"/>
              </a:rPr>
              <a:t>Update CRM + send SMS</a:t>
            </a:r>
            <a:endParaRPr lang="en-US" sz="1250" dirty="0"/>
          </a:p>
        </p:txBody>
      </p:sp>
      <p:sp>
        <p:nvSpPr>
          <p:cNvPr id="42" name="Shape 40"/>
          <p:cNvSpPr/>
          <p:nvPr/>
        </p:nvSpPr>
        <p:spPr>
          <a:xfrm rot="10800000">
            <a:off x="3191256" y="4672584"/>
            <a:ext cx="219456" cy="219456"/>
          </a:xfrm>
          <a:prstGeom prst="chevron">
            <a:avLst/>
          </a:prstGeom>
          <a:solidFill>
            <a:srgbClr val="6FB3E8"/>
          </a:solidFill>
          <a:ln w="12700">
            <a:solidFill>
              <a:srgbClr val="6FB3E8"/>
            </a:solidFill>
            <a:prstDash val="solid"/>
          </a:ln>
        </p:spPr>
      </p:sp>
      <p:sp>
        <p:nvSpPr>
          <p:cNvPr id="43" name="Shape 41"/>
          <p:cNvSpPr/>
          <p:nvPr/>
        </p:nvSpPr>
        <p:spPr>
          <a:xfrm>
            <a:off x="749808" y="4160520"/>
            <a:ext cx="2267712" cy="1234440"/>
          </a:xfrm>
          <a:prstGeom prst="roundRect">
            <a:avLst/>
          </a:prstGeom>
          <a:solidFill>
            <a:srgbClr val="1E1E28"/>
          </a:solidFill>
          <a:ln w="10160">
            <a:solidFill>
              <a:srgbClr val="34323E"/>
            </a:solidFill>
            <a:prstDash val="solid"/>
          </a:ln>
        </p:spPr>
      </p:sp>
      <p:sp>
        <p:nvSpPr>
          <p:cNvPr id="44" name="Text 42"/>
          <p:cNvSpPr txBox="1"/>
          <p:nvPr/>
        </p:nvSpPr>
        <p:spPr>
          <a:xfrm>
            <a:off x="896112" y="4306824"/>
            <a:ext cx="329184" cy="182880"/>
          </a:xfrm>
          <a:prstGeom prst="rect">
            <a:avLst/>
          </a:prstGeom>
          <a:noFill/>
          <a:ln/>
        </p:spPr>
        <p:txBody>
          <a:bodyPr wrap="square" lIns="0" tIns="0" rIns="0" bIns="0" rtlCol="0" anchor="t">
            <a:normAutofit/>
          </a:bodyPr>
          <a:lstStyle/>
          <a:p>
            <a:pPr algn="l" indent="0" marL="0">
              <a:buNone/>
            </a:pPr>
            <a:r>
              <a:rPr lang="en-US" sz="800" b="1" dirty="0">
                <a:solidFill>
                  <a:srgbClr val="9A97A3"/>
                </a:solidFill>
                <a:latin typeface="Courier New" pitchFamily="34" charset="0"/>
                <a:ea typeface="Courier New" pitchFamily="34" charset="-122"/>
                <a:cs typeface="Courier New" pitchFamily="34" charset="-120"/>
              </a:rPr>
              <a:t>08</a:t>
            </a:r>
            <a:endParaRPr lang="en-US" sz="800" dirty="0"/>
          </a:p>
        </p:txBody>
      </p:sp>
      <p:sp>
        <p:nvSpPr>
          <p:cNvPr id="45" name="Text 43"/>
          <p:cNvSpPr txBox="1"/>
          <p:nvPr/>
        </p:nvSpPr>
        <p:spPr>
          <a:xfrm>
            <a:off x="1225296" y="4306824"/>
            <a:ext cx="1572768" cy="201168"/>
          </a:xfrm>
          <a:prstGeom prst="rect">
            <a:avLst/>
          </a:prstGeom>
          <a:noFill/>
          <a:ln/>
        </p:spPr>
        <p:txBody>
          <a:bodyPr wrap="square" lIns="0" tIns="0" rIns="0" bIns="0" rtlCol="0" anchor="t">
            <a:normAutofit/>
          </a:bodyPr>
          <a:lstStyle/>
          <a:p>
            <a:pPr algn="r" indent="0" marL="0">
              <a:buNone/>
            </a:pPr>
            <a:r>
              <a:rPr lang="en-US" sz="850" b="1" spc="80" kern="0" dirty="0">
                <a:solidFill>
                  <a:srgbClr val="E8A33D"/>
                </a:solidFill>
                <a:latin typeface="Courier New" pitchFamily="34" charset="0"/>
                <a:ea typeface="Courier New" pitchFamily="34" charset="-122"/>
                <a:cs typeface="Courier New" pitchFamily="34" charset="-120"/>
              </a:rPr>
              <a:t>HANDOFF</a:t>
            </a:r>
            <a:endParaRPr lang="en-US" sz="850" dirty="0"/>
          </a:p>
        </p:txBody>
      </p:sp>
      <p:sp>
        <p:nvSpPr>
          <p:cNvPr id="46" name="Text 44"/>
          <p:cNvSpPr txBox="1"/>
          <p:nvPr/>
        </p:nvSpPr>
        <p:spPr>
          <a:xfrm>
            <a:off x="914400" y="4700016"/>
            <a:ext cx="1938528" cy="411480"/>
          </a:xfrm>
          <a:prstGeom prst="rect">
            <a:avLst/>
          </a:prstGeom>
          <a:noFill/>
          <a:ln/>
        </p:spPr>
        <p:txBody>
          <a:bodyPr wrap="square" lIns="0" tIns="0" rIns="0" bIns="0" rtlCol="0" anchor="ctr">
            <a:normAutofit/>
          </a:bodyPr>
          <a:lstStyle/>
          <a:p>
            <a:pPr algn="ctr" indent="0" marL="0">
              <a:buNone/>
            </a:pPr>
            <a:r>
              <a:rPr lang="en-US" sz="1250" b="1" dirty="0">
                <a:solidFill>
                  <a:srgbClr val="E8E6E0"/>
                </a:solidFill>
                <a:latin typeface="Arial" pitchFamily="34" charset="0"/>
                <a:ea typeface="Arial" pitchFamily="34" charset="-122"/>
                <a:cs typeface="Arial" pitchFamily="34" charset="-120"/>
              </a:rPr>
              <a:t>Pass full context packet</a:t>
            </a:r>
            <a:endParaRPr lang="en-US" sz="1250" dirty="0"/>
          </a:p>
        </p:txBody>
      </p:sp>
      <p:sp>
        <p:nvSpPr>
          <p:cNvPr id="47" name="Shape 45"/>
          <p:cNvSpPr/>
          <p:nvPr/>
        </p:nvSpPr>
        <p:spPr>
          <a:xfrm rot="10800000">
            <a:off x="402336" y="4672584"/>
            <a:ext cx="219456" cy="219456"/>
          </a:xfrm>
          <a:prstGeom prst="chevron">
            <a:avLst/>
          </a:prstGeom>
          <a:solidFill>
            <a:srgbClr val="6FB3E8"/>
          </a:solidFill>
          <a:ln w="12700">
            <a:solidFill>
              <a:srgbClr val="6FB3E8"/>
            </a:solidFill>
            <a:prstDash val="solid"/>
          </a:ln>
        </p:spPr>
      </p:sp>
      <p:sp>
        <p:nvSpPr>
          <p:cNvPr id="48" name="Shape 46"/>
          <p:cNvSpPr/>
          <p:nvPr/>
        </p:nvSpPr>
        <p:spPr>
          <a:xfrm>
            <a:off x="10387584" y="3255264"/>
            <a:ext cx="256032" cy="493776"/>
          </a:xfrm>
          <a:prstGeom prst="downArrow">
            <a:avLst/>
          </a:prstGeom>
          <a:solidFill>
            <a:srgbClr val="6FB3E8"/>
          </a:solidFill>
          <a:ln w="12700">
            <a:solidFill>
              <a:srgbClr val="6FB3E8"/>
            </a:solidFill>
            <a:prstDash val="solid"/>
          </a:ln>
        </p:spPr>
      </p:sp>
      <p:sp>
        <p:nvSpPr>
          <p:cNvPr id="49" name="Shape 47"/>
          <p:cNvSpPr/>
          <p:nvPr/>
        </p:nvSpPr>
        <p:spPr>
          <a:xfrm>
            <a:off x="3639312" y="3328416"/>
            <a:ext cx="4901184" cy="457200"/>
          </a:xfrm>
          <a:prstGeom prst="roundRect">
            <a:avLst/>
          </a:prstGeom>
          <a:solidFill>
            <a:srgbClr val="100F14"/>
          </a:solidFill>
          <a:ln w="12700">
            <a:solidFill>
              <a:srgbClr val="6FB3E8"/>
            </a:solidFill>
            <a:prstDash val="solid"/>
          </a:ln>
        </p:spPr>
      </p:sp>
      <p:sp>
        <p:nvSpPr>
          <p:cNvPr id="50" name="Text 48"/>
          <p:cNvSpPr txBox="1"/>
          <p:nvPr/>
        </p:nvSpPr>
        <p:spPr>
          <a:xfrm>
            <a:off x="3913632" y="3465576"/>
            <a:ext cx="4352544" cy="164592"/>
          </a:xfrm>
          <a:prstGeom prst="rect">
            <a:avLst/>
          </a:prstGeom>
          <a:noFill/>
          <a:ln/>
        </p:spPr>
        <p:txBody>
          <a:bodyPr wrap="square" lIns="0" tIns="0" rIns="0" bIns="0" rtlCol="0" anchor="t">
            <a:normAutofit/>
          </a:bodyPr>
          <a:lstStyle/>
          <a:p>
            <a:pPr algn="ctr" indent="0" marL="0">
              <a:buNone/>
            </a:pPr>
            <a:r>
              <a:rPr lang="en-US" sz="1000" b="1" spc="100" kern="0" dirty="0">
                <a:solidFill>
                  <a:srgbClr val="6FB3E8"/>
                </a:solidFill>
                <a:latin typeface="Courier New" pitchFamily="34" charset="0"/>
                <a:ea typeface="Courier New" pitchFamily="34" charset="-122"/>
                <a:cs typeface="Courier New" pitchFamily="34" charset="-120"/>
              </a:rPr>
              <a:t>DEFINING MOMENT: WEB → PHONE, SAME JOURNEY</a:t>
            </a:r>
            <a:endParaRPr lang="en-US" sz="1000" dirty="0"/>
          </a:p>
        </p:txBody>
      </p:sp>
      <p:sp>
        <p:nvSpPr>
          <p:cNvPr id="51" name="Text 49"/>
          <p:cNvSpPr txBox="1"/>
          <p:nvPr/>
        </p:nvSpPr>
        <p:spPr>
          <a:xfrm>
            <a:off x="941832" y="5760720"/>
            <a:ext cx="10332720" cy="310896"/>
          </a:xfrm>
          <a:prstGeom prst="rect">
            <a:avLst/>
          </a:prstGeom>
          <a:noFill/>
          <a:ln/>
        </p:spPr>
        <p:txBody>
          <a:bodyPr wrap="square" lIns="0" tIns="0" rIns="0" bIns="0" rtlCol="0" anchor="t">
            <a:normAutofit/>
          </a:bodyPr>
          <a:lstStyle/>
          <a:p>
            <a:pPr algn="ctr" indent="0" marL="0">
              <a:buNone/>
            </a:pPr>
            <a:r>
              <a:rPr lang="en-US" sz="1100" i="1" dirty="0">
                <a:solidFill>
                  <a:srgbClr val="9A97A3"/>
                </a:solidFill>
                <a:latin typeface="Arial" pitchFamily="34" charset="0"/>
                <a:ea typeface="Arial" pitchFamily="34" charset="-122"/>
                <a:cs typeface="Arial" pitchFamily="34" charset="-120"/>
              </a:rPr>
              <a:t>Acceptance criterion: the customer does not repeat already verified information, and every approved action is recorded once.</a:t>
            </a:r>
            <a:endParaRPr lang="en-US" sz="1100" dirty="0"/>
          </a:p>
        </p:txBody>
      </p:sp>
      <p:sp>
        <p:nvSpPr>
          <p:cNvPr id="25" name="Slide Number Placeholder 0"/>
          <p:cNvSpPr>
            <a:spLocks noGrp="1"/>
          </p:cNvSpPr>
          <p:nvPr>
            <p:ph type="sldNum" sz="quarter" idx="4294967295"/>
          </p:nvPr>
        </p:nvSpPr>
        <p:spPr>
          <a:xfrm>
            <a:off x="11109960" y="6483096"/>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9A97A3"/>
                </a:solidFill>
                <a:latin typeface="Courier New"/>
                <a:ea typeface="Courier New"/>
                <a:cs typeface="Courier New"/>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61D"/>
        </a:solidFill>
      </p:bgPr>
    </p:bg>
    <p:spTree>
      <p:nvGrpSpPr>
        <p:cNvPr id="1" name=""/>
        <p:cNvGrpSpPr/>
        <p:nvPr/>
      </p:nvGrpSpPr>
      <p:grpSpPr>
        <a:xfrm>
          <a:off x="0" y="0"/>
          <a:ext cx="0" cy="0"/>
          <a:chOff x="0" y="0"/>
          <a:chExt cx="0" cy="0"/>
        </a:xfrm>
      </p:grpSpPr>
      <p:sp>
        <p:nvSpPr>
          <p:cNvPr id="2" name="Text 0"/>
          <p:cNvSpPr txBox="1"/>
          <p:nvPr/>
        </p:nvSpPr>
        <p:spPr>
          <a:xfrm>
            <a:off x="713232" y="384048"/>
            <a:ext cx="5120640" cy="219456"/>
          </a:xfrm>
          <a:prstGeom prst="rect">
            <a:avLst/>
          </a:prstGeom>
          <a:noFill/>
          <a:ln/>
        </p:spPr>
        <p:txBody>
          <a:bodyPr wrap="square" lIns="0" tIns="0" rIns="0" bIns="0" rtlCol="0" anchor="t">
            <a:normAutofit/>
          </a:bodyPr>
          <a:lstStyle/>
          <a:p>
            <a:pPr algn="l" indent="0" marL="0">
              <a:buNone/>
            </a:pPr>
            <a:r>
              <a:rPr lang="en-US" sz="900" b="1" spc="210" kern="0" dirty="0">
                <a:solidFill>
                  <a:srgbClr val="9A97A3"/>
                </a:solidFill>
                <a:latin typeface="Courier New" pitchFamily="34" charset="0"/>
                <a:ea typeface="Courier New" pitchFamily="34" charset="-122"/>
                <a:cs typeface="Courier New" pitchFamily="34" charset="-120"/>
              </a:rPr>
              <a:t>PROPOSED MVP</a:t>
            </a:r>
            <a:endParaRPr lang="en-US" sz="900" dirty="0"/>
          </a:p>
        </p:txBody>
      </p:sp>
      <p:sp>
        <p:nvSpPr>
          <p:cNvPr id="3" name="Text 1"/>
          <p:cNvSpPr txBox="1"/>
          <p:nvPr/>
        </p:nvSpPr>
        <p:spPr>
          <a:xfrm>
            <a:off x="10424160" y="347472"/>
            <a:ext cx="1051560" cy="228600"/>
          </a:xfrm>
          <a:prstGeom prst="rect">
            <a:avLst/>
          </a:prstGeom>
          <a:noFill/>
          <a:ln/>
        </p:spPr>
        <p:txBody>
          <a:bodyPr wrap="square" lIns="0" tIns="0" rIns="0" bIns="0" rtlCol="0" anchor="t">
            <a:normAutofit/>
          </a:bodyPr>
          <a:lstStyle/>
          <a:p>
            <a:pPr algn="r" indent="0" marL="0">
              <a:buNone/>
            </a:pPr>
            <a:r>
              <a:rPr lang="en-US" sz="1000" b="1" spc="240" kern="0" dirty="0">
                <a:solidFill>
                  <a:srgbClr val="E8E6E0"/>
                </a:solidFill>
                <a:latin typeface="Courier New" pitchFamily="34" charset="0"/>
                <a:ea typeface="Courier New" pitchFamily="34" charset="-122"/>
                <a:cs typeface="Courier New" pitchFamily="34" charset="-120"/>
              </a:rPr>
              <a:t>CYBIC</a:t>
            </a:r>
            <a:endParaRPr lang="en-US" sz="1000" dirty="0"/>
          </a:p>
        </p:txBody>
      </p:sp>
      <p:sp>
        <p:nvSpPr>
          <p:cNvPr id="4" name="Text 2"/>
          <p:cNvSpPr txBox="1"/>
          <p:nvPr/>
        </p:nvSpPr>
        <p:spPr>
          <a:xfrm>
            <a:off x="685800" y="713232"/>
            <a:ext cx="10744200" cy="566928"/>
          </a:xfrm>
          <a:prstGeom prst="rect">
            <a:avLst/>
          </a:prstGeom>
          <a:noFill/>
          <a:ln/>
        </p:spPr>
        <p:txBody>
          <a:bodyPr wrap="square" lIns="0" tIns="0" rIns="0" bIns="0" rtlCol="0" anchor="t">
            <a:normAutofit/>
          </a:bodyPr>
          <a:lstStyle/>
          <a:p>
            <a:pPr algn="l" indent="0" marL="0">
              <a:buNone/>
            </a:pPr>
            <a:r>
              <a:rPr lang="en-US" sz="2800" b="1" dirty="0">
                <a:solidFill>
                  <a:srgbClr val="6FB3E8"/>
                </a:solidFill>
                <a:latin typeface="Arial" pitchFamily="34" charset="0"/>
                <a:ea typeface="Arial" pitchFamily="34" charset="-122"/>
                <a:cs typeface="Arial" pitchFamily="34" charset="-120"/>
              </a:rPr>
              <a:t>A bounded MVP — with expansion designed in</a:t>
            </a:r>
            <a:endParaRPr lang="en-US" sz="2800" dirty="0"/>
          </a:p>
        </p:txBody>
      </p:sp>
      <p:sp>
        <p:nvSpPr>
          <p:cNvPr id="5" name="Text 3"/>
          <p:cNvSpPr txBox="1"/>
          <p:nvPr/>
        </p:nvSpPr>
        <p:spPr>
          <a:xfrm>
            <a:off x="713232" y="1298448"/>
            <a:ext cx="10607040" cy="411480"/>
          </a:xfrm>
          <a:prstGeom prst="rect">
            <a:avLst/>
          </a:prstGeom>
          <a:noFill/>
          <a:ln/>
        </p:spPr>
        <p:txBody>
          <a:bodyPr wrap="square" lIns="0" tIns="0" rIns="0" bIns="0" rtlCol="0" anchor="t">
            <a:normAutofit/>
          </a:bodyPr>
          <a:lstStyle/>
          <a:p>
            <a:pPr algn="l" indent="0" marL="0">
              <a:buNone/>
            </a:pPr>
            <a:r>
              <a:rPr lang="en-US" sz="1350" dirty="0">
                <a:solidFill>
                  <a:srgbClr val="9A97A3"/>
                </a:solidFill>
                <a:latin typeface="Arial" pitchFamily="34" charset="0"/>
                <a:ea typeface="Arial" pitchFamily="34" charset="-122"/>
                <a:cs typeface="Arial" pitchFamily="34" charset="-120"/>
              </a:rPr>
              <a:t>Prove continuity and governed action before multiplying channels and connectors.</a:t>
            </a:r>
            <a:endParaRPr lang="en-US" sz="1350" dirty="0"/>
          </a:p>
        </p:txBody>
      </p:sp>
      <p:sp>
        <p:nvSpPr>
          <p:cNvPr id="6" name="Shape 4"/>
          <p:cNvSpPr/>
          <p:nvPr/>
        </p:nvSpPr>
        <p:spPr>
          <a:xfrm>
            <a:off x="658368" y="6428232"/>
            <a:ext cx="10863072" cy="0"/>
          </a:xfrm>
          <a:prstGeom prst="line">
            <a:avLst/>
          </a:prstGeom>
          <a:noFill/>
          <a:ln w="8890">
            <a:solidFill>
              <a:srgbClr val="34323E"/>
            </a:solidFill>
            <a:prstDash val="solid"/>
          </a:ln>
        </p:spPr>
      </p:sp>
      <p:sp>
        <p:nvSpPr>
          <p:cNvPr id="7" name="Text 5"/>
          <p:cNvSpPr txBox="1"/>
          <p:nvPr/>
        </p:nvSpPr>
        <p:spPr>
          <a:xfrm>
            <a:off x="685800" y="6473952"/>
            <a:ext cx="2926080" cy="146304"/>
          </a:xfrm>
          <a:prstGeom prst="rect">
            <a:avLst/>
          </a:prstGeom>
          <a:noFill/>
          <a:ln/>
        </p:spPr>
        <p:txBody>
          <a:bodyPr wrap="square" lIns="0" tIns="0" rIns="0" bIns="0" rtlCol="0" anchor="t">
            <a:normAutofit/>
          </a:bodyPr>
          <a:lstStyle/>
          <a:p>
            <a:pPr algn="l" indent="0" marL="0">
              <a:buNone/>
            </a:pPr>
            <a:r>
              <a:rPr lang="en-US" sz="750" spc="120" kern="0" dirty="0">
                <a:solidFill>
                  <a:srgbClr val="9A97A3"/>
                </a:solidFill>
                <a:latin typeface="Courier New" pitchFamily="34" charset="0"/>
                <a:ea typeface="Courier New" pitchFamily="34" charset="-122"/>
                <a:cs typeface="Courier New" pitchFamily="34" charset="-120"/>
              </a:rPr>
              <a:t>CYBIC  •  CONFIDENTIAL</a:t>
            </a:r>
            <a:endParaRPr lang="en-US" sz="750" dirty="0"/>
          </a:p>
        </p:txBody>
      </p:sp>
      <p:sp>
        <p:nvSpPr>
          <p:cNvPr id="8" name="Shape 6"/>
          <p:cNvSpPr/>
          <p:nvPr/>
        </p:nvSpPr>
        <p:spPr>
          <a:xfrm>
            <a:off x="749808" y="1755648"/>
            <a:ext cx="6629400" cy="4224528"/>
          </a:xfrm>
          <a:prstGeom prst="roundRect">
            <a:avLst/>
          </a:prstGeom>
          <a:solidFill>
            <a:srgbClr val="20303D"/>
          </a:solidFill>
          <a:ln w="16510">
            <a:solidFill>
              <a:srgbClr val="6FB3E8"/>
            </a:solidFill>
            <a:prstDash val="solid"/>
          </a:ln>
        </p:spPr>
      </p:sp>
      <p:sp>
        <p:nvSpPr>
          <p:cNvPr id="9" name="Shape 7"/>
          <p:cNvSpPr/>
          <p:nvPr/>
        </p:nvSpPr>
        <p:spPr>
          <a:xfrm>
            <a:off x="987552" y="1975104"/>
            <a:ext cx="841248" cy="310896"/>
          </a:xfrm>
          <a:prstGeom prst="roundRect">
            <a:avLst/>
          </a:prstGeom>
          <a:solidFill>
            <a:srgbClr val="20303D"/>
          </a:solidFill>
          <a:ln w="10160">
            <a:solidFill>
              <a:srgbClr val="6FB3E8"/>
            </a:solidFill>
            <a:prstDash val="solid"/>
          </a:ln>
        </p:spPr>
      </p:sp>
      <p:sp>
        <p:nvSpPr>
          <p:cNvPr id="10" name="Text 8"/>
          <p:cNvSpPr txBox="1"/>
          <p:nvPr/>
        </p:nvSpPr>
        <p:spPr>
          <a:xfrm>
            <a:off x="1033272" y="2011680"/>
            <a:ext cx="749808" cy="246888"/>
          </a:xfrm>
          <a:prstGeom prst="rect">
            <a:avLst/>
          </a:prstGeom>
          <a:noFill/>
          <a:ln/>
        </p:spPr>
        <p:txBody>
          <a:bodyPr wrap="square" lIns="0" tIns="0" rIns="0" bIns="0" rtlCol="0" anchor="ctr">
            <a:normAutofit/>
          </a:bodyPr>
          <a:lstStyle/>
          <a:p>
            <a:pPr algn="ctr" indent="0" marL="0">
              <a:buNone/>
            </a:pPr>
            <a:r>
              <a:rPr lang="en-US" sz="850" b="1" spc="100" kern="0" dirty="0">
                <a:solidFill>
                  <a:srgbClr val="6FB3E8"/>
                </a:solidFill>
                <a:latin typeface="Courier New" pitchFamily="34" charset="0"/>
                <a:ea typeface="Courier New" pitchFamily="34" charset="-122"/>
                <a:cs typeface="Courier New" pitchFamily="34" charset="-120"/>
              </a:rPr>
              <a:t>INCLUDE</a:t>
            </a:r>
            <a:endParaRPr lang="en-US" sz="850" dirty="0"/>
          </a:p>
        </p:txBody>
      </p:sp>
      <p:sp>
        <p:nvSpPr>
          <p:cNvPr id="11" name="Text 9"/>
          <p:cNvSpPr txBox="1"/>
          <p:nvPr/>
        </p:nvSpPr>
        <p:spPr>
          <a:xfrm>
            <a:off x="987552" y="2505456"/>
            <a:ext cx="2697480" cy="182880"/>
          </a:xfrm>
          <a:prstGeom prst="rect">
            <a:avLst/>
          </a:prstGeom>
          <a:noFill/>
          <a:ln/>
        </p:spPr>
        <p:txBody>
          <a:bodyPr wrap="square" lIns="0" tIns="0" rIns="0" bIns="0" rtlCol="0" anchor="t">
            <a:normAutofit/>
          </a:bodyPr>
          <a:lstStyle/>
          <a:p>
            <a:pPr algn="l" indent="0" marL="0">
              <a:buNone/>
            </a:pPr>
            <a:r>
              <a:rPr lang="en-US" sz="800" b="1" spc="100" kern="0" dirty="0">
                <a:solidFill>
                  <a:srgbClr val="6FB3E8"/>
                </a:solidFill>
                <a:latin typeface="Courier New" pitchFamily="34" charset="0"/>
                <a:ea typeface="Courier New" pitchFamily="34" charset="-122"/>
                <a:cs typeface="Courier New" pitchFamily="34" charset="-120"/>
              </a:rPr>
              <a:t>CHANNELS</a:t>
            </a:r>
            <a:endParaRPr lang="en-US" sz="800" dirty="0"/>
          </a:p>
        </p:txBody>
      </p:sp>
      <p:sp>
        <p:nvSpPr>
          <p:cNvPr id="12" name="Text 10"/>
          <p:cNvSpPr txBox="1"/>
          <p:nvPr/>
        </p:nvSpPr>
        <p:spPr>
          <a:xfrm>
            <a:off x="987552" y="2779776"/>
            <a:ext cx="2697480" cy="457200"/>
          </a:xfrm>
          <a:prstGeom prst="rect">
            <a:avLst/>
          </a:prstGeom>
          <a:noFill/>
          <a:ln/>
        </p:spPr>
        <p:txBody>
          <a:bodyPr wrap="square" lIns="0" tIns="0" rIns="0" bIns="0" rtlCol="0" anchor="t">
            <a:normAutofit/>
          </a:bodyPr>
          <a:lstStyle/>
          <a:p>
            <a:pPr algn="l" indent="0" marL="0">
              <a:buNone/>
            </a:pPr>
            <a:r>
              <a:rPr lang="en-US" sz="1150" dirty="0">
                <a:solidFill>
                  <a:srgbClr val="E8E6E0"/>
                </a:solidFill>
                <a:latin typeface="Arial" pitchFamily="34" charset="0"/>
                <a:ea typeface="Arial" pitchFamily="34" charset="-122"/>
                <a:cs typeface="Arial" pitchFamily="34" charset="-120"/>
              </a:rPr>
              <a:t>Website chat • inbound voice • transactional SMS</a:t>
            </a:r>
            <a:endParaRPr lang="en-US" sz="1150" dirty="0"/>
          </a:p>
        </p:txBody>
      </p:sp>
      <p:sp>
        <p:nvSpPr>
          <p:cNvPr id="13" name="Text 11"/>
          <p:cNvSpPr txBox="1"/>
          <p:nvPr/>
        </p:nvSpPr>
        <p:spPr>
          <a:xfrm>
            <a:off x="4078224" y="2505456"/>
            <a:ext cx="2697480" cy="182880"/>
          </a:xfrm>
          <a:prstGeom prst="rect">
            <a:avLst/>
          </a:prstGeom>
          <a:noFill/>
          <a:ln/>
        </p:spPr>
        <p:txBody>
          <a:bodyPr wrap="square" lIns="0" tIns="0" rIns="0" bIns="0" rtlCol="0" anchor="t">
            <a:normAutofit/>
          </a:bodyPr>
          <a:lstStyle/>
          <a:p>
            <a:pPr algn="l" indent="0" marL="0">
              <a:buNone/>
            </a:pPr>
            <a:r>
              <a:rPr lang="en-US" sz="800" b="1" spc="100" kern="0" dirty="0">
                <a:solidFill>
                  <a:srgbClr val="6FB3E8"/>
                </a:solidFill>
                <a:latin typeface="Courier New" pitchFamily="34" charset="0"/>
                <a:ea typeface="Courier New" pitchFamily="34" charset="-122"/>
                <a:cs typeface="Courier New" pitchFamily="34" charset="-120"/>
              </a:rPr>
              <a:t>JOURNEY</a:t>
            </a:r>
            <a:endParaRPr lang="en-US" sz="800" dirty="0"/>
          </a:p>
        </p:txBody>
      </p:sp>
      <p:sp>
        <p:nvSpPr>
          <p:cNvPr id="14" name="Text 12"/>
          <p:cNvSpPr txBox="1"/>
          <p:nvPr/>
        </p:nvSpPr>
        <p:spPr>
          <a:xfrm>
            <a:off x="4078224" y="2779776"/>
            <a:ext cx="2697480" cy="457200"/>
          </a:xfrm>
          <a:prstGeom prst="rect">
            <a:avLst/>
          </a:prstGeom>
          <a:noFill/>
          <a:ln/>
        </p:spPr>
        <p:txBody>
          <a:bodyPr wrap="square" lIns="0" tIns="0" rIns="0" bIns="0" rtlCol="0" anchor="t">
            <a:normAutofit/>
          </a:bodyPr>
          <a:lstStyle/>
          <a:p>
            <a:pPr algn="l" indent="0" marL="0">
              <a:buNone/>
            </a:pPr>
            <a:r>
              <a:rPr lang="en-US" sz="1150" dirty="0">
                <a:solidFill>
                  <a:srgbClr val="E8E6E0"/>
                </a:solidFill>
                <a:latin typeface="Arial" pitchFamily="34" charset="0"/>
                <a:ea typeface="Arial" pitchFamily="34" charset="-122"/>
                <a:cs typeface="Arial" pitchFamily="34" charset="-120"/>
              </a:rPr>
              <a:t>3–5 high-value intents • verified identity • unified timeline</a:t>
            </a:r>
            <a:endParaRPr lang="en-US" sz="1150" dirty="0"/>
          </a:p>
        </p:txBody>
      </p:sp>
      <p:sp>
        <p:nvSpPr>
          <p:cNvPr id="15" name="Text 13"/>
          <p:cNvSpPr txBox="1"/>
          <p:nvPr/>
        </p:nvSpPr>
        <p:spPr>
          <a:xfrm>
            <a:off x="987552" y="3465576"/>
            <a:ext cx="2697480" cy="182880"/>
          </a:xfrm>
          <a:prstGeom prst="rect">
            <a:avLst/>
          </a:prstGeom>
          <a:noFill/>
          <a:ln/>
        </p:spPr>
        <p:txBody>
          <a:bodyPr wrap="square" lIns="0" tIns="0" rIns="0" bIns="0" rtlCol="0" anchor="t">
            <a:normAutofit/>
          </a:bodyPr>
          <a:lstStyle/>
          <a:p>
            <a:pPr algn="l" indent="0" marL="0">
              <a:buNone/>
            </a:pPr>
            <a:r>
              <a:rPr lang="en-US" sz="800" b="1" spc="100" kern="0" dirty="0">
                <a:solidFill>
                  <a:srgbClr val="6FB3E8"/>
                </a:solidFill>
                <a:latin typeface="Courier New" pitchFamily="34" charset="0"/>
                <a:ea typeface="Courier New" pitchFamily="34" charset="-122"/>
                <a:cs typeface="Courier New" pitchFamily="34" charset="-120"/>
              </a:rPr>
              <a:t>INTELLIGENCE</a:t>
            </a:r>
            <a:endParaRPr lang="en-US" sz="800" dirty="0"/>
          </a:p>
        </p:txBody>
      </p:sp>
      <p:sp>
        <p:nvSpPr>
          <p:cNvPr id="16" name="Text 14"/>
          <p:cNvSpPr txBox="1"/>
          <p:nvPr/>
        </p:nvSpPr>
        <p:spPr>
          <a:xfrm>
            <a:off x="987552" y="3739896"/>
            <a:ext cx="2697480" cy="457200"/>
          </a:xfrm>
          <a:prstGeom prst="rect">
            <a:avLst/>
          </a:prstGeom>
          <a:noFill/>
          <a:ln/>
        </p:spPr>
        <p:txBody>
          <a:bodyPr wrap="square" lIns="0" tIns="0" rIns="0" bIns="0" rtlCol="0" anchor="t">
            <a:normAutofit/>
          </a:bodyPr>
          <a:lstStyle/>
          <a:p>
            <a:pPr algn="l" indent="0" marL="0">
              <a:buNone/>
            </a:pPr>
            <a:r>
              <a:rPr lang="en-US" sz="1150" dirty="0">
                <a:solidFill>
                  <a:srgbClr val="E8E6E0"/>
                </a:solidFill>
                <a:latin typeface="Arial" pitchFamily="34" charset="0"/>
                <a:ea typeface="Arial" pitchFamily="34" charset="-122"/>
                <a:cs typeface="Arial" pitchFamily="34" charset="-120"/>
              </a:rPr>
              <a:t>Approved knowledge + citations • structured capture • qualification</a:t>
            </a:r>
            <a:endParaRPr lang="en-US" sz="1150" dirty="0"/>
          </a:p>
        </p:txBody>
      </p:sp>
      <p:sp>
        <p:nvSpPr>
          <p:cNvPr id="17" name="Text 15"/>
          <p:cNvSpPr txBox="1"/>
          <p:nvPr/>
        </p:nvSpPr>
        <p:spPr>
          <a:xfrm>
            <a:off x="4078224" y="3465576"/>
            <a:ext cx="2697480" cy="182880"/>
          </a:xfrm>
          <a:prstGeom prst="rect">
            <a:avLst/>
          </a:prstGeom>
          <a:noFill/>
          <a:ln/>
        </p:spPr>
        <p:txBody>
          <a:bodyPr wrap="square" lIns="0" tIns="0" rIns="0" bIns="0" rtlCol="0" anchor="t">
            <a:normAutofit/>
          </a:bodyPr>
          <a:lstStyle/>
          <a:p>
            <a:pPr algn="l" indent="0" marL="0">
              <a:buNone/>
            </a:pPr>
            <a:r>
              <a:rPr lang="en-US" sz="800" b="1" spc="100" kern="0" dirty="0">
                <a:solidFill>
                  <a:srgbClr val="6FB3E8"/>
                </a:solidFill>
                <a:latin typeface="Courier New" pitchFamily="34" charset="0"/>
                <a:ea typeface="Courier New" pitchFamily="34" charset="-122"/>
                <a:cs typeface="Courier New" pitchFamily="34" charset="-120"/>
              </a:rPr>
              <a:t>BUSINESS ACTION</a:t>
            </a:r>
            <a:endParaRPr lang="en-US" sz="800" dirty="0"/>
          </a:p>
        </p:txBody>
      </p:sp>
      <p:sp>
        <p:nvSpPr>
          <p:cNvPr id="18" name="Text 16"/>
          <p:cNvSpPr txBox="1"/>
          <p:nvPr/>
        </p:nvSpPr>
        <p:spPr>
          <a:xfrm>
            <a:off x="4078224" y="3739896"/>
            <a:ext cx="2697480" cy="457200"/>
          </a:xfrm>
          <a:prstGeom prst="rect">
            <a:avLst/>
          </a:prstGeom>
          <a:noFill/>
          <a:ln/>
        </p:spPr>
        <p:txBody>
          <a:bodyPr wrap="square" lIns="0" tIns="0" rIns="0" bIns="0" rtlCol="0" anchor="t">
            <a:normAutofit/>
          </a:bodyPr>
          <a:lstStyle/>
          <a:p>
            <a:pPr algn="l" indent="0" marL="0">
              <a:buNone/>
            </a:pPr>
            <a:r>
              <a:rPr lang="en-US" sz="1150" dirty="0">
                <a:solidFill>
                  <a:srgbClr val="E8E6E0"/>
                </a:solidFill>
                <a:latin typeface="Arial" pitchFamily="34" charset="0"/>
                <a:ea typeface="Arial" pitchFamily="34" charset="-122"/>
                <a:cs typeface="Arial" pitchFamily="34" charset="-120"/>
              </a:rPr>
              <a:t>ZIP/service-area rules • one calendar • one CRM</a:t>
            </a:r>
            <a:endParaRPr lang="en-US" sz="1150" dirty="0"/>
          </a:p>
        </p:txBody>
      </p:sp>
      <p:sp>
        <p:nvSpPr>
          <p:cNvPr id="19" name="Text 17"/>
          <p:cNvSpPr txBox="1"/>
          <p:nvPr/>
        </p:nvSpPr>
        <p:spPr>
          <a:xfrm>
            <a:off x="987552" y="4425696"/>
            <a:ext cx="2697480" cy="182880"/>
          </a:xfrm>
          <a:prstGeom prst="rect">
            <a:avLst/>
          </a:prstGeom>
          <a:noFill/>
          <a:ln/>
        </p:spPr>
        <p:txBody>
          <a:bodyPr wrap="square" lIns="0" tIns="0" rIns="0" bIns="0" rtlCol="0" anchor="t">
            <a:normAutofit/>
          </a:bodyPr>
          <a:lstStyle/>
          <a:p>
            <a:pPr algn="l" indent="0" marL="0">
              <a:buNone/>
            </a:pPr>
            <a:r>
              <a:rPr lang="en-US" sz="800" b="1" spc="100" kern="0" dirty="0">
                <a:solidFill>
                  <a:srgbClr val="6FB3E8"/>
                </a:solidFill>
                <a:latin typeface="Courier New" pitchFamily="34" charset="0"/>
                <a:ea typeface="Courier New" pitchFamily="34" charset="-122"/>
                <a:cs typeface="Courier New" pitchFamily="34" charset="-120"/>
              </a:rPr>
              <a:t>PEOPLE</a:t>
            </a:r>
            <a:endParaRPr lang="en-US" sz="800" dirty="0"/>
          </a:p>
        </p:txBody>
      </p:sp>
      <p:sp>
        <p:nvSpPr>
          <p:cNvPr id="20" name="Text 18"/>
          <p:cNvSpPr txBox="1"/>
          <p:nvPr/>
        </p:nvSpPr>
        <p:spPr>
          <a:xfrm>
            <a:off x="987552" y="4700016"/>
            <a:ext cx="2697480" cy="457200"/>
          </a:xfrm>
          <a:prstGeom prst="rect">
            <a:avLst/>
          </a:prstGeom>
          <a:noFill/>
          <a:ln/>
        </p:spPr>
        <p:txBody>
          <a:bodyPr wrap="square" lIns="0" tIns="0" rIns="0" bIns="0" rtlCol="0" anchor="t">
            <a:normAutofit/>
          </a:bodyPr>
          <a:lstStyle/>
          <a:p>
            <a:pPr algn="l" indent="0" marL="0">
              <a:buNone/>
            </a:pPr>
            <a:r>
              <a:rPr lang="en-US" sz="1150" dirty="0">
                <a:solidFill>
                  <a:srgbClr val="E8E6E0"/>
                </a:solidFill>
                <a:latin typeface="Arial" pitchFamily="34" charset="0"/>
                <a:ea typeface="Arial" pitchFamily="34" charset="-122"/>
                <a:cs typeface="Arial" pitchFamily="34" charset="-120"/>
              </a:rPr>
              <a:t>Warm handoff with transcript, summary, status, and next action</a:t>
            </a:r>
            <a:endParaRPr lang="en-US" sz="1150" dirty="0"/>
          </a:p>
        </p:txBody>
      </p:sp>
      <p:sp>
        <p:nvSpPr>
          <p:cNvPr id="21" name="Text 19"/>
          <p:cNvSpPr txBox="1"/>
          <p:nvPr/>
        </p:nvSpPr>
        <p:spPr>
          <a:xfrm>
            <a:off x="4078224" y="4425696"/>
            <a:ext cx="2697480" cy="182880"/>
          </a:xfrm>
          <a:prstGeom prst="rect">
            <a:avLst/>
          </a:prstGeom>
          <a:noFill/>
          <a:ln/>
        </p:spPr>
        <p:txBody>
          <a:bodyPr wrap="square" lIns="0" tIns="0" rIns="0" bIns="0" rtlCol="0" anchor="t">
            <a:normAutofit/>
          </a:bodyPr>
          <a:lstStyle/>
          <a:p>
            <a:pPr algn="l" indent="0" marL="0">
              <a:buNone/>
            </a:pPr>
            <a:r>
              <a:rPr lang="en-US" sz="800" b="1" spc="100" kern="0" dirty="0">
                <a:solidFill>
                  <a:srgbClr val="6FB3E8"/>
                </a:solidFill>
                <a:latin typeface="Courier New" pitchFamily="34" charset="0"/>
                <a:ea typeface="Courier New" pitchFamily="34" charset="-122"/>
                <a:cs typeface="Courier New" pitchFamily="34" charset="-120"/>
              </a:rPr>
              <a:t>CONTROL</a:t>
            </a:r>
            <a:endParaRPr lang="en-US" sz="800" dirty="0"/>
          </a:p>
        </p:txBody>
      </p:sp>
      <p:sp>
        <p:nvSpPr>
          <p:cNvPr id="22" name="Text 20"/>
          <p:cNvSpPr txBox="1"/>
          <p:nvPr/>
        </p:nvSpPr>
        <p:spPr>
          <a:xfrm>
            <a:off x="4078224" y="4700016"/>
            <a:ext cx="2697480" cy="457200"/>
          </a:xfrm>
          <a:prstGeom prst="rect">
            <a:avLst/>
          </a:prstGeom>
          <a:noFill/>
          <a:ln/>
        </p:spPr>
        <p:txBody>
          <a:bodyPr wrap="square" lIns="0" tIns="0" rIns="0" bIns="0" rtlCol="0" anchor="t">
            <a:normAutofit/>
          </a:bodyPr>
          <a:lstStyle/>
          <a:p>
            <a:pPr algn="l" indent="0" marL="0">
              <a:buNone/>
            </a:pPr>
            <a:r>
              <a:rPr lang="en-US" sz="1150" dirty="0">
                <a:solidFill>
                  <a:srgbClr val="E8E6E0"/>
                </a:solidFill>
                <a:latin typeface="Arial" pitchFamily="34" charset="0"/>
                <a:ea typeface="Arial" pitchFamily="34" charset="-122"/>
                <a:cs typeface="Arial" pitchFamily="34" charset="-120"/>
              </a:rPr>
              <a:t>Basic admin • audit • consent/retention • core funnel + AI metrics</a:t>
            </a:r>
            <a:endParaRPr lang="en-US" sz="1150" dirty="0"/>
          </a:p>
        </p:txBody>
      </p:sp>
      <p:sp>
        <p:nvSpPr>
          <p:cNvPr id="23" name="Shape 21"/>
          <p:cNvSpPr/>
          <p:nvPr/>
        </p:nvSpPr>
        <p:spPr>
          <a:xfrm>
            <a:off x="7635240" y="1755648"/>
            <a:ext cx="3621024" cy="4224528"/>
          </a:xfrm>
          <a:prstGeom prst="roundRect">
            <a:avLst/>
          </a:prstGeom>
          <a:solidFill>
            <a:srgbClr val="1E1E28"/>
          </a:solidFill>
          <a:ln w="12700">
            <a:solidFill>
              <a:srgbClr val="34323E"/>
            </a:solidFill>
            <a:prstDash val="solid"/>
          </a:ln>
        </p:spPr>
      </p:sp>
      <p:sp>
        <p:nvSpPr>
          <p:cNvPr id="24" name="Shape 22"/>
          <p:cNvSpPr/>
          <p:nvPr/>
        </p:nvSpPr>
        <p:spPr>
          <a:xfrm>
            <a:off x="7882128" y="1975104"/>
            <a:ext cx="1444752" cy="310896"/>
          </a:xfrm>
          <a:prstGeom prst="roundRect">
            <a:avLst/>
          </a:prstGeom>
          <a:solidFill>
            <a:srgbClr val="1E1E28"/>
          </a:solidFill>
          <a:ln w="10160">
            <a:solidFill>
              <a:srgbClr val="9A97A3"/>
            </a:solidFill>
            <a:prstDash val="solid"/>
          </a:ln>
        </p:spPr>
      </p:sp>
      <p:sp>
        <p:nvSpPr>
          <p:cNvPr id="25" name="Text 23"/>
          <p:cNvSpPr txBox="1"/>
          <p:nvPr/>
        </p:nvSpPr>
        <p:spPr>
          <a:xfrm>
            <a:off x="7927848" y="2011680"/>
            <a:ext cx="1353312" cy="246888"/>
          </a:xfrm>
          <a:prstGeom prst="rect">
            <a:avLst/>
          </a:prstGeom>
          <a:noFill/>
          <a:ln/>
        </p:spPr>
        <p:txBody>
          <a:bodyPr wrap="square" lIns="0" tIns="0" rIns="0" bIns="0" rtlCol="0" anchor="ctr">
            <a:normAutofit/>
          </a:bodyPr>
          <a:lstStyle/>
          <a:p>
            <a:pPr algn="ctr" indent="0" marL="0">
              <a:buNone/>
            </a:pPr>
            <a:r>
              <a:rPr lang="en-US" sz="850" b="1" spc="100" kern="0" dirty="0">
                <a:solidFill>
                  <a:srgbClr val="9A97A3"/>
                </a:solidFill>
                <a:latin typeface="Courier New" pitchFamily="34" charset="0"/>
                <a:ea typeface="Courier New" pitchFamily="34" charset="-122"/>
                <a:cs typeface="Courier New" pitchFamily="34" charset="-120"/>
              </a:rPr>
              <a:t>LATER EXPANSION</a:t>
            </a:r>
            <a:endParaRPr lang="en-US" sz="850" dirty="0"/>
          </a:p>
        </p:txBody>
      </p:sp>
      <p:sp>
        <p:nvSpPr>
          <p:cNvPr id="26" name="Shape 24"/>
          <p:cNvSpPr/>
          <p:nvPr/>
        </p:nvSpPr>
        <p:spPr>
          <a:xfrm>
            <a:off x="7918704" y="2615184"/>
            <a:ext cx="68580" cy="68580"/>
          </a:xfrm>
          <a:prstGeom prst="ellipse">
            <a:avLst/>
          </a:prstGeom>
          <a:solidFill>
            <a:srgbClr val="9A97A3"/>
          </a:solidFill>
          <a:ln w="12700">
            <a:solidFill>
              <a:srgbClr val="9A97A3"/>
            </a:solidFill>
            <a:prstDash val="solid"/>
          </a:ln>
        </p:spPr>
      </p:sp>
      <p:sp>
        <p:nvSpPr>
          <p:cNvPr id="27" name="Text 25"/>
          <p:cNvSpPr txBox="1"/>
          <p:nvPr/>
        </p:nvSpPr>
        <p:spPr>
          <a:xfrm>
            <a:off x="8083296" y="2505456"/>
            <a:ext cx="2807208" cy="256032"/>
          </a:xfrm>
          <a:prstGeom prst="rect">
            <a:avLst/>
          </a:prstGeom>
          <a:noFill/>
          <a:ln/>
        </p:spPr>
        <p:txBody>
          <a:bodyPr wrap="square" lIns="0" tIns="0" rIns="0" bIns="0" rtlCol="0" anchor="t">
            <a:normAutofit/>
          </a:bodyPr>
          <a:lstStyle/>
          <a:p>
            <a:pPr algn="l" indent="0" marL="0">
              <a:buNone/>
            </a:pPr>
            <a:r>
              <a:rPr lang="en-US" sz="1120" dirty="0">
                <a:solidFill>
                  <a:srgbClr val="E8E6E0"/>
                </a:solidFill>
                <a:latin typeface="Arial" pitchFamily="34" charset="0"/>
                <a:ea typeface="Arial" pitchFamily="34" charset="-122"/>
                <a:cs typeface="Arial" pitchFamily="34" charset="-120"/>
              </a:rPr>
              <a:t>Every CRM and social channel</a:t>
            </a:r>
            <a:endParaRPr lang="en-US" sz="1120" dirty="0"/>
          </a:p>
        </p:txBody>
      </p:sp>
      <p:sp>
        <p:nvSpPr>
          <p:cNvPr id="28" name="Shape 26"/>
          <p:cNvSpPr/>
          <p:nvPr/>
        </p:nvSpPr>
        <p:spPr>
          <a:xfrm>
            <a:off x="7918704" y="3044952"/>
            <a:ext cx="68580" cy="68580"/>
          </a:xfrm>
          <a:prstGeom prst="ellipse">
            <a:avLst/>
          </a:prstGeom>
          <a:solidFill>
            <a:srgbClr val="9A97A3"/>
          </a:solidFill>
          <a:ln w="12700">
            <a:solidFill>
              <a:srgbClr val="9A97A3"/>
            </a:solidFill>
            <a:prstDash val="solid"/>
          </a:ln>
        </p:spPr>
      </p:sp>
      <p:sp>
        <p:nvSpPr>
          <p:cNvPr id="29" name="Text 27"/>
          <p:cNvSpPr txBox="1"/>
          <p:nvPr/>
        </p:nvSpPr>
        <p:spPr>
          <a:xfrm>
            <a:off x="8083296" y="2935224"/>
            <a:ext cx="2807208" cy="256032"/>
          </a:xfrm>
          <a:prstGeom prst="rect">
            <a:avLst/>
          </a:prstGeom>
          <a:noFill/>
          <a:ln/>
        </p:spPr>
        <p:txBody>
          <a:bodyPr wrap="square" lIns="0" tIns="0" rIns="0" bIns="0" rtlCol="0" anchor="t">
            <a:normAutofit/>
          </a:bodyPr>
          <a:lstStyle/>
          <a:p>
            <a:pPr algn="l" indent="0" marL="0">
              <a:buNone/>
            </a:pPr>
            <a:r>
              <a:rPr lang="en-US" sz="1120" dirty="0">
                <a:solidFill>
                  <a:srgbClr val="E8E6E0"/>
                </a:solidFill>
                <a:latin typeface="Arial" pitchFamily="34" charset="0"/>
                <a:ea typeface="Arial" pitchFamily="34" charset="-122"/>
                <a:cs typeface="Arial" pitchFamily="34" charset="-120"/>
              </a:rPr>
              <a:t>Broad outbound campaigns</a:t>
            </a:r>
            <a:endParaRPr lang="en-US" sz="1120" dirty="0"/>
          </a:p>
        </p:txBody>
      </p:sp>
      <p:sp>
        <p:nvSpPr>
          <p:cNvPr id="30" name="Shape 28"/>
          <p:cNvSpPr/>
          <p:nvPr/>
        </p:nvSpPr>
        <p:spPr>
          <a:xfrm>
            <a:off x="7918704" y="3474720"/>
            <a:ext cx="68580" cy="68580"/>
          </a:xfrm>
          <a:prstGeom prst="ellipse">
            <a:avLst/>
          </a:prstGeom>
          <a:solidFill>
            <a:srgbClr val="9A97A3"/>
          </a:solidFill>
          <a:ln w="12700">
            <a:solidFill>
              <a:srgbClr val="9A97A3"/>
            </a:solidFill>
            <a:prstDash val="solid"/>
          </a:ln>
        </p:spPr>
      </p:sp>
      <p:sp>
        <p:nvSpPr>
          <p:cNvPr id="31" name="Text 29"/>
          <p:cNvSpPr txBox="1"/>
          <p:nvPr/>
        </p:nvSpPr>
        <p:spPr>
          <a:xfrm>
            <a:off x="8083296" y="3364992"/>
            <a:ext cx="2807208" cy="256032"/>
          </a:xfrm>
          <a:prstGeom prst="rect">
            <a:avLst/>
          </a:prstGeom>
          <a:noFill/>
          <a:ln/>
        </p:spPr>
        <p:txBody>
          <a:bodyPr wrap="square" lIns="0" tIns="0" rIns="0" bIns="0" rtlCol="0" anchor="t">
            <a:normAutofit/>
          </a:bodyPr>
          <a:lstStyle/>
          <a:p>
            <a:pPr algn="l" indent="0" marL="0">
              <a:buNone/>
            </a:pPr>
            <a:r>
              <a:rPr lang="en-US" sz="1120" dirty="0">
                <a:solidFill>
                  <a:srgbClr val="E8E6E0"/>
                </a:solidFill>
                <a:latin typeface="Arial" pitchFamily="34" charset="0"/>
                <a:ea typeface="Arial" pitchFamily="34" charset="-122"/>
                <a:cs typeface="Arial" pitchFamily="34" charset="-120"/>
              </a:rPr>
              <a:t>Probabilistic identity merging</a:t>
            </a:r>
            <a:endParaRPr lang="en-US" sz="1120" dirty="0"/>
          </a:p>
        </p:txBody>
      </p:sp>
      <p:sp>
        <p:nvSpPr>
          <p:cNvPr id="32" name="Shape 30"/>
          <p:cNvSpPr/>
          <p:nvPr/>
        </p:nvSpPr>
        <p:spPr>
          <a:xfrm>
            <a:off x="7918704" y="3904488"/>
            <a:ext cx="68580" cy="68580"/>
          </a:xfrm>
          <a:prstGeom prst="ellipse">
            <a:avLst/>
          </a:prstGeom>
          <a:solidFill>
            <a:srgbClr val="9A97A3"/>
          </a:solidFill>
          <a:ln w="12700">
            <a:solidFill>
              <a:srgbClr val="9A97A3"/>
            </a:solidFill>
            <a:prstDash val="solid"/>
          </a:ln>
        </p:spPr>
      </p:sp>
      <p:sp>
        <p:nvSpPr>
          <p:cNvPr id="33" name="Text 31"/>
          <p:cNvSpPr txBox="1"/>
          <p:nvPr/>
        </p:nvSpPr>
        <p:spPr>
          <a:xfrm>
            <a:off x="8083296" y="3794760"/>
            <a:ext cx="2807208" cy="256032"/>
          </a:xfrm>
          <a:prstGeom prst="rect">
            <a:avLst/>
          </a:prstGeom>
          <a:noFill/>
          <a:ln/>
        </p:spPr>
        <p:txBody>
          <a:bodyPr wrap="square" lIns="0" tIns="0" rIns="0" bIns="0" rtlCol="0" anchor="t">
            <a:normAutofit/>
          </a:bodyPr>
          <a:lstStyle/>
          <a:p>
            <a:pPr algn="l" indent="0" marL="0">
              <a:buNone/>
            </a:pPr>
            <a:r>
              <a:rPr lang="en-US" sz="1120" dirty="0">
                <a:solidFill>
                  <a:srgbClr val="E8E6E0"/>
                </a:solidFill>
                <a:latin typeface="Arial" pitchFamily="34" charset="0"/>
                <a:ea typeface="Arial" pitchFamily="34" charset="-122"/>
                <a:cs typeface="Arial" pitchFamily="34" charset="-120"/>
              </a:rPr>
              <a:t>Advanced route/travel optimization</a:t>
            </a:r>
            <a:endParaRPr lang="en-US" sz="1120" dirty="0"/>
          </a:p>
        </p:txBody>
      </p:sp>
      <p:sp>
        <p:nvSpPr>
          <p:cNvPr id="34" name="Shape 32"/>
          <p:cNvSpPr/>
          <p:nvPr/>
        </p:nvSpPr>
        <p:spPr>
          <a:xfrm>
            <a:off x="7918704" y="4334256"/>
            <a:ext cx="68580" cy="68580"/>
          </a:xfrm>
          <a:prstGeom prst="ellipse">
            <a:avLst/>
          </a:prstGeom>
          <a:solidFill>
            <a:srgbClr val="9A97A3"/>
          </a:solidFill>
          <a:ln w="12700">
            <a:solidFill>
              <a:srgbClr val="9A97A3"/>
            </a:solidFill>
            <a:prstDash val="solid"/>
          </a:ln>
        </p:spPr>
      </p:sp>
      <p:sp>
        <p:nvSpPr>
          <p:cNvPr id="35" name="Text 33"/>
          <p:cNvSpPr txBox="1"/>
          <p:nvPr/>
        </p:nvSpPr>
        <p:spPr>
          <a:xfrm>
            <a:off x="8083296" y="4224528"/>
            <a:ext cx="2807208" cy="256032"/>
          </a:xfrm>
          <a:prstGeom prst="rect">
            <a:avLst/>
          </a:prstGeom>
          <a:noFill/>
          <a:ln/>
        </p:spPr>
        <p:txBody>
          <a:bodyPr wrap="square" lIns="0" tIns="0" rIns="0" bIns="0" rtlCol="0" anchor="t">
            <a:normAutofit/>
          </a:bodyPr>
          <a:lstStyle/>
          <a:p>
            <a:pPr algn="l" indent="0" marL="0">
              <a:buNone/>
            </a:pPr>
            <a:r>
              <a:rPr lang="en-US" sz="1120" dirty="0">
                <a:solidFill>
                  <a:srgbClr val="E8E6E0"/>
                </a:solidFill>
                <a:latin typeface="Arial" pitchFamily="34" charset="0"/>
                <a:ea typeface="Arial" pitchFamily="34" charset="-122"/>
                <a:cs typeface="Arial" pitchFamily="34" charset="-120"/>
              </a:rPr>
              <a:t>Full executive BI</a:t>
            </a:r>
            <a:endParaRPr lang="en-US" sz="1120" dirty="0"/>
          </a:p>
        </p:txBody>
      </p:sp>
      <p:sp>
        <p:nvSpPr>
          <p:cNvPr id="36" name="Shape 34"/>
          <p:cNvSpPr/>
          <p:nvPr/>
        </p:nvSpPr>
        <p:spPr>
          <a:xfrm>
            <a:off x="7918704" y="4764024"/>
            <a:ext cx="68580" cy="68580"/>
          </a:xfrm>
          <a:prstGeom prst="ellipse">
            <a:avLst/>
          </a:prstGeom>
          <a:solidFill>
            <a:srgbClr val="9A97A3"/>
          </a:solidFill>
          <a:ln w="12700">
            <a:solidFill>
              <a:srgbClr val="9A97A3"/>
            </a:solidFill>
            <a:prstDash val="solid"/>
          </a:ln>
        </p:spPr>
      </p:sp>
      <p:sp>
        <p:nvSpPr>
          <p:cNvPr id="37" name="Text 35"/>
          <p:cNvSpPr txBox="1"/>
          <p:nvPr/>
        </p:nvSpPr>
        <p:spPr>
          <a:xfrm>
            <a:off x="8083296" y="4654296"/>
            <a:ext cx="2807208" cy="256032"/>
          </a:xfrm>
          <a:prstGeom prst="rect">
            <a:avLst/>
          </a:prstGeom>
          <a:noFill/>
          <a:ln/>
        </p:spPr>
        <p:txBody>
          <a:bodyPr wrap="square" lIns="0" tIns="0" rIns="0" bIns="0" rtlCol="0" anchor="t">
            <a:normAutofit/>
          </a:bodyPr>
          <a:lstStyle/>
          <a:p>
            <a:pPr algn="l" indent="0" marL="0">
              <a:buNone/>
            </a:pPr>
            <a:r>
              <a:rPr lang="en-US" sz="1120" dirty="0">
                <a:solidFill>
                  <a:srgbClr val="E8E6E0"/>
                </a:solidFill>
                <a:latin typeface="Arial" pitchFamily="34" charset="0"/>
                <a:ea typeface="Arial" pitchFamily="34" charset="-122"/>
                <a:cs typeface="Arial" pitchFamily="34" charset="-120"/>
              </a:rPr>
              <a:t>Multi-company self-service</a:t>
            </a:r>
            <a:endParaRPr lang="en-US" sz="1120" dirty="0"/>
          </a:p>
        </p:txBody>
      </p:sp>
      <p:sp>
        <p:nvSpPr>
          <p:cNvPr id="38" name="Shape 36"/>
          <p:cNvSpPr/>
          <p:nvPr/>
        </p:nvSpPr>
        <p:spPr>
          <a:xfrm>
            <a:off x="7918704" y="5193792"/>
            <a:ext cx="68580" cy="68580"/>
          </a:xfrm>
          <a:prstGeom prst="ellipse">
            <a:avLst/>
          </a:prstGeom>
          <a:solidFill>
            <a:srgbClr val="9A97A3"/>
          </a:solidFill>
          <a:ln w="12700">
            <a:solidFill>
              <a:srgbClr val="9A97A3"/>
            </a:solidFill>
            <a:prstDash val="solid"/>
          </a:ln>
        </p:spPr>
      </p:sp>
      <p:sp>
        <p:nvSpPr>
          <p:cNvPr id="39" name="Text 37"/>
          <p:cNvSpPr txBox="1"/>
          <p:nvPr/>
        </p:nvSpPr>
        <p:spPr>
          <a:xfrm>
            <a:off x="8083296" y="5084064"/>
            <a:ext cx="2807208" cy="256032"/>
          </a:xfrm>
          <a:prstGeom prst="rect">
            <a:avLst/>
          </a:prstGeom>
          <a:noFill/>
          <a:ln/>
        </p:spPr>
        <p:txBody>
          <a:bodyPr wrap="square" lIns="0" tIns="0" rIns="0" bIns="0" rtlCol="0" anchor="t">
            <a:normAutofit/>
          </a:bodyPr>
          <a:lstStyle/>
          <a:p>
            <a:pPr algn="l" indent="0" marL="0">
              <a:buNone/>
            </a:pPr>
            <a:r>
              <a:rPr lang="en-US" sz="1120" dirty="0">
                <a:solidFill>
                  <a:srgbClr val="E8E6E0"/>
                </a:solidFill>
                <a:latin typeface="Arial" pitchFamily="34" charset="0"/>
                <a:ea typeface="Arial" pitchFamily="34" charset="-122"/>
                <a:cs typeface="Arial" pitchFamily="34" charset="-120"/>
              </a:rPr>
              <a:t>Unrestricted AI autonomy</a:t>
            </a:r>
            <a:endParaRPr lang="en-US" sz="1120" dirty="0"/>
          </a:p>
        </p:txBody>
      </p:sp>
      <p:sp>
        <p:nvSpPr>
          <p:cNvPr id="40" name="Text 38"/>
          <p:cNvSpPr txBox="1"/>
          <p:nvPr/>
        </p:nvSpPr>
        <p:spPr>
          <a:xfrm>
            <a:off x="950976" y="6126480"/>
            <a:ext cx="10277856" cy="201168"/>
          </a:xfrm>
          <a:prstGeom prst="rect">
            <a:avLst/>
          </a:prstGeom>
          <a:noFill/>
          <a:ln/>
        </p:spPr>
        <p:txBody>
          <a:bodyPr wrap="square" lIns="0" tIns="0" rIns="0" bIns="0" rtlCol="0" anchor="t">
            <a:normAutofit/>
          </a:bodyPr>
          <a:lstStyle/>
          <a:p>
            <a:pPr algn="ctr" indent="0" marL="0">
              <a:buNone/>
            </a:pPr>
            <a:r>
              <a:rPr lang="en-US" sz="960" i="1" dirty="0">
                <a:solidFill>
                  <a:srgbClr val="9A97A3"/>
                </a:solidFill>
                <a:latin typeface="Arial" pitchFamily="34" charset="0"/>
                <a:ea typeface="Arial" pitchFamily="34" charset="-122"/>
                <a:cs typeface="Arial" pitchFamily="34" charset="-120"/>
              </a:rPr>
              <a:t>One company at launch; include tenant, brand, location, and business-unit keys in every record and authorization boundary.</a:t>
            </a:r>
            <a:endParaRPr lang="en-US" sz="960" dirty="0"/>
          </a:p>
        </p:txBody>
      </p:sp>
      <p:sp>
        <p:nvSpPr>
          <p:cNvPr id="25" name="Slide Number Placeholder 0"/>
          <p:cNvSpPr>
            <a:spLocks noGrp="1"/>
          </p:cNvSpPr>
          <p:nvPr>
            <p:ph type="sldNum" sz="quarter" idx="4294967295"/>
          </p:nvPr>
        </p:nvSpPr>
        <p:spPr>
          <a:xfrm>
            <a:off x="11109960" y="6483096"/>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9A97A3"/>
                </a:solidFill>
                <a:latin typeface="Courier New"/>
                <a:ea typeface="Courier New"/>
                <a:cs typeface="Courier New"/>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61D"/>
        </a:solidFill>
      </p:bgPr>
    </p:bg>
    <p:spTree>
      <p:nvGrpSpPr>
        <p:cNvPr id="1" name=""/>
        <p:cNvGrpSpPr/>
        <p:nvPr/>
      </p:nvGrpSpPr>
      <p:grpSpPr>
        <a:xfrm>
          <a:off x="0" y="0"/>
          <a:ext cx="0" cy="0"/>
          <a:chOff x="0" y="0"/>
          <a:chExt cx="0" cy="0"/>
        </a:xfrm>
      </p:grpSpPr>
      <p:sp>
        <p:nvSpPr>
          <p:cNvPr id="2" name="Text 0"/>
          <p:cNvSpPr txBox="1"/>
          <p:nvPr/>
        </p:nvSpPr>
        <p:spPr>
          <a:xfrm>
            <a:off x="713232" y="384048"/>
            <a:ext cx="5120640" cy="219456"/>
          </a:xfrm>
          <a:prstGeom prst="rect">
            <a:avLst/>
          </a:prstGeom>
          <a:noFill/>
          <a:ln/>
        </p:spPr>
        <p:txBody>
          <a:bodyPr wrap="square" lIns="0" tIns="0" rIns="0" bIns="0" rtlCol="0" anchor="t">
            <a:normAutofit/>
          </a:bodyPr>
          <a:lstStyle/>
          <a:p>
            <a:pPr algn="l" indent="0" marL="0">
              <a:buNone/>
            </a:pPr>
            <a:r>
              <a:rPr lang="en-US" sz="900" b="1" spc="210" kern="0" dirty="0">
                <a:solidFill>
                  <a:srgbClr val="9A97A3"/>
                </a:solidFill>
                <a:latin typeface="Courier New" pitchFamily="34" charset="0"/>
                <a:ea typeface="Courier New" pitchFamily="34" charset="-122"/>
                <a:cs typeface="Courier New" pitchFamily="34" charset="-120"/>
              </a:rPr>
              <a:t>PROPOSED ARCHITECTURE</a:t>
            </a:r>
            <a:endParaRPr lang="en-US" sz="900" dirty="0"/>
          </a:p>
        </p:txBody>
      </p:sp>
      <p:sp>
        <p:nvSpPr>
          <p:cNvPr id="3" name="Text 1"/>
          <p:cNvSpPr txBox="1"/>
          <p:nvPr/>
        </p:nvSpPr>
        <p:spPr>
          <a:xfrm>
            <a:off x="10424160" y="347472"/>
            <a:ext cx="1051560" cy="228600"/>
          </a:xfrm>
          <a:prstGeom prst="rect">
            <a:avLst/>
          </a:prstGeom>
          <a:noFill/>
          <a:ln/>
        </p:spPr>
        <p:txBody>
          <a:bodyPr wrap="square" lIns="0" tIns="0" rIns="0" bIns="0" rtlCol="0" anchor="t">
            <a:normAutofit/>
          </a:bodyPr>
          <a:lstStyle/>
          <a:p>
            <a:pPr algn="r" indent="0" marL="0">
              <a:buNone/>
            </a:pPr>
            <a:r>
              <a:rPr lang="en-US" sz="1000" b="1" spc="240" kern="0" dirty="0">
                <a:solidFill>
                  <a:srgbClr val="E8E6E0"/>
                </a:solidFill>
                <a:latin typeface="Courier New" pitchFamily="34" charset="0"/>
                <a:ea typeface="Courier New" pitchFamily="34" charset="-122"/>
                <a:cs typeface="Courier New" pitchFamily="34" charset="-120"/>
              </a:rPr>
              <a:t>CYBIC</a:t>
            </a:r>
            <a:endParaRPr lang="en-US" sz="1000" dirty="0"/>
          </a:p>
        </p:txBody>
      </p:sp>
      <p:sp>
        <p:nvSpPr>
          <p:cNvPr id="4" name="Text 2"/>
          <p:cNvSpPr txBox="1"/>
          <p:nvPr/>
        </p:nvSpPr>
        <p:spPr>
          <a:xfrm>
            <a:off x="685800" y="713232"/>
            <a:ext cx="10744200" cy="566928"/>
          </a:xfrm>
          <a:prstGeom prst="rect">
            <a:avLst/>
          </a:prstGeom>
          <a:noFill/>
          <a:ln/>
        </p:spPr>
        <p:txBody>
          <a:bodyPr wrap="square" lIns="0" tIns="0" rIns="0" bIns="0" rtlCol="0" anchor="t">
            <a:normAutofit/>
          </a:bodyPr>
          <a:lstStyle/>
          <a:p>
            <a:pPr algn="l" indent="0" marL="0">
              <a:buNone/>
            </a:pPr>
            <a:r>
              <a:rPr lang="en-US" sz="2800" b="1" dirty="0">
                <a:solidFill>
                  <a:srgbClr val="6FB3E8"/>
                </a:solidFill>
                <a:latin typeface="Arial" pitchFamily="34" charset="0"/>
                <a:ea typeface="Arial" pitchFamily="34" charset="-122"/>
                <a:cs typeface="Arial" pitchFamily="34" charset="-120"/>
              </a:rPr>
              <a:t>Shared context at the center</a:t>
            </a:r>
            <a:endParaRPr lang="en-US" sz="2800" dirty="0"/>
          </a:p>
        </p:txBody>
      </p:sp>
      <p:sp>
        <p:nvSpPr>
          <p:cNvPr id="5" name="Text 3"/>
          <p:cNvSpPr txBox="1"/>
          <p:nvPr/>
        </p:nvSpPr>
        <p:spPr>
          <a:xfrm>
            <a:off x="713232" y="1298448"/>
            <a:ext cx="10607040" cy="411480"/>
          </a:xfrm>
          <a:prstGeom prst="rect">
            <a:avLst/>
          </a:prstGeom>
          <a:noFill/>
          <a:ln/>
        </p:spPr>
        <p:txBody>
          <a:bodyPr wrap="square" lIns="0" tIns="0" rIns="0" bIns="0" rtlCol="0" anchor="t">
            <a:normAutofit/>
          </a:bodyPr>
          <a:lstStyle/>
          <a:p>
            <a:pPr algn="l" indent="0" marL="0">
              <a:buNone/>
            </a:pPr>
            <a:r>
              <a:rPr lang="en-US" sz="1350" dirty="0">
                <a:solidFill>
                  <a:srgbClr val="9A97A3"/>
                </a:solidFill>
                <a:latin typeface="Arial" pitchFamily="34" charset="0"/>
                <a:ea typeface="Arial" pitchFamily="34" charset="-122"/>
                <a:cs typeface="Arial" pitchFamily="34" charset="-120"/>
              </a:rPr>
              <a:t>AI proposes; deterministic policy governs; systems of record remain authoritative.</a:t>
            </a:r>
            <a:endParaRPr lang="en-US" sz="1350" dirty="0"/>
          </a:p>
        </p:txBody>
      </p:sp>
      <p:sp>
        <p:nvSpPr>
          <p:cNvPr id="6" name="Shape 4"/>
          <p:cNvSpPr/>
          <p:nvPr/>
        </p:nvSpPr>
        <p:spPr>
          <a:xfrm>
            <a:off x="658368" y="6428232"/>
            <a:ext cx="10863072" cy="0"/>
          </a:xfrm>
          <a:prstGeom prst="line">
            <a:avLst/>
          </a:prstGeom>
          <a:noFill/>
          <a:ln w="8890">
            <a:solidFill>
              <a:srgbClr val="34323E"/>
            </a:solidFill>
            <a:prstDash val="solid"/>
          </a:ln>
        </p:spPr>
      </p:sp>
      <p:sp>
        <p:nvSpPr>
          <p:cNvPr id="7" name="Text 5"/>
          <p:cNvSpPr txBox="1"/>
          <p:nvPr/>
        </p:nvSpPr>
        <p:spPr>
          <a:xfrm>
            <a:off x="685800" y="6473952"/>
            <a:ext cx="2926080" cy="146304"/>
          </a:xfrm>
          <a:prstGeom prst="rect">
            <a:avLst/>
          </a:prstGeom>
          <a:noFill/>
          <a:ln/>
        </p:spPr>
        <p:txBody>
          <a:bodyPr wrap="square" lIns="0" tIns="0" rIns="0" bIns="0" rtlCol="0" anchor="t">
            <a:normAutofit/>
          </a:bodyPr>
          <a:lstStyle/>
          <a:p>
            <a:pPr algn="l" indent="0" marL="0">
              <a:buNone/>
            </a:pPr>
            <a:r>
              <a:rPr lang="en-US" sz="750" spc="120" kern="0" dirty="0">
                <a:solidFill>
                  <a:srgbClr val="9A97A3"/>
                </a:solidFill>
                <a:latin typeface="Courier New" pitchFamily="34" charset="0"/>
                <a:ea typeface="Courier New" pitchFamily="34" charset="-122"/>
                <a:cs typeface="Courier New" pitchFamily="34" charset="-120"/>
              </a:rPr>
              <a:t>CYBIC  •  CONFIDENTIAL</a:t>
            </a:r>
            <a:endParaRPr lang="en-US" sz="750" dirty="0"/>
          </a:p>
        </p:txBody>
      </p:sp>
      <p:sp>
        <p:nvSpPr>
          <p:cNvPr id="8" name="Shape 6"/>
          <p:cNvSpPr/>
          <p:nvPr/>
        </p:nvSpPr>
        <p:spPr>
          <a:xfrm>
            <a:off x="1115568" y="1700784"/>
            <a:ext cx="8156448" cy="475488"/>
          </a:xfrm>
          <a:prstGeom prst="roundRect">
            <a:avLst/>
          </a:prstGeom>
          <a:solidFill>
            <a:srgbClr val="20303D"/>
          </a:solidFill>
          <a:ln w="11430">
            <a:solidFill>
              <a:srgbClr val="6FB3E8"/>
            </a:solidFill>
            <a:prstDash val="solid"/>
          </a:ln>
        </p:spPr>
      </p:sp>
      <p:sp>
        <p:nvSpPr>
          <p:cNvPr id="9" name="Text 7"/>
          <p:cNvSpPr txBox="1"/>
          <p:nvPr/>
        </p:nvSpPr>
        <p:spPr>
          <a:xfrm>
            <a:off x="1353312" y="1792224"/>
            <a:ext cx="3154680" cy="164592"/>
          </a:xfrm>
          <a:prstGeom prst="rect">
            <a:avLst/>
          </a:prstGeom>
          <a:noFill/>
          <a:ln/>
        </p:spPr>
        <p:txBody>
          <a:bodyPr wrap="square" lIns="0" tIns="0" rIns="0" bIns="0" rtlCol="0" anchor="t">
            <a:normAutofit/>
          </a:bodyPr>
          <a:lstStyle/>
          <a:p>
            <a:pPr algn="l" indent="0" marL="0">
              <a:buNone/>
            </a:pPr>
            <a:r>
              <a:rPr lang="en-US" sz="840" b="1" spc="60" kern="0" dirty="0">
                <a:solidFill>
                  <a:srgbClr val="6FB3E8"/>
                </a:solidFill>
                <a:latin typeface="Courier New" pitchFamily="34" charset="0"/>
                <a:ea typeface="Courier New" pitchFamily="34" charset="-122"/>
                <a:cs typeface="Courier New" pitchFamily="34" charset="-120"/>
              </a:rPr>
              <a:t>CHANNEL + MEDIA ADAPTERS</a:t>
            </a:r>
            <a:endParaRPr lang="en-US" sz="840" dirty="0"/>
          </a:p>
        </p:txBody>
      </p:sp>
      <p:sp>
        <p:nvSpPr>
          <p:cNvPr id="10" name="Text 8"/>
          <p:cNvSpPr txBox="1"/>
          <p:nvPr/>
        </p:nvSpPr>
        <p:spPr>
          <a:xfrm>
            <a:off x="4297680" y="1792224"/>
            <a:ext cx="4645152" cy="164592"/>
          </a:xfrm>
          <a:prstGeom prst="rect">
            <a:avLst/>
          </a:prstGeom>
          <a:noFill/>
          <a:ln/>
        </p:spPr>
        <p:txBody>
          <a:bodyPr wrap="square" lIns="0" tIns="0" rIns="0" bIns="0" rtlCol="0" anchor="t">
            <a:normAutofit/>
          </a:bodyPr>
          <a:lstStyle/>
          <a:p>
            <a:pPr algn="r" indent="0" marL="0">
              <a:buNone/>
            </a:pPr>
            <a:r>
              <a:rPr lang="en-US" sz="960" dirty="0">
                <a:solidFill>
                  <a:srgbClr val="E8E6E0"/>
                </a:solidFill>
                <a:latin typeface="Arial" pitchFamily="34" charset="0"/>
                <a:ea typeface="Arial" pitchFamily="34" charset="-122"/>
                <a:cs typeface="Arial" pitchFamily="34" charset="-120"/>
              </a:rPr>
              <a:t>Voice  •  Web  •  SMS  •  Email  •  Messaging  •  Future APIs</a:t>
            </a:r>
            <a:endParaRPr lang="en-US" sz="960" dirty="0"/>
          </a:p>
        </p:txBody>
      </p:sp>
      <p:sp>
        <p:nvSpPr>
          <p:cNvPr id="11" name="Shape 9"/>
          <p:cNvSpPr/>
          <p:nvPr/>
        </p:nvSpPr>
        <p:spPr>
          <a:xfrm>
            <a:off x="1115568" y="2331720"/>
            <a:ext cx="8156448" cy="475488"/>
          </a:xfrm>
          <a:prstGeom prst="roundRect">
            <a:avLst/>
          </a:prstGeom>
          <a:solidFill>
            <a:srgbClr val="20303D"/>
          </a:solidFill>
          <a:ln w="11430">
            <a:solidFill>
              <a:srgbClr val="6FB3E8"/>
            </a:solidFill>
            <a:prstDash val="solid"/>
          </a:ln>
        </p:spPr>
      </p:sp>
      <p:sp>
        <p:nvSpPr>
          <p:cNvPr id="12" name="Text 10"/>
          <p:cNvSpPr txBox="1"/>
          <p:nvPr/>
        </p:nvSpPr>
        <p:spPr>
          <a:xfrm>
            <a:off x="1353312" y="2423160"/>
            <a:ext cx="3154680" cy="164592"/>
          </a:xfrm>
          <a:prstGeom prst="rect">
            <a:avLst/>
          </a:prstGeom>
          <a:noFill/>
          <a:ln/>
        </p:spPr>
        <p:txBody>
          <a:bodyPr wrap="square" lIns="0" tIns="0" rIns="0" bIns="0" rtlCol="0" anchor="t">
            <a:normAutofit/>
          </a:bodyPr>
          <a:lstStyle/>
          <a:p>
            <a:pPr algn="l" indent="0" marL="0">
              <a:buNone/>
            </a:pPr>
            <a:r>
              <a:rPr lang="en-US" sz="840" b="1" spc="60" kern="0" dirty="0">
                <a:solidFill>
                  <a:srgbClr val="6FB3E8"/>
                </a:solidFill>
                <a:latin typeface="Courier New" pitchFamily="34" charset="0"/>
                <a:ea typeface="Courier New" pitchFamily="34" charset="-122"/>
                <a:cs typeface="Courier New" pitchFamily="34" charset="-120"/>
              </a:rPr>
              <a:t>UNIFIED INTERACTION GATEWAY</a:t>
            </a:r>
            <a:endParaRPr lang="en-US" sz="840" dirty="0"/>
          </a:p>
        </p:txBody>
      </p:sp>
      <p:sp>
        <p:nvSpPr>
          <p:cNvPr id="13" name="Text 11"/>
          <p:cNvSpPr txBox="1"/>
          <p:nvPr/>
        </p:nvSpPr>
        <p:spPr>
          <a:xfrm>
            <a:off x="4297680" y="2423160"/>
            <a:ext cx="4645152" cy="164592"/>
          </a:xfrm>
          <a:prstGeom prst="rect">
            <a:avLst/>
          </a:prstGeom>
          <a:noFill/>
          <a:ln/>
        </p:spPr>
        <p:txBody>
          <a:bodyPr wrap="square" lIns="0" tIns="0" rIns="0" bIns="0" rtlCol="0" anchor="t">
            <a:normAutofit/>
          </a:bodyPr>
          <a:lstStyle/>
          <a:p>
            <a:pPr algn="r" indent="0" marL="0">
              <a:buNone/>
            </a:pPr>
            <a:r>
              <a:rPr lang="en-US" sz="960" dirty="0">
                <a:solidFill>
                  <a:srgbClr val="E8E6E0"/>
                </a:solidFill>
                <a:latin typeface="Arial" pitchFamily="34" charset="0"/>
                <a:ea typeface="Arial" pitchFamily="34" charset="-122"/>
                <a:cs typeface="Arial" pitchFamily="34" charset="-120"/>
              </a:rPr>
              <a:t>canonical events  •  consent  •  delivery  •  idempotency</a:t>
            </a:r>
            <a:endParaRPr lang="en-US" sz="960" dirty="0"/>
          </a:p>
        </p:txBody>
      </p:sp>
      <p:sp>
        <p:nvSpPr>
          <p:cNvPr id="14" name="Shape 12"/>
          <p:cNvSpPr/>
          <p:nvPr/>
        </p:nvSpPr>
        <p:spPr>
          <a:xfrm>
            <a:off x="1371600" y="2962656"/>
            <a:ext cx="7644384" cy="475488"/>
          </a:xfrm>
          <a:prstGeom prst="roundRect">
            <a:avLst/>
          </a:prstGeom>
          <a:solidFill>
            <a:srgbClr val="20382F"/>
          </a:solidFill>
          <a:ln w="11430">
            <a:solidFill>
              <a:srgbClr val="7CC7A5"/>
            </a:solidFill>
            <a:prstDash val="solid"/>
          </a:ln>
        </p:spPr>
      </p:sp>
      <p:sp>
        <p:nvSpPr>
          <p:cNvPr id="15" name="Text 13"/>
          <p:cNvSpPr txBox="1"/>
          <p:nvPr/>
        </p:nvSpPr>
        <p:spPr>
          <a:xfrm>
            <a:off x="1609344" y="3054096"/>
            <a:ext cx="3154680" cy="164592"/>
          </a:xfrm>
          <a:prstGeom prst="rect">
            <a:avLst/>
          </a:prstGeom>
          <a:noFill/>
          <a:ln/>
        </p:spPr>
        <p:txBody>
          <a:bodyPr wrap="square" lIns="0" tIns="0" rIns="0" bIns="0" rtlCol="0" anchor="t">
            <a:normAutofit/>
          </a:bodyPr>
          <a:lstStyle/>
          <a:p>
            <a:pPr algn="l" indent="0" marL="0">
              <a:buNone/>
            </a:pPr>
            <a:r>
              <a:rPr lang="en-US" sz="840" b="1" spc="60" kern="0" dirty="0">
                <a:solidFill>
                  <a:srgbClr val="7CC7A5"/>
                </a:solidFill>
                <a:latin typeface="Courier New" pitchFamily="34" charset="0"/>
                <a:ea typeface="Courier New" pitchFamily="34" charset="-122"/>
                <a:cs typeface="Courier New" pitchFamily="34" charset="-120"/>
              </a:rPr>
              <a:t>IDENTITY + CONVERSATION HUB</a:t>
            </a:r>
            <a:endParaRPr lang="en-US" sz="840" dirty="0"/>
          </a:p>
        </p:txBody>
      </p:sp>
      <p:sp>
        <p:nvSpPr>
          <p:cNvPr id="16" name="Text 14"/>
          <p:cNvSpPr txBox="1"/>
          <p:nvPr/>
        </p:nvSpPr>
        <p:spPr>
          <a:xfrm>
            <a:off x="4297680" y="3054096"/>
            <a:ext cx="4389120" cy="164592"/>
          </a:xfrm>
          <a:prstGeom prst="rect">
            <a:avLst/>
          </a:prstGeom>
          <a:noFill/>
          <a:ln/>
        </p:spPr>
        <p:txBody>
          <a:bodyPr wrap="square" lIns="0" tIns="0" rIns="0" bIns="0" rtlCol="0" anchor="t">
            <a:normAutofit/>
          </a:bodyPr>
          <a:lstStyle/>
          <a:p>
            <a:pPr algn="r" indent="0" marL="0">
              <a:buNone/>
            </a:pPr>
            <a:r>
              <a:rPr lang="en-US" sz="960" dirty="0">
                <a:solidFill>
                  <a:srgbClr val="E8E6E0"/>
                </a:solidFill>
                <a:latin typeface="Arial" pitchFamily="34" charset="0"/>
                <a:ea typeface="Arial" pitchFamily="34" charset="-122"/>
                <a:cs typeface="Arial" pitchFamily="34" charset="-120"/>
              </a:rPr>
              <a:t>customer profile  •  durable timeline  •  journey state</a:t>
            </a:r>
            <a:endParaRPr lang="en-US" sz="960" dirty="0"/>
          </a:p>
        </p:txBody>
      </p:sp>
      <p:sp>
        <p:nvSpPr>
          <p:cNvPr id="17" name="Shape 15"/>
          <p:cNvSpPr/>
          <p:nvPr/>
        </p:nvSpPr>
        <p:spPr>
          <a:xfrm>
            <a:off x="1371600" y="3593592"/>
            <a:ext cx="7644384" cy="475488"/>
          </a:xfrm>
          <a:prstGeom prst="roundRect">
            <a:avLst/>
          </a:prstGeom>
          <a:solidFill>
            <a:srgbClr val="20382F"/>
          </a:solidFill>
          <a:ln w="11430">
            <a:solidFill>
              <a:srgbClr val="7CC7A5"/>
            </a:solidFill>
            <a:prstDash val="solid"/>
          </a:ln>
        </p:spPr>
      </p:sp>
      <p:sp>
        <p:nvSpPr>
          <p:cNvPr id="18" name="Text 16"/>
          <p:cNvSpPr txBox="1"/>
          <p:nvPr/>
        </p:nvSpPr>
        <p:spPr>
          <a:xfrm>
            <a:off x="1609344" y="3685032"/>
            <a:ext cx="3154680" cy="164592"/>
          </a:xfrm>
          <a:prstGeom prst="rect">
            <a:avLst/>
          </a:prstGeom>
          <a:noFill/>
          <a:ln/>
        </p:spPr>
        <p:txBody>
          <a:bodyPr wrap="square" lIns="0" tIns="0" rIns="0" bIns="0" rtlCol="0" anchor="t">
            <a:normAutofit/>
          </a:bodyPr>
          <a:lstStyle/>
          <a:p>
            <a:pPr algn="l" indent="0" marL="0">
              <a:buNone/>
            </a:pPr>
            <a:r>
              <a:rPr lang="en-US" sz="840" b="1" spc="60" kern="0" dirty="0">
                <a:solidFill>
                  <a:srgbClr val="7CC7A5"/>
                </a:solidFill>
                <a:latin typeface="Courier New" pitchFamily="34" charset="0"/>
                <a:ea typeface="Courier New" pitchFamily="34" charset="-122"/>
                <a:cs typeface="Courier New" pitchFamily="34" charset="-120"/>
              </a:rPr>
              <a:t>CONTEXT PACKAGE + AGENTIC ORCHESTRATOR</a:t>
            </a:r>
            <a:endParaRPr lang="en-US" sz="840" dirty="0"/>
          </a:p>
        </p:txBody>
      </p:sp>
      <p:sp>
        <p:nvSpPr>
          <p:cNvPr id="19" name="Text 17"/>
          <p:cNvSpPr txBox="1"/>
          <p:nvPr/>
        </p:nvSpPr>
        <p:spPr>
          <a:xfrm>
            <a:off x="4297680" y="3685032"/>
            <a:ext cx="4389120" cy="164592"/>
          </a:xfrm>
          <a:prstGeom prst="rect">
            <a:avLst/>
          </a:prstGeom>
          <a:noFill/>
          <a:ln/>
        </p:spPr>
        <p:txBody>
          <a:bodyPr wrap="square" lIns="0" tIns="0" rIns="0" bIns="0" rtlCol="0" anchor="t">
            <a:normAutofit/>
          </a:bodyPr>
          <a:lstStyle/>
          <a:p>
            <a:pPr algn="r" indent="0" marL="0">
              <a:buNone/>
            </a:pPr>
            <a:r>
              <a:rPr lang="en-US" sz="960" dirty="0">
                <a:solidFill>
                  <a:srgbClr val="E8E6E0"/>
                </a:solidFill>
                <a:latin typeface="Arial" pitchFamily="34" charset="0"/>
                <a:ea typeface="Arial" pitchFamily="34" charset="-122"/>
                <a:cs typeface="Arial" pitchFamily="34" charset="-120"/>
              </a:rPr>
              <a:t>history  •  summary  •  knowledge/RAG  •  qualification  •  next action</a:t>
            </a:r>
            <a:endParaRPr lang="en-US" sz="960" dirty="0"/>
          </a:p>
        </p:txBody>
      </p:sp>
      <p:sp>
        <p:nvSpPr>
          <p:cNvPr id="20" name="Shape 18"/>
          <p:cNvSpPr/>
          <p:nvPr/>
        </p:nvSpPr>
        <p:spPr>
          <a:xfrm>
            <a:off x="1627632" y="4224528"/>
            <a:ext cx="7132320" cy="475488"/>
          </a:xfrm>
          <a:prstGeom prst="roundRect">
            <a:avLst/>
          </a:prstGeom>
          <a:solidFill>
            <a:srgbClr val="3D3320"/>
          </a:solidFill>
          <a:ln w="11430">
            <a:solidFill>
              <a:srgbClr val="E8A33D"/>
            </a:solidFill>
            <a:prstDash val="solid"/>
          </a:ln>
        </p:spPr>
      </p:sp>
      <p:sp>
        <p:nvSpPr>
          <p:cNvPr id="21" name="Text 19"/>
          <p:cNvSpPr txBox="1"/>
          <p:nvPr/>
        </p:nvSpPr>
        <p:spPr>
          <a:xfrm>
            <a:off x="1865376" y="4315968"/>
            <a:ext cx="3154680" cy="164592"/>
          </a:xfrm>
          <a:prstGeom prst="rect">
            <a:avLst/>
          </a:prstGeom>
          <a:noFill/>
          <a:ln/>
        </p:spPr>
        <p:txBody>
          <a:bodyPr wrap="square" lIns="0" tIns="0" rIns="0" bIns="0" rtlCol="0" anchor="t">
            <a:normAutofit/>
          </a:bodyPr>
          <a:lstStyle/>
          <a:p>
            <a:pPr algn="l" indent="0" marL="0">
              <a:buNone/>
            </a:pPr>
            <a:r>
              <a:rPr lang="en-US" sz="840" b="1" spc="60" kern="0" dirty="0">
                <a:solidFill>
                  <a:srgbClr val="E8A33D"/>
                </a:solidFill>
                <a:latin typeface="Courier New" pitchFamily="34" charset="0"/>
                <a:ea typeface="Courier New" pitchFamily="34" charset="-122"/>
                <a:cs typeface="Courier New" pitchFamily="34" charset="-120"/>
              </a:rPr>
              <a:t>POLICY + TOOL GATEWAY + DURABLE WORKFLOW</a:t>
            </a:r>
            <a:endParaRPr lang="en-US" sz="840" dirty="0"/>
          </a:p>
        </p:txBody>
      </p:sp>
      <p:sp>
        <p:nvSpPr>
          <p:cNvPr id="22" name="Text 20"/>
          <p:cNvSpPr txBox="1"/>
          <p:nvPr/>
        </p:nvSpPr>
        <p:spPr>
          <a:xfrm>
            <a:off x="4297680" y="4315968"/>
            <a:ext cx="4133088" cy="164592"/>
          </a:xfrm>
          <a:prstGeom prst="rect">
            <a:avLst/>
          </a:prstGeom>
          <a:noFill/>
          <a:ln/>
        </p:spPr>
        <p:txBody>
          <a:bodyPr wrap="square" lIns="0" tIns="0" rIns="0" bIns="0" rtlCol="0" anchor="t">
            <a:normAutofit/>
          </a:bodyPr>
          <a:lstStyle/>
          <a:p>
            <a:pPr algn="r" indent="0" marL="0">
              <a:buNone/>
            </a:pPr>
            <a:r>
              <a:rPr lang="en-US" sz="960" dirty="0">
                <a:solidFill>
                  <a:srgbClr val="E8E6E0"/>
                </a:solidFill>
                <a:latin typeface="Arial" pitchFamily="34" charset="0"/>
                <a:ea typeface="Arial" pitchFamily="34" charset="-122"/>
                <a:cs typeface="Arial" pitchFamily="34" charset="-120"/>
              </a:rPr>
              <a:t>rules  •  approval  •  retries  •  reconciliation  •  audit</a:t>
            </a:r>
            <a:endParaRPr lang="en-US" sz="960" dirty="0"/>
          </a:p>
        </p:txBody>
      </p:sp>
      <p:sp>
        <p:nvSpPr>
          <p:cNvPr id="23" name="Shape 21"/>
          <p:cNvSpPr/>
          <p:nvPr/>
        </p:nvSpPr>
        <p:spPr>
          <a:xfrm>
            <a:off x="1627632" y="4855464"/>
            <a:ext cx="7132320" cy="475488"/>
          </a:xfrm>
          <a:prstGeom prst="roundRect">
            <a:avLst/>
          </a:prstGeom>
          <a:solidFill>
            <a:srgbClr val="3D3320"/>
          </a:solidFill>
          <a:ln w="11430">
            <a:solidFill>
              <a:srgbClr val="E8A33D"/>
            </a:solidFill>
            <a:prstDash val="solid"/>
          </a:ln>
        </p:spPr>
      </p:sp>
      <p:sp>
        <p:nvSpPr>
          <p:cNvPr id="24" name="Text 22"/>
          <p:cNvSpPr txBox="1"/>
          <p:nvPr/>
        </p:nvSpPr>
        <p:spPr>
          <a:xfrm>
            <a:off x="1865376" y="4946904"/>
            <a:ext cx="3154680" cy="164592"/>
          </a:xfrm>
          <a:prstGeom prst="rect">
            <a:avLst/>
          </a:prstGeom>
          <a:noFill/>
          <a:ln/>
        </p:spPr>
        <p:txBody>
          <a:bodyPr wrap="square" lIns="0" tIns="0" rIns="0" bIns="0" rtlCol="0" anchor="t">
            <a:normAutofit/>
          </a:bodyPr>
          <a:lstStyle/>
          <a:p>
            <a:pPr algn="l" indent="0" marL="0">
              <a:buNone/>
            </a:pPr>
            <a:r>
              <a:rPr lang="en-US" sz="840" b="1" spc="60" kern="0" dirty="0">
                <a:solidFill>
                  <a:srgbClr val="E8A33D"/>
                </a:solidFill>
                <a:latin typeface="Courier New" pitchFamily="34" charset="0"/>
                <a:ea typeface="Courier New" pitchFamily="34" charset="-122"/>
                <a:cs typeface="Courier New" pitchFamily="34" charset="-120"/>
              </a:rPr>
              <a:t>SYSTEMS OF RECORD</a:t>
            </a:r>
            <a:endParaRPr lang="en-US" sz="840" dirty="0"/>
          </a:p>
        </p:txBody>
      </p:sp>
      <p:sp>
        <p:nvSpPr>
          <p:cNvPr id="25" name="Text 23"/>
          <p:cNvSpPr txBox="1"/>
          <p:nvPr/>
        </p:nvSpPr>
        <p:spPr>
          <a:xfrm>
            <a:off x="4297680" y="4946904"/>
            <a:ext cx="4133088" cy="164592"/>
          </a:xfrm>
          <a:prstGeom prst="rect">
            <a:avLst/>
          </a:prstGeom>
          <a:noFill/>
          <a:ln/>
        </p:spPr>
        <p:txBody>
          <a:bodyPr wrap="square" lIns="0" tIns="0" rIns="0" bIns="0" rtlCol="0" anchor="t">
            <a:normAutofit/>
          </a:bodyPr>
          <a:lstStyle/>
          <a:p>
            <a:pPr algn="r" indent="0" marL="0">
              <a:buNone/>
            </a:pPr>
            <a:r>
              <a:rPr lang="en-US" sz="960" dirty="0">
                <a:solidFill>
                  <a:srgbClr val="E8E6E0"/>
                </a:solidFill>
                <a:latin typeface="Arial" pitchFamily="34" charset="0"/>
                <a:ea typeface="Arial" pitchFamily="34" charset="-122"/>
                <a:cs typeface="Arial" pitchFamily="34" charset="-120"/>
              </a:rPr>
              <a:t>CRM  •  calendars  •  dispatch  •  contact center  •  messaging</a:t>
            </a:r>
            <a:endParaRPr lang="en-US" sz="960" dirty="0"/>
          </a:p>
        </p:txBody>
      </p:sp>
      <p:sp>
        <p:nvSpPr>
          <p:cNvPr id="26" name="Shape 24"/>
          <p:cNvSpPr/>
          <p:nvPr/>
        </p:nvSpPr>
        <p:spPr>
          <a:xfrm>
            <a:off x="9509760" y="1700784"/>
            <a:ext cx="1755648" cy="1682496"/>
          </a:xfrm>
          <a:prstGeom prst="roundRect">
            <a:avLst/>
          </a:prstGeom>
          <a:solidFill>
            <a:srgbClr val="1E1E28"/>
          </a:solidFill>
          <a:ln w="10160">
            <a:solidFill>
              <a:srgbClr val="6FB3E8"/>
            </a:solidFill>
            <a:prstDash val="solid"/>
          </a:ln>
        </p:spPr>
      </p:sp>
      <p:sp>
        <p:nvSpPr>
          <p:cNvPr id="27" name="Text 25"/>
          <p:cNvSpPr txBox="1"/>
          <p:nvPr/>
        </p:nvSpPr>
        <p:spPr>
          <a:xfrm>
            <a:off x="9729216" y="1947672"/>
            <a:ext cx="1316736" cy="393192"/>
          </a:xfrm>
          <a:prstGeom prst="rect">
            <a:avLst/>
          </a:prstGeom>
          <a:noFill/>
          <a:ln/>
        </p:spPr>
        <p:txBody>
          <a:bodyPr wrap="square" lIns="0" tIns="0" rIns="0" bIns="0" rtlCol="0" anchor="t">
            <a:normAutofit/>
          </a:bodyPr>
          <a:lstStyle/>
          <a:p>
            <a:pPr algn="ctr" indent="0" marL="0">
              <a:buNone/>
            </a:pPr>
            <a:r>
              <a:rPr lang="en-US" sz="950" b="1" dirty="0">
                <a:solidFill>
                  <a:srgbClr val="6FB3E8"/>
                </a:solidFill>
                <a:latin typeface="Courier New" pitchFamily="34" charset="0"/>
                <a:ea typeface="Courier New" pitchFamily="34" charset="-122"/>
                <a:cs typeface="Courier New" pitchFamily="34" charset="-120"/>
              </a:rPr>
              <a:t>ADMIN</a:t>
            </a:r>
            <a:endParaRPr lang="en-US" sz="950" dirty="0"/>
          </a:p>
          <a:p>
            <a:pPr algn="ctr" indent="0" marL="0">
              <a:buNone/>
            </a:pPr>
            <a:r>
              <a:rPr lang="en-US" sz="950" b="1" dirty="0">
                <a:solidFill>
                  <a:srgbClr val="6FB3E8"/>
                </a:solidFill>
                <a:latin typeface="Courier New" pitchFamily="34" charset="0"/>
                <a:ea typeface="Courier New" pitchFamily="34" charset="-122"/>
                <a:cs typeface="Courier New" pitchFamily="34" charset="-120"/>
              </a:rPr>
              <a:t>CONTROL PLANE</a:t>
            </a:r>
            <a:endParaRPr lang="en-US" sz="950" dirty="0"/>
          </a:p>
        </p:txBody>
      </p:sp>
      <p:sp>
        <p:nvSpPr>
          <p:cNvPr id="28" name="Text 26"/>
          <p:cNvSpPr txBox="1"/>
          <p:nvPr/>
        </p:nvSpPr>
        <p:spPr>
          <a:xfrm>
            <a:off x="9729216" y="2468880"/>
            <a:ext cx="1316736" cy="704088"/>
          </a:xfrm>
          <a:prstGeom prst="rect">
            <a:avLst/>
          </a:prstGeom>
          <a:noFill/>
          <a:ln/>
        </p:spPr>
        <p:txBody>
          <a:bodyPr wrap="square" lIns="0" tIns="0" rIns="0" bIns="0" rtlCol="0" anchor="t">
            <a:normAutofit/>
          </a:bodyPr>
          <a:lstStyle/>
          <a:p>
            <a:pPr algn="ctr" indent="0" marL="0">
              <a:buNone/>
            </a:pPr>
            <a:r>
              <a:rPr lang="en-US" sz="1000" dirty="0">
                <a:solidFill>
                  <a:srgbClr val="E8E6E0"/>
                </a:solidFill>
                <a:latin typeface="Arial" pitchFamily="34" charset="0"/>
                <a:ea typeface="Arial" pitchFamily="34" charset="-122"/>
                <a:cs typeface="Arial" pitchFamily="34" charset="-120"/>
              </a:rPr>
              <a:t>tenants</a:t>
            </a:r>
            <a:endParaRPr lang="en-US" sz="1000" dirty="0"/>
          </a:p>
          <a:p>
            <a:pPr algn="ctr" indent="0" marL="0">
              <a:buNone/>
            </a:pPr>
            <a:r>
              <a:rPr lang="en-US" sz="1000" dirty="0">
                <a:solidFill>
                  <a:srgbClr val="E8E6E0"/>
                </a:solidFill>
                <a:latin typeface="Arial" pitchFamily="34" charset="0"/>
                <a:ea typeface="Arial" pitchFamily="34" charset="-122"/>
                <a:cs typeface="Arial" pitchFamily="34" charset="-120"/>
              </a:rPr>
              <a:t>users + roles</a:t>
            </a:r>
            <a:endParaRPr lang="en-US" sz="1000" dirty="0"/>
          </a:p>
          <a:p>
            <a:pPr algn="ctr" indent="0" marL="0">
              <a:buNone/>
            </a:pPr>
            <a:r>
              <a:rPr lang="en-US" sz="1000" dirty="0">
                <a:solidFill>
                  <a:srgbClr val="E8E6E0"/>
                </a:solidFill>
                <a:latin typeface="Arial" pitchFamily="34" charset="0"/>
                <a:ea typeface="Arial" pitchFamily="34" charset="-122"/>
                <a:cs typeface="Arial" pitchFamily="34" charset="-120"/>
              </a:rPr>
              <a:t>knowledge</a:t>
            </a:r>
            <a:endParaRPr lang="en-US" sz="1000" dirty="0"/>
          </a:p>
          <a:p>
            <a:pPr algn="ctr" indent="0" marL="0">
              <a:buNone/>
            </a:pPr>
            <a:r>
              <a:rPr lang="en-US" sz="1000" dirty="0">
                <a:solidFill>
                  <a:srgbClr val="E8E6E0"/>
                </a:solidFill>
                <a:latin typeface="Arial" pitchFamily="34" charset="0"/>
                <a:ea typeface="Arial" pitchFamily="34" charset="-122"/>
                <a:cs typeface="Arial" pitchFamily="34" charset="-120"/>
              </a:rPr>
              <a:t>prompts + rules</a:t>
            </a:r>
            <a:endParaRPr lang="en-US" sz="1000" dirty="0"/>
          </a:p>
          <a:p>
            <a:pPr algn="ctr" indent="0" marL="0">
              <a:buNone/>
            </a:pPr>
            <a:r>
              <a:rPr lang="en-US" sz="1000" dirty="0">
                <a:solidFill>
                  <a:srgbClr val="E8E6E0"/>
                </a:solidFill>
                <a:latin typeface="Arial" pitchFamily="34" charset="0"/>
                <a:ea typeface="Arial" pitchFamily="34" charset="-122"/>
                <a:cs typeface="Arial" pitchFamily="34" charset="-120"/>
              </a:rPr>
              <a:t>integrations</a:t>
            </a:r>
            <a:endParaRPr lang="en-US" sz="1000" dirty="0"/>
          </a:p>
        </p:txBody>
      </p:sp>
      <p:sp>
        <p:nvSpPr>
          <p:cNvPr id="29" name="Shape 27"/>
          <p:cNvSpPr/>
          <p:nvPr/>
        </p:nvSpPr>
        <p:spPr>
          <a:xfrm>
            <a:off x="9509760" y="3602736"/>
            <a:ext cx="1755648" cy="1728216"/>
          </a:xfrm>
          <a:prstGeom prst="roundRect">
            <a:avLst/>
          </a:prstGeom>
          <a:solidFill>
            <a:srgbClr val="1E1E28"/>
          </a:solidFill>
          <a:ln w="10160">
            <a:solidFill>
              <a:srgbClr val="7CC7A5"/>
            </a:solidFill>
            <a:prstDash val="solid"/>
          </a:ln>
        </p:spPr>
      </p:sp>
      <p:sp>
        <p:nvSpPr>
          <p:cNvPr id="30" name="Text 28"/>
          <p:cNvSpPr txBox="1"/>
          <p:nvPr/>
        </p:nvSpPr>
        <p:spPr>
          <a:xfrm>
            <a:off x="9729216" y="3840480"/>
            <a:ext cx="1316736" cy="393192"/>
          </a:xfrm>
          <a:prstGeom prst="rect">
            <a:avLst/>
          </a:prstGeom>
          <a:noFill/>
          <a:ln/>
        </p:spPr>
        <p:txBody>
          <a:bodyPr wrap="square" lIns="0" tIns="0" rIns="0" bIns="0" rtlCol="0" anchor="t">
            <a:normAutofit/>
          </a:bodyPr>
          <a:lstStyle/>
          <a:p>
            <a:pPr algn="ctr" indent="0" marL="0">
              <a:buNone/>
            </a:pPr>
            <a:r>
              <a:rPr lang="en-US" sz="950" b="1" dirty="0">
                <a:solidFill>
                  <a:srgbClr val="7CC7A5"/>
                </a:solidFill>
                <a:latin typeface="Courier New" pitchFamily="34" charset="0"/>
                <a:ea typeface="Courier New" pitchFamily="34" charset="-122"/>
                <a:cs typeface="Courier New" pitchFamily="34" charset="-120"/>
              </a:rPr>
              <a:t>EVENT +</a:t>
            </a:r>
            <a:endParaRPr lang="en-US" sz="950" dirty="0"/>
          </a:p>
          <a:p>
            <a:pPr algn="ctr" indent="0" marL="0">
              <a:buNone/>
            </a:pPr>
            <a:r>
              <a:rPr lang="en-US" sz="950" b="1" dirty="0">
                <a:solidFill>
                  <a:srgbClr val="7CC7A5"/>
                </a:solidFill>
                <a:latin typeface="Courier New" pitchFamily="34" charset="0"/>
                <a:ea typeface="Courier New" pitchFamily="34" charset="-122"/>
                <a:cs typeface="Courier New" pitchFamily="34" charset="-120"/>
              </a:rPr>
              <a:t>ANALYTICS RAIL</a:t>
            </a:r>
            <a:endParaRPr lang="en-US" sz="950" dirty="0"/>
          </a:p>
        </p:txBody>
      </p:sp>
      <p:sp>
        <p:nvSpPr>
          <p:cNvPr id="31" name="Text 29"/>
          <p:cNvSpPr txBox="1"/>
          <p:nvPr/>
        </p:nvSpPr>
        <p:spPr>
          <a:xfrm>
            <a:off x="9729216" y="4370832"/>
            <a:ext cx="1316736" cy="694944"/>
          </a:xfrm>
          <a:prstGeom prst="rect">
            <a:avLst/>
          </a:prstGeom>
          <a:noFill/>
          <a:ln/>
        </p:spPr>
        <p:txBody>
          <a:bodyPr wrap="square" lIns="0" tIns="0" rIns="0" bIns="0" rtlCol="0" anchor="t">
            <a:normAutofit/>
          </a:bodyPr>
          <a:lstStyle/>
          <a:p>
            <a:pPr algn="ctr" indent="0" marL="0">
              <a:buNone/>
            </a:pPr>
            <a:r>
              <a:rPr lang="en-US" sz="1000" dirty="0">
                <a:solidFill>
                  <a:srgbClr val="E8E6E0"/>
                </a:solidFill>
                <a:latin typeface="Arial" pitchFamily="34" charset="0"/>
                <a:ea typeface="Arial" pitchFamily="34" charset="-122"/>
                <a:cs typeface="Arial" pitchFamily="34" charset="-120"/>
              </a:rPr>
              <a:t>audit events</a:t>
            </a:r>
            <a:endParaRPr lang="en-US" sz="1000" dirty="0"/>
          </a:p>
          <a:p>
            <a:pPr algn="ctr" indent="0" marL="0">
              <a:buNone/>
            </a:pPr>
            <a:r>
              <a:rPr lang="en-US" sz="1000" dirty="0">
                <a:solidFill>
                  <a:srgbClr val="E8E6E0"/>
                </a:solidFill>
                <a:latin typeface="Arial" pitchFamily="34" charset="0"/>
                <a:ea typeface="Arial" pitchFamily="34" charset="-122"/>
                <a:cs typeface="Arial" pitchFamily="34" charset="-120"/>
              </a:rPr>
              <a:t>operational metrics</a:t>
            </a:r>
            <a:endParaRPr lang="en-US" sz="1000" dirty="0"/>
          </a:p>
          <a:p>
            <a:pPr algn="ctr" indent="0" marL="0">
              <a:buNone/>
            </a:pPr>
            <a:r>
              <a:rPr lang="en-US" sz="1000" dirty="0">
                <a:solidFill>
                  <a:srgbClr val="E8E6E0"/>
                </a:solidFill>
                <a:latin typeface="Arial" pitchFamily="34" charset="0"/>
                <a:ea typeface="Arial" pitchFamily="34" charset="-122"/>
                <a:cs typeface="Arial" pitchFamily="34" charset="-120"/>
              </a:rPr>
              <a:t>AI evaluation</a:t>
            </a:r>
            <a:endParaRPr lang="en-US" sz="1000" dirty="0"/>
          </a:p>
          <a:p>
            <a:pPr algn="ctr" indent="0" marL="0">
              <a:buNone/>
            </a:pPr>
            <a:r>
              <a:rPr lang="en-US" sz="1000" dirty="0">
                <a:solidFill>
                  <a:srgbClr val="E8E6E0"/>
                </a:solidFill>
                <a:latin typeface="Arial" pitchFamily="34" charset="0"/>
                <a:ea typeface="Arial" pitchFamily="34" charset="-122"/>
                <a:cs typeface="Arial" pitchFamily="34" charset="-120"/>
              </a:rPr>
              <a:t>warehouse</a:t>
            </a:r>
            <a:endParaRPr lang="en-US" sz="1000" dirty="0"/>
          </a:p>
          <a:p>
            <a:pPr algn="ctr" indent="0" marL="0">
              <a:buNone/>
            </a:pPr>
            <a:r>
              <a:rPr lang="en-US" sz="1000" dirty="0">
                <a:solidFill>
                  <a:srgbClr val="E8E6E0"/>
                </a:solidFill>
                <a:latin typeface="Arial" pitchFamily="34" charset="0"/>
                <a:ea typeface="Arial" pitchFamily="34" charset="-122"/>
                <a:cs typeface="Arial" pitchFamily="34" charset="-120"/>
              </a:rPr>
              <a:t>reporting</a:t>
            </a:r>
            <a:endParaRPr lang="en-US" sz="1000" dirty="0"/>
          </a:p>
        </p:txBody>
      </p:sp>
      <p:sp>
        <p:nvSpPr>
          <p:cNvPr id="32" name="Shape 30"/>
          <p:cNvSpPr/>
          <p:nvPr/>
        </p:nvSpPr>
        <p:spPr>
          <a:xfrm>
            <a:off x="1353312" y="5559552"/>
            <a:ext cx="9619488" cy="420624"/>
          </a:xfrm>
          <a:prstGeom prst="roundRect">
            <a:avLst/>
          </a:prstGeom>
          <a:solidFill>
            <a:srgbClr val="100F14"/>
          </a:solidFill>
          <a:ln w="8890">
            <a:solidFill>
              <a:srgbClr val="34323E"/>
            </a:solidFill>
            <a:prstDash val="solid"/>
          </a:ln>
        </p:spPr>
      </p:sp>
      <p:sp>
        <p:nvSpPr>
          <p:cNvPr id="33" name="Text 31"/>
          <p:cNvSpPr txBox="1"/>
          <p:nvPr/>
        </p:nvSpPr>
        <p:spPr>
          <a:xfrm>
            <a:off x="1554480" y="5632704"/>
            <a:ext cx="9217152" cy="256032"/>
          </a:xfrm>
          <a:prstGeom prst="rect">
            <a:avLst/>
          </a:prstGeom>
          <a:noFill/>
          <a:ln/>
        </p:spPr>
        <p:txBody>
          <a:bodyPr wrap="square" lIns="0" tIns="0" rIns="0" bIns="0" rtlCol="0" anchor="ctr">
            <a:normAutofit/>
          </a:bodyPr>
          <a:lstStyle/>
          <a:p>
            <a:pPr algn="ctr" indent="0" marL="0">
              <a:buNone/>
            </a:pPr>
            <a:r>
              <a:rPr lang="en-US" sz="680" dirty="0">
                <a:solidFill>
                  <a:srgbClr val="9A97A3"/>
                </a:solidFill>
                <a:latin typeface="Courier New" pitchFamily="34" charset="0"/>
                <a:ea typeface="Courier New" pitchFamily="34" charset="-122"/>
                <a:cs typeface="Courier New" pitchFamily="34" charset="-120"/>
              </a:rPr>
              <a:t>Directional stack: React/Next.js  •  Python/FastAPI  •  PostgreSQL/pgvector  •  Redis  •  object storage  •  managed events  •  Temporal-equivalent  •  OpenTelemetry  •  containers + IaC</a:t>
            </a:r>
            <a:endParaRPr lang="en-US" sz="680" dirty="0"/>
          </a:p>
        </p:txBody>
      </p:sp>
      <p:sp>
        <p:nvSpPr>
          <p:cNvPr id="25" name="Slide Number Placeholder 0"/>
          <p:cNvSpPr>
            <a:spLocks noGrp="1"/>
          </p:cNvSpPr>
          <p:nvPr>
            <p:ph type="sldNum" sz="quarter" idx="4294967295"/>
          </p:nvPr>
        </p:nvSpPr>
        <p:spPr>
          <a:xfrm>
            <a:off x="11109960" y="6483096"/>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9A97A3"/>
                </a:solidFill>
                <a:latin typeface="Courier New"/>
                <a:ea typeface="Courier New"/>
                <a:cs typeface="Courier New"/>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61D"/>
        </a:solidFill>
      </p:bgPr>
    </p:bg>
    <p:spTree>
      <p:nvGrpSpPr>
        <p:cNvPr id="1" name=""/>
        <p:cNvGrpSpPr/>
        <p:nvPr/>
      </p:nvGrpSpPr>
      <p:grpSpPr>
        <a:xfrm>
          <a:off x="0" y="0"/>
          <a:ext cx="0" cy="0"/>
          <a:chOff x="0" y="0"/>
          <a:chExt cx="0" cy="0"/>
        </a:xfrm>
      </p:grpSpPr>
      <p:sp>
        <p:nvSpPr>
          <p:cNvPr id="2" name="Text 0"/>
          <p:cNvSpPr txBox="1"/>
          <p:nvPr/>
        </p:nvSpPr>
        <p:spPr>
          <a:xfrm>
            <a:off x="713232" y="384048"/>
            <a:ext cx="5120640" cy="219456"/>
          </a:xfrm>
          <a:prstGeom prst="rect">
            <a:avLst/>
          </a:prstGeom>
          <a:noFill/>
          <a:ln/>
        </p:spPr>
        <p:txBody>
          <a:bodyPr wrap="square" lIns="0" tIns="0" rIns="0" bIns="0" rtlCol="0" anchor="t">
            <a:normAutofit/>
          </a:bodyPr>
          <a:lstStyle/>
          <a:p>
            <a:pPr algn="l" indent="0" marL="0">
              <a:buNone/>
            </a:pPr>
            <a:r>
              <a:rPr lang="en-US" sz="900" b="1" spc="210" kern="0" dirty="0">
                <a:solidFill>
                  <a:srgbClr val="9A97A3"/>
                </a:solidFill>
                <a:latin typeface="Courier New" pitchFamily="34" charset="0"/>
                <a:ea typeface="Courier New" pitchFamily="34" charset="-122"/>
                <a:cs typeface="Courier New" pitchFamily="34" charset="-120"/>
              </a:rPr>
              <a:t>TARGET PLATFORM</a:t>
            </a:r>
            <a:endParaRPr lang="en-US" sz="900" dirty="0"/>
          </a:p>
        </p:txBody>
      </p:sp>
      <p:sp>
        <p:nvSpPr>
          <p:cNvPr id="3" name="Text 1"/>
          <p:cNvSpPr txBox="1"/>
          <p:nvPr/>
        </p:nvSpPr>
        <p:spPr>
          <a:xfrm>
            <a:off x="10424160" y="347472"/>
            <a:ext cx="1051560" cy="228600"/>
          </a:xfrm>
          <a:prstGeom prst="rect">
            <a:avLst/>
          </a:prstGeom>
          <a:noFill/>
          <a:ln/>
        </p:spPr>
        <p:txBody>
          <a:bodyPr wrap="square" lIns="0" tIns="0" rIns="0" bIns="0" rtlCol="0" anchor="t">
            <a:normAutofit/>
          </a:bodyPr>
          <a:lstStyle/>
          <a:p>
            <a:pPr algn="r" indent="0" marL="0">
              <a:buNone/>
            </a:pPr>
            <a:r>
              <a:rPr lang="en-US" sz="1000" b="1" spc="240" kern="0" dirty="0">
                <a:solidFill>
                  <a:srgbClr val="E8E6E0"/>
                </a:solidFill>
                <a:latin typeface="Courier New" pitchFamily="34" charset="0"/>
                <a:ea typeface="Courier New" pitchFamily="34" charset="-122"/>
                <a:cs typeface="Courier New" pitchFamily="34" charset="-120"/>
              </a:rPr>
              <a:t>CYBIC</a:t>
            </a:r>
            <a:endParaRPr lang="en-US" sz="1000" dirty="0"/>
          </a:p>
        </p:txBody>
      </p:sp>
      <p:sp>
        <p:nvSpPr>
          <p:cNvPr id="4" name="Text 2"/>
          <p:cNvSpPr txBox="1"/>
          <p:nvPr/>
        </p:nvSpPr>
        <p:spPr>
          <a:xfrm>
            <a:off x="685800" y="713232"/>
            <a:ext cx="10744200" cy="566928"/>
          </a:xfrm>
          <a:prstGeom prst="rect">
            <a:avLst/>
          </a:prstGeom>
          <a:noFill/>
          <a:ln/>
        </p:spPr>
        <p:txBody>
          <a:bodyPr wrap="square" lIns="0" tIns="0" rIns="0" bIns="0" rtlCol="0" anchor="t">
            <a:normAutofit/>
          </a:bodyPr>
          <a:lstStyle/>
          <a:p>
            <a:pPr algn="l" indent="0" marL="0">
              <a:buNone/>
            </a:pPr>
            <a:r>
              <a:rPr lang="en-US" sz="2800" b="1" dirty="0">
                <a:solidFill>
                  <a:srgbClr val="6FB3E8"/>
                </a:solidFill>
                <a:latin typeface="Arial" pitchFamily="34" charset="0"/>
                <a:ea typeface="Arial" pitchFamily="34" charset="-122"/>
                <a:cs typeface="Arial" pitchFamily="34" charset="-120"/>
              </a:rPr>
              <a:t>How capability expands beyond the MVP</a:t>
            </a:r>
            <a:endParaRPr lang="en-US" sz="2800" dirty="0"/>
          </a:p>
        </p:txBody>
      </p:sp>
      <p:sp>
        <p:nvSpPr>
          <p:cNvPr id="5" name="Text 3"/>
          <p:cNvSpPr txBox="1"/>
          <p:nvPr/>
        </p:nvSpPr>
        <p:spPr>
          <a:xfrm>
            <a:off x="713232" y="1298448"/>
            <a:ext cx="10607040" cy="411480"/>
          </a:xfrm>
          <a:prstGeom prst="rect">
            <a:avLst/>
          </a:prstGeom>
          <a:noFill/>
          <a:ln/>
        </p:spPr>
        <p:txBody>
          <a:bodyPr wrap="square" lIns="0" tIns="0" rIns="0" bIns="0" rtlCol="0" anchor="t">
            <a:normAutofit/>
          </a:bodyPr>
          <a:lstStyle/>
          <a:p>
            <a:pPr algn="l" indent="0" marL="0">
              <a:buNone/>
            </a:pPr>
            <a:r>
              <a:rPr lang="en-US" sz="1350" dirty="0">
                <a:solidFill>
                  <a:srgbClr val="9A97A3"/>
                </a:solidFill>
                <a:latin typeface="Arial" pitchFamily="34" charset="0"/>
                <a:ea typeface="Arial" pitchFamily="34" charset="-122"/>
                <a:cs typeface="Arial" pitchFamily="34" charset="-120"/>
              </a:rPr>
              <a:t>Requested brands and channels are integration candidates — not completed connectors.</a:t>
            </a:r>
            <a:endParaRPr lang="en-US" sz="1350" dirty="0"/>
          </a:p>
        </p:txBody>
      </p:sp>
      <p:sp>
        <p:nvSpPr>
          <p:cNvPr id="6" name="Shape 4"/>
          <p:cNvSpPr/>
          <p:nvPr/>
        </p:nvSpPr>
        <p:spPr>
          <a:xfrm>
            <a:off x="658368" y="6428232"/>
            <a:ext cx="10863072" cy="0"/>
          </a:xfrm>
          <a:prstGeom prst="line">
            <a:avLst/>
          </a:prstGeom>
          <a:noFill/>
          <a:ln w="8890">
            <a:solidFill>
              <a:srgbClr val="34323E"/>
            </a:solidFill>
            <a:prstDash val="solid"/>
          </a:ln>
        </p:spPr>
      </p:sp>
      <p:sp>
        <p:nvSpPr>
          <p:cNvPr id="7" name="Text 5"/>
          <p:cNvSpPr txBox="1"/>
          <p:nvPr/>
        </p:nvSpPr>
        <p:spPr>
          <a:xfrm>
            <a:off x="685800" y="6473952"/>
            <a:ext cx="2926080" cy="146304"/>
          </a:xfrm>
          <a:prstGeom prst="rect">
            <a:avLst/>
          </a:prstGeom>
          <a:noFill/>
          <a:ln/>
        </p:spPr>
        <p:txBody>
          <a:bodyPr wrap="square" lIns="0" tIns="0" rIns="0" bIns="0" rtlCol="0" anchor="t">
            <a:normAutofit/>
          </a:bodyPr>
          <a:lstStyle/>
          <a:p>
            <a:pPr algn="l" indent="0" marL="0">
              <a:buNone/>
            </a:pPr>
            <a:r>
              <a:rPr lang="en-US" sz="750" spc="120" kern="0" dirty="0">
                <a:solidFill>
                  <a:srgbClr val="9A97A3"/>
                </a:solidFill>
                <a:latin typeface="Courier New" pitchFamily="34" charset="0"/>
                <a:ea typeface="Courier New" pitchFamily="34" charset="-122"/>
                <a:cs typeface="Courier New" pitchFamily="34" charset="-120"/>
              </a:rPr>
              <a:t>CYBIC  •  CONFIDENTIAL</a:t>
            </a:r>
            <a:endParaRPr lang="en-US" sz="750" dirty="0"/>
          </a:p>
        </p:txBody>
      </p:sp>
      <p:sp>
        <p:nvSpPr>
          <p:cNvPr id="8" name="Text 6"/>
          <p:cNvSpPr txBox="1"/>
          <p:nvPr/>
        </p:nvSpPr>
        <p:spPr>
          <a:xfrm>
            <a:off x="749808" y="1664208"/>
            <a:ext cx="1234440" cy="182880"/>
          </a:xfrm>
          <a:prstGeom prst="rect">
            <a:avLst/>
          </a:prstGeom>
          <a:noFill/>
          <a:ln/>
        </p:spPr>
        <p:txBody>
          <a:bodyPr wrap="square" lIns="0" tIns="0" rIns="0" bIns="0" rtlCol="0" anchor="t">
            <a:normAutofit/>
          </a:bodyPr>
          <a:lstStyle/>
          <a:p>
            <a:pPr algn="l" indent="0" marL="0">
              <a:buNone/>
            </a:pPr>
            <a:r>
              <a:rPr lang="en-US" sz="800" b="1" spc="100" kern="0" dirty="0">
                <a:solidFill>
                  <a:srgbClr val="9A97A3"/>
                </a:solidFill>
                <a:latin typeface="Courier New" pitchFamily="34" charset="0"/>
                <a:ea typeface="Courier New" pitchFamily="34" charset="-122"/>
                <a:cs typeface="Courier New" pitchFamily="34" charset="-120"/>
              </a:rPr>
              <a:t>WORKSTREAM</a:t>
            </a:r>
            <a:endParaRPr lang="en-US" sz="800" dirty="0"/>
          </a:p>
        </p:txBody>
      </p:sp>
      <p:sp>
        <p:nvSpPr>
          <p:cNvPr id="9" name="Text 7"/>
          <p:cNvSpPr txBox="1"/>
          <p:nvPr/>
        </p:nvSpPr>
        <p:spPr>
          <a:xfrm>
            <a:off x="2139696" y="1664208"/>
            <a:ext cx="3474720" cy="182880"/>
          </a:xfrm>
          <a:prstGeom prst="rect">
            <a:avLst/>
          </a:prstGeom>
          <a:noFill/>
          <a:ln/>
        </p:spPr>
        <p:txBody>
          <a:bodyPr wrap="square" lIns="0" tIns="0" rIns="0" bIns="0" rtlCol="0" anchor="t">
            <a:normAutofit/>
          </a:bodyPr>
          <a:lstStyle/>
          <a:p>
            <a:pPr algn="l" indent="0" marL="0">
              <a:buNone/>
            </a:pPr>
            <a:r>
              <a:rPr lang="en-US" sz="800" b="1" spc="100" kern="0" dirty="0">
                <a:solidFill>
                  <a:srgbClr val="6FB3E8"/>
                </a:solidFill>
                <a:latin typeface="Courier New" pitchFamily="34" charset="0"/>
                <a:ea typeface="Courier New" pitchFamily="34" charset="-122"/>
                <a:cs typeface="Courier New" pitchFamily="34" charset="-120"/>
              </a:rPr>
              <a:t>PROPOSED MVP</a:t>
            </a:r>
            <a:endParaRPr lang="en-US" sz="800" dirty="0"/>
          </a:p>
        </p:txBody>
      </p:sp>
      <p:sp>
        <p:nvSpPr>
          <p:cNvPr id="10" name="Text 8"/>
          <p:cNvSpPr txBox="1"/>
          <p:nvPr/>
        </p:nvSpPr>
        <p:spPr>
          <a:xfrm>
            <a:off x="5897880" y="1664208"/>
            <a:ext cx="5148072" cy="182880"/>
          </a:xfrm>
          <a:prstGeom prst="rect">
            <a:avLst/>
          </a:prstGeom>
          <a:noFill/>
          <a:ln/>
        </p:spPr>
        <p:txBody>
          <a:bodyPr wrap="square" lIns="0" tIns="0" rIns="0" bIns="0" rtlCol="0" anchor="t">
            <a:normAutofit/>
          </a:bodyPr>
          <a:lstStyle/>
          <a:p>
            <a:pPr algn="l" indent="0" marL="0">
              <a:buNone/>
            </a:pPr>
            <a:r>
              <a:rPr lang="en-US" sz="800" b="1" spc="100" kern="0" dirty="0">
                <a:solidFill>
                  <a:srgbClr val="7CC7A5"/>
                </a:solidFill>
                <a:latin typeface="Courier New" pitchFamily="34" charset="0"/>
                <a:ea typeface="Courier New" pitchFamily="34" charset="-122"/>
                <a:cs typeface="Courier New" pitchFamily="34" charset="-120"/>
              </a:rPr>
              <a:t>TARGET PLATFORM</a:t>
            </a:r>
            <a:endParaRPr lang="en-US" sz="800" dirty="0"/>
          </a:p>
        </p:txBody>
      </p:sp>
      <p:sp>
        <p:nvSpPr>
          <p:cNvPr id="11" name="Shape 9"/>
          <p:cNvSpPr/>
          <p:nvPr/>
        </p:nvSpPr>
        <p:spPr>
          <a:xfrm>
            <a:off x="713232" y="2011680"/>
            <a:ext cx="10561320" cy="521208"/>
          </a:xfrm>
          <a:prstGeom prst="roundRect">
            <a:avLst/>
          </a:prstGeom>
          <a:solidFill>
            <a:srgbClr val="1E1E28"/>
          </a:solidFill>
          <a:ln w="5080">
            <a:solidFill>
              <a:srgbClr val="34323E"/>
            </a:solidFill>
            <a:prstDash val="solid"/>
          </a:ln>
        </p:spPr>
      </p:sp>
      <p:sp>
        <p:nvSpPr>
          <p:cNvPr id="12" name="Text 10"/>
          <p:cNvSpPr txBox="1"/>
          <p:nvPr/>
        </p:nvSpPr>
        <p:spPr>
          <a:xfrm>
            <a:off x="896112" y="2157984"/>
            <a:ext cx="1143000" cy="155448"/>
          </a:xfrm>
          <a:prstGeom prst="rect">
            <a:avLst/>
          </a:prstGeom>
          <a:noFill/>
          <a:ln/>
        </p:spPr>
        <p:txBody>
          <a:bodyPr wrap="square" lIns="0" tIns="0" rIns="0" bIns="0" rtlCol="0" anchor="t">
            <a:normAutofit/>
          </a:bodyPr>
          <a:lstStyle/>
          <a:p>
            <a:pPr algn="l" indent="0" marL="0">
              <a:buNone/>
            </a:pPr>
            <a:r>
              <a:rPr lang="en-US" sz="820" b="1" spc="70" kern="0" dirty="0">
                <a:solidFill>
                  <a:srgbClr val="E8A33D"/>
                </a:solidFill>
                <a:latin typeface="Courier New" pitchFamily="34" charset="0"/>
                <a:ea typeface="Courier New" pitchFamily="34" charset="-122"/>
                <a:cs typeface="Courier New" pitchFamily="34" charset="-120"/>
              </a:rPr>
              <a:t>CHANNELS</a:t>
            </a:r>
            <a:endParaRPr lang="en-US" sz="820" dirty="0"/>
          </a:p>
        </p:txBody>
      </p:sp>
      <p:sp>
        <p:nvSpPr>
          <p:cNvPr id="13" name="Text 11"/>
          <p:cNvSpPr txBox="1"/>
          <p:nvPr/>
        </p:nvSpPr>
        <p:spPr>
          <a:xfrm>
            <a:off x="2139696" y="2121408"/>
            <a:ext cx="3429000" cy="246888"/>
          </a:xfrm>
          <a:prstGeom prst="rect">
            <a:avLst/>
          </a:prstGeom>
          <a:noFill/>
          <a:ln/>
        </p:spPr>
        <p:txBody>
          <a:bodyPr wrap="square" lIns="0" tIns="0" rIns="0" bIns="0" rtlCol="0" anchor="t">
            <a:normAutofit/>
          </a:bodyPr>
          <a:lstStyle/>
          <a:p>
            <a:pPr algn="l" indent="0" marL="0">
              <a:buNone/>
            </a:pPr>
            <a:r>
              <a:rPr lang="en-US" sz="1020" dirty="0">
                <a:solidFill>
                  <a:srgbClr val="E8E6E0"/>
                </a:solidFill>
                <a:latin typeface="Arial" pitchFamily="34" charset="0"/>
                <a:ea typeface="Arial" pitchFamily="34" charset="-122"/>
                <a:cs typeface="Arial" pitchFamily="34" charset="-120"/>
              </a:rPr>
              <a:t>Web • inbound voice • transactional SMS</a:t>
            </a:r>
            <a:endParaRPr lang="en-US" sz="1020" dirty="0"/>
          </a:p>
        </p:txBody>
      </p:sp>
      <p:sp>
        <p:nvSpPr>
          <p:cNvPr id="14" name="Shape 12"/>
          <p:cNvSpPr/>
          <p:nvPr/>
        </p:nvSpPr>
        <p:spPr>
          <a:xfrm>
            <a:off x="5641848" y="2176272"/>
            <a:ext cx="182880" cy="182880"/>
          </a:xfrm>
          <a:prstGeom prst="chevron">
            <a:avLst/>
          </a:prstGeom>
          <a:solidFill>
            <a:srgbClr val="6FB3E8"/>
          </a:solidFill>
          <a:ln w="12700">
            <a:solidFill>
              <a:srgbClr val="6FB3E8"/>
            </a:solidFill>
            <a:prstDash val="solid"/>
          </a:ln>
        </p:spPr>
      </p:sp>
      <p:sp>
        <p:nvSpPr>
          <p:cNvPr id="15" name="Text 13"/>
          <p:cNvSpPr txBox="1"/>
          <p:nvPr/>
        </p:nvSpPr>
        <p:spPr>
          <a:xfrm>
            <a:off x="5989320" y="2103120"/>
            <a:ext cx="5010912" cy="292608"/>
          </a:xfrm>
          <a:prstGeom prst="rect">
            <a:avLst/>
          </a:prstGeom>
          <a:noFill/>
          <a:ln/>
        </p:spPr>
        <p:txBody>
          <a:bodyPr wrap="square" lIns="0" tIns="0" rIns="0" bIns="0" rtlCol="0" anchor="ctr">
            <a:normAutofit/>
          </a:bodyPr>
          <a:lstStyle/>
          <a:p>
            <a:pPr algn="l" indent="0" marL="0">
              <a:buNone/>
            </a:pPr>
            <a:r>
              <a:rPr lang="en-US" sz="920" dirty="0">
                <a:solidFill>
                  <a:srgbClr val="E8E6E0"/>
                </a:solidFill>
                <a:latin typeface="Arial" pitchFamily="34" charset="0"/>
                <a:ea typeface="Arial" pitchFamily="34" charset="-122"/>
                <a:cs typeface="Arial" pitchFamily="34" charset="-120"/>
              </a:rPr>
              <a:t>Outbound voice • email • WhatsApp • Messenger • mobile • future APIs</a:t>
            </a:r>
            <a:endParaRPr lang="en-US" sz="920" dirty="0"/>
          </a:p>
        </p:txBody>
      </p:sp>
      <p:sp>
        <p:nvSpPr>
          <p:cNvPr id="16" name="Shape 14"/>
          <p:cNvSpPr/>
          <p:nvPr/>
        </p:nvSpPr>
        <p:spPr>
          <a:xfrm>
            <a:off x="713232" y="2670048"/>
            <a:ext cx="10561320" cy="521208"/>
          </a:xfrm>
          <a:prstGeom prst="roundRect">
            <a:avLst/>
          </a:prstGeom>
          <a:solidFill>
            <a:srgbClr val="100F14"/>
          </a:solidFill>
          <a:ln w="5080">
            <a:solidFill>
              <a:srgbClr val="34323E"/>
            </a:solidFill>
            <a:prstDash val="solid"/>
          </a:ln>
        </p:spPr>
      </p:sp>
      <p:sp>
        <p:nvSpPr>
          <p:cNvPr id="17" name="Text 15"/>
          <p:cNvSpPr txBox="1"/>
          <p:nvPr/>
        </p:nvSpPr>
        <p:spPr>
          <a:xfrm>
            <a:off x="896112" y="2816352"/>
            <a:ext cx="1143000" cy="155448"/>
          </a:xfrm>
          <a:prstGeom prst="rect">
            <a:avLst/>
          </a:prstGeom>
          <a:noFill/>
          <a:ln/>
        </p:spPr>
        <p:txBody>
          <a:bodyPr wrap="square" lIns="0" tIns="0" rIns="0" bIns="0" rtlCol="0" anchor="t">
            <a:normAutofit/>
          </a:bodyPr>
          <a:lstStyle/>
          <a:p>
            <a:pPr algn="l" indent="0" marL="0">
              <a:buNone/>
            </a:pPr>
            <a:r>
              <a:rPr lang="en-US" sz="820" b="1" spc="70" kern="0" dirty="0">
                <a:solidFill>
                  <a:srgbClr val="E8A33D"/>
                </a:solidFill>
                <a:latin typeface="Courier New" pitchFamily="34" charset="0"/>
                <a:ea typeface="Courier New" pitchFamily="34" charset="-122"/>
                <a:cs typeface="Courier New" pitchFamily="34" charset="-120"/>
              </a:rPr>
              <a:t>KNOWLEDGE</a:t>
            </a:r>
            <a:endParaRPr lang="en-US" sz="820" dirty="0"/>
          </a:p>
        </p:txBody>
      </p:sp>
      <p:sp>
        <p:nvSpPr>
          <p:cNvPr id="18" name="Text 16"/>
          <p:cNvSpPr txBox="1"/>
          <p:nvPr/>
        </p:nvSpPr>
        <p:spPr>
          <a:xfrm>
            <a:off x="2139696" y="2779776"/>
            <a:ext cx="3429000" cy="246888"/>
          </a:xfrm>
          <a:prstGeom prst="rect">
            <a:avLst/>
          </a:prstGeom>
          <a:noFill/>
          <a:ln/>
        </p:spPr>
        <p:txBody>
          <a:bodyPr wrap="square" lIns="0" tIns="0" rIns="0" bIns="0" rtlCol="0" anchor="t">
            <a:normAutofit/>
          </a:bodyPr>
          <a:lstStyle/>
          <a:p>
            <a:pPr algn="l" indent="0" marL="0">
              <a:buNone/>
            </a:pPr>
            <a:r>
              <a:rPr lang="en-US" sz="1020" dirty="0">
                <a:solidFill>
                  <a:srgbClr val="E8E6E0"/>
                </a:solidFill>
                <a:latin typeface="Arial" pitchFamily="34" charset="0"/>
                <a:ea typeface="Arial" pitchFamily="34" charset="-122"/>
                <a:cs typeface="Arial" pitchFamily="34" charset="-120"/>
              </a:rPr>
              <a:t>Curated FAQs + service content, citations, approval</a:t>
            </a:r>
            <a:endParaRPr lang="en-US" sz="1020" dirty="0"/>
          </a:p>
        </p:txBody>
      </p:sp>
      <p:sp>
        <p:nvSpPr>
          <p:cNvPr id="19" name="Shape 17"/>
          <p:cNvSpPr/>
          <p:nvPr/>
        </p:nvSpPr>
        <p:spPr>
          <a:xfrm>
            <a:off x="5641848" y="2834640"/>
            <a:ext cx="182880" cy="182880"/>
          </a:xfrm>
          <a:prstGeom prst="chevron">
            <a:avLst/>
          </a:prstGeom>
          <a:solidFill>
            <a:srgbClr val="6FB3E8"/>
          </a:solidFill>
          <a:ln w="12700">
            <a:solidFill>
              <a:srgbClr val="6FB3E8"/>
            </a:solidFill>
            <a:prstDash val="solid"/>
          </a:ln>
        </p:spPr>
      </p:sp>
      <p:sp>
        <p:nvSpPr>
          <p:cNvPr id="20" name="Text 18"/>
          <p:cNvSpPr txBox="1"/>
          <p:nvPr/>
        </p:nvSpPr>
        <p:spPr>
          <a:xfrm>
            <a:off x="5989320" y="2761488"/>
            <a:ext cx="5010912" cy="292608"/>
          </a:xfrm>
          <a:prstGeom prst="rect">
            <a:avLst/>
          </a:prstGeom>
          <a:noFill/>
          <a:ln/>
        </p:spPr>
        <p:txBody>
          <a:bodyPr wrap="square" lIns="0" tIns="0" rIns="0" bIns="0" rtlCol="0" anchor="ctr">
            <a:normAutofit/>
          </a:bodyPr>
          <a:lstStyle/>
          <a:p>
            <a:pPr algn="l" indent="0" marL="0">
              <a:buNone/>
            </a:pPr>
            <a:r>
              <a:rPr lang="en-US" sz="920" dirty="0">
                <a:solidFill>
                  <a:srgbClr val="E8E6E0"/>
                </a:solidFill>
                <a:latin typeface="Arial" pitchFamily="34" charset="0"/>
                <a:ea typeface="Arial" pitchFamily="34" charset="-122"/>
                <a:cs typeface="Arial" pitchFamily="34" charset="-120"/>
              </a:rPr>
              <a:t>Products • pricing • warranties • SOPs • PDFs • scripts • website content</a:t>
            </a:r>
            <a:endParaRPr lang="en-US" sz="920" dirty="0"/>
          </a:p>
        </p:txBody>
      </p:sp>
      <p:sp>
        <p:nvSpPr>
          <p:cNvPr id="21" name="Shape 19"/>
          <p:cNvSpPr/>
          <p:nvPr/>
        </p:nvSpPr>
        <p:spPr>
          <a:xfrm>
            <a:off x="713232" y="3328416"/>
            <a:ext cx="10561320" cy="521208"/>
          </a:xfrm>
          <a:prstGeom prst="roundRect">
            <a:avLst/>
          </a:prstGeom>
          <a:solidFill>
            <a:srgbClr val="1E1E28"/>
          </a:solidFill>
          <a:ln w="5080">
            <a:solidFill>
              <a:srgbClr val="34323E"/>
            </a:solidFill>
            <a:prstDash val="solid"/>
          </a:ln>
        </p:spPr>
      </p:sp>
      <p:sp>
        <p:nvSpPr>
          <p:cNvPr id="22" name="Text 20"/>
          <p:cNvSpPr txBox="1"/>
          <p:nvPr/>
        </p:nvSpPr>
        <p:spPr>
          <a:xfrm>
            <a:off x="896112" y="3474720"/>
            <a:ext cx="1143000" cy="155448"/>
          </a:xfrm>
          <a:prstGeom prst="rect">
            <a:avLst/>
          </a:prstGeom>
          <a:noFill/>
          <a:ln/>
        </p:spPr>
        <p:txBody>
          <a:bodyPr wrap="square" lIns="0" tIns="0" rIns="0" bIns="0" rtlCol="0" anchor="t">
            <a:normAutofit/>
          </a:bodyPr>
          <a:lstStyle/>
          <a:p>
            <a:pPr algn="l" indent="0" marL="0">
              <a:buNone/>
            </a:pPr>
            <a:r>
              <a:rPr lang="en-US" sz="820" b="1" spc="70" kern="0" dirty="0">
                <a:solidFill>
                  <a:srgbClr val="E8A33D"/>
                </a:solidFill>
                <a:latin typeface="Courier New" pitchFamily="34" charset="0"/>
                <a:ea typeface="Courier New" pitchFamily="34" charset="-122"/>
                <a:cs typeface="Courier New" pitchFamily="34" charset="-120"/>
              </a:rPr>
              <a:t>SCHEDULING</a:t>
            </a:r>
            <a:endParaRPr lang="en-US" sz="820" dirty="0"/>
          </a:p>
        </p:txBody>
      </p:sp>
      <p:sp>
        <p:nvSpPr>
          <p:cNvPr id="23" name="Text 21"/>
          <p:cNvSpPr txBox="1"/>
          <p:nvPr/>
        </p:nvSpPr>
        <p:spPr>
          <a:xfrm>
            <a:off x="2139696" y="3438144"/>
            <a:ext cx="3429000" cy="246888"/>
          </a:xfrm>
          <a:prstGeom prst="rect">
            <a:avLst/>
          </a:prstGeom>
          <a:noFill/>
          <a:ln/>
        </p:spPr>
        <p:txBody>
          <a:bodyPr wrap="square" lIns="0" tIns="0" rIns="0" bIns="0" rtlCol="0" anchor="t">
            <a:normAutofit/>
          </a:bodyPr>
          <a:lstStyle/>
          <a:p>
            <a:pPr algn="l" indent="0" marL="0">
              <a:buNone/>
            </a:pPr>
            <a:r>
              <a:rPr lang="en-US" sz="1020" dirty="0">
                <a:solidFill>
                  <a:srgbClr val="E8E6E0"/>
                </a:solidFill>
                <a:latin typeface="Arial" pitchFamily="34" charset="0"/>
                <a:ea typeface="Arial" pitchFamily="34" charset="-122"/>
                <a:cs typeface="Arial" pitchFamily="34" charset="-120"/>
              </a:rPr>
              <a:t>Availability • duration • ZIP • territory • skills</a:t>
            </a:r>
            <a:endParaRPr lang="en-US" sz="1020" dirty="0"/>
          </a:p>
        </p:txBody>
      </p:sp>
      <p:sp>
        <p:nvSpPr>
          <p:cNvPr id="24" name="Shape 22"/>
          <p:cNvSpPr/>
          <p:nvPr/>
        </p:nvSpPr>
        <p:spPr>
          <a:xfrm>
            <a:off x="5641848" y="3493008"/>
            <a:ext cx="182880" cy="182880"/>
          </a:xfrm>
          <a:prstGeom prst="chevron">
            <a:avLst/>
          </a:prstGeom>
          <a:solidFill>
            <a:srgbClr val="6FB3E8"/>
          </a:solidFill>
          <a:ln w="12700">
            <a:solidFill>
              <a:srgbClr val="6FB3E8"/>
            </a:solidFill>
            <a:prstDash val="solid"/>
          </a:ln>
        </p:spPr>
      </p:sp>
      <p:sp>
        <p:nvSpPr>
          <p:cNvPr id="25" name="Text 23"/>
          <p:cNvSpPr txBox="1"/>
          <p:nvPr/>
        </p:nvSpPr>
        <p:spPr>
          <a:xfrm>
            <a:off x="5989320" y="3419856"/>
            <a:ext cx="5010912" cy="292608"/>
          </a:xfrm>
          <a:prstGeom prst="rect">
            <a:avLst/>
          </a:prstGeom>
          <a:noFill/>
          <a:ln/>
        </p:spPr>
        <p:txBody>
          <a:bodyPr wrap="square" lIns="0" tIns="0" rIns="0" bIns="0" rtlCol="0" anchor="ctr">
            <a:normAutofit/>
          </a:bodyPr>
          <a:lstStyle/>
          <a:p>
            <a:pPr algn="l" indent="0" marL="0">
              <a:buNone/>
            </a:pPr>
            <a:r>
              <a:rPr lang="en-US" sz="920" dirty="0">
                <a:solidFill>
                  <a:srgbClr val="E8E6E0"/>
                </a:solidFill>
                <a:latin typeface="Arial" pitchFamily="34" charset="0"/>
                <a:ea typeface="Arial" pitchFamily="34" charset="-122"/>
                <a:cs typeface="Arial" pitchFamily="34" charset="-120"/>
              </a:rPr>
              <a:t>Travel/GPS • workload • priority • emergency • explainable optimization</a:t>
            </a:r>
            <a:endParaRPr lang="en-US" sz="920" dirty="0"/>
          </a:p>
        </p:txBody>
      </p:sp>
      <p:sp>
        <p:nvSpPr>
          <p:cNvPr id="26" name="Shape 24"/>
          <p:cNvSpPr/>
          <p:nvPr/>
        </p:nvSpPr>
        <p:spPr>
          <a:xfrm>
            <a:off x="713232" y="3986784"/>
            <a:ext cx="10561320" cy="521208"/>
          </a:xfrm>
          <a:prstGeom prst="roundRect">
            <a:avLst/>
          </a:prstGeom>
          <a:solidFill>
            <a:srgbClr val="100F14"/>
          </a:solidFill>
          <a:ln w="5080">
            <a:solidFill>
              <a:srgbClr val="34323E"/>
            </a:solidFill>
            <a:prstDash val="solid"/>
          </a:ln>
        </p:spPr>
      </p:sp>
      <p:sp>
        <p:nvSpPr>
          <p:cNvPr id="27" name="Text 25"/>
          <p:cNvSpPr txBox="1"/>
          <p:nvPr/>
        </p:nvSpPr>
        <p:spPr>
          <a:xfrm>
            <a:off x="896112" y="4133088"/>
            <a:ext cx="1143000" cy="155448"/>
          </a:xfrm>
          <a:prstGeom prst="rect">
            <a:avLst/>
          </a:prstGeom>
          <a:noFill/>
          <a:ln/>
        </p:spPr>
        <p:txBody>
          <a:bodyPr wrap="square" lIns="0" tIns="0" rIns="0" bIns="0" rtlCol="0" anchor="t">
            <a:normAutofit/>
          </a:bodyPr>
          <a:lstStyle/>
          <a:p>
            <a:pPr algn="l" indent="0" marL="0">
              <a:buNone/>
            </a:pPr>
            <a:r>
              <a:rPr lang="en-US" sz="820" b="1" spc="70" kern="0" dirty="0">
                <a:solidFill>
                  <a:srgbClr val="E8A33D"/>
                </a:solidFill>
                <a:latin typeface="Courier New" pitchFamily="34" charset="0"/>
                <a:ea typeface="Courier New" pitchFamily="34" charset="-122"/>
                <a:cs typeface="Courier New" pitchFamily="34" charset="-120"/>
              </a:rPr>
              <a:t>CRM + SYSTEMS</a:t>
            </a:r>
            <a:endParaRPr lang="en-US" sz="820" dirty="0"/>
          </a:p>
        </p:txBody>
      </p:sp>
      <p:sp>
        <p:nvSpPr>
          <p:cNvPr id="28" name="Text 26"/>
          <p:cNvSpPr txBox="1"/>
          <p:nvPr/>
        </p:nvSpPr>
        <p:spPr>
          <a:xfrm>
            <a:off x="2139696" y="4096512"/>
            <a:ext cx="3429000" cy="246888"/>
          </a:xfrm>
          <a:prstGeom prst="rect">
            <a:avLst/>
          </a:prstGeom>
          <a:noFill/>
          <a:ln/>
        </p:spPr>
        <p:txBody>
          <a:bodyPr wrap="square" lIns="0" tIns="0" rIns="0" bIns="0" rtlCol="0" anchor="t">
            <a:normAutofit/>
          </a:bodyPr>
          <a:lstStyle/>
          <a:p>
            <a:pPr algn="l" indent="0" marL="0">
              <a:buNone/>
            </a:pPr>
            <a:r>
              <a:rPr lang="en-US" sz="1020" dirty="0">
                <a:solidFill>
                  <a:srgbClr val="E8E6E0"/>
                </a:solidFill>
                <a:latin typeface="Arial" pitchFamily="34" charset="0"/>
                <a:ea typeface="Arial" pitchFamily="34" charset="-122"/>
                <a:cs typeface="Arial" pitchFamily="34" charset="-120"/>
              </a:rPr>
              <a:t>One CRM + one calendar ecosystem</a:t>
            </a:r>
            <a:endParaRPr lang="en-US" sz="1020" dirty="0"/>
          </a:p>
        </p:txBody>
      </p:sp>
      <p:sp>
        <p:nvSpPr>
          <p:cNvPr id="29" name="Shape 27"/>
          <p:cNvSpPr/>
          <p:nvPr/>
        </p:nvSpPr>
        <p:spPr>
          <a:xfrm>
            <a:off x="5641848" y="4151376"/>
            <a:ext cx="182880" cy="182880"/>
          </a:xfrm>
          <a:prstGeom prst="chevron">
            <a:avLst/>
          </a:prstGeom>
          <a:solidFill>
            <a:srgbClr val="6FB3E8"/>
          </a:solidFill>
          <a:ln w="12700">
            <a:solidFill>
              <a:srgbClr val="6FB3E8"/>
            </a:solidFill>
            <a:prstDash val="solid"/>
          </a:ln>
        </p:spPr>
      </p:sp>
      <p:sp>
        <p:nvSpPr>
          <p:cNvPr id="30" name="Text 28"/>
          <p:cNvSpPr txBox="1"/>
          <p:nvPr/>
        </p:nvSpPr>
        <p:spPr>
          <a:xfrm>
            <a:off x="5989320" y="4078224"/>
            <a:ext cx="5010912" cy="292608"/>
          </a:xfrm>
          <a:prstGeom prst="rect">
            <a:avLst/>
          </a:prstGeom>
          <a:noFill/>
          <a:ln/>
        </p:spPr>
        <p:txBody>
          <a:bodyPr wrap="square" lIns="0" tIns="0" rIns="0" bIns="0" rtlCol="0" anchor="ctr">
            <a:normAutofit/>
          </a:bodyPr>
          <a:lstStyle/>
          <a:p>
            <a:pPr algn="l" indent="0" marL="0">
              <a:buNone/>
            </a:pPr>
            <a:r>
              <a:rPr lang="en-US" sz="920" dirty="0">
                <a:solidFill>
                  <a:srgbClr val="E8E6E0"/>
                </a:solidFill>
                <a:latin typeface="Arial" pitchFamily="34" charset="0"/>
                <a:ea typeface="Arial" pitchFamily="34" charset="-122"/>
                <a:cs typeface="Arial" pitchFamily="34" charset="-120"/>
              </a:rPr>
              <a:t>Dynamics • Salesforce • HubSpot • ServiceTitan • AccuLynx • JobNimbus • LeadPerfection • custom APIs</a:t>
            </a:r>
            <a:endParaRPr lang="en-US" sz="920" dirty="0"/>
          </a:p>
        </p:txBody>
      </p:sp>
      <p:sp>
        <p:nvSpPr>
          <p:cNvPr id="31" name="Shape 29"/>
          <p:cNvSpPr/>
          <p:nvPr/>
        </p:nvSpPr>
        <p:spPr>
          <a:xfrm>
            <a:off x="713232" y="4645152"/>
            <a:ext cx="10561320" cy="521208"/>
          </a:xfrm>
          <a:prstGeom prst="roundRect">
            <a:avLst/>
          </a:prstGeom>
          <a:solidFill>
            <a:srgbClr val="1E1E28"/>
          </a:solidFill>
          <a:ln w="5080">
            <a:solidFill>
              <a:srgbClr val="34323E"/>
            </a:solidFill>
            <a:prstDash val="solid"/>
          </a:ln>
        </p:spPr>
      </p:sp>
      <p:sp>
        <p:nvSpPr>
          <p:cNvPr id="32" name="Text 30"/>
          <p:cNvSpPr txBox="1"/>
          <p:nvPr/>
        </p:nvSpPr>
        <p:spPr>
          <a:xfrm>
            <a:off x="896112" y="4791456"/>
            <a:ext cx="1143000" cy="155448"/>
          </a:xfrm>
          <a:prstGeom prst="rect">
            <a:avLst/>
          </a:prstGeom>
          <a:noFill/>
          <a:ln/>
        </p:spPr>
        <p:txBody>
          <a:bodyPr wrap="square" lIns="0" tIns="0" rIns="0" bIns="0" rtlCol="0" anchor="t">
            <a:normAutofit/>
          </a:bodyPr>
          <a:lstStyle/>
          <a:p>
            <a:pPr algn="l" indent="0" marL="0">
              <a:buNone/>
            </a:pPr>
            <a:r>
              <a:rPr lang="en-US" sz="820" b="1" spc="70" kern="0" dirty="0">
                <a:solidFill>
                  <a:srgbClr val="E8A33D"/>
                </a:solidFill>
                <a:latin typeface="Courier New" pitchFamily="34" charset="0"/>
                <a:ea typeface="Courier New" pitchFamily="34" charset="-122"/>
                <a:cs typeface="Courier New" pitchFamily="34" charset="-120"/>
              </a:rPr>
              <a:t>AUTOMATION</a:t>
            </a:r>
            <a:endParaRPr lang="en-US" sz="820" dirty="0"/>
          </a:p>
        </p:txBody>
      </p:sp>
      <p:sp>
        <p:nvSpPr>
          <p:cNvPr id="33" name="Text 31"/>
          <p:cNvSpPr txBox="1"/>
          <p:nvPr/>
        </p:nvSpPr>
        <p:spPr>
          <a:xfrm>
            <a:off x="2139696" y="4754880"/>
            <a:ext cx="3429000" cy="246888"/>
          </a:xfrm>
          <a:prstGeom prst="rect">
            <a:avLst/>
          </a:prstGeom>
          <a:noFill/>
          <a:ln/>
        </p:spPr>
        <p:txBody>
          <a:bodyPr wrap="square" lIns="0" tIns="0" rIns="0" bIns="0" rtlCol="0" anchor="t">
            <a:normAutofit/>
          </a:bodyPr>
          <a:lstStyle/>
          <a:p>
            <a:pPr algn="l" indent="0" marL="0">
              <a:buNone/>
            </a:pPr>
            <a:r>
              <a:rPr lang="en-US" sz="1020" dirty="0">
                <a:solidFill>
                  <a:srgbClr val="E8E6E0"/>
                </a:solidFill>
                <a:latin typeface="Arial" pitchFamily="34" charset="0"/>
                <a:ea typeface="Arial" pitchFamily="34" charset="-122"/>
                <a:cs typeface="Arial" pitchFamily="34" charset="-120"/>
              </a:rPr>
              <a:t>Lead/appointment actions • confirmation • handoff</a:t>
            </a:r>
            <a:endParaRPr lang="en-US" sz="1020" dirty="0"/>
          </a:p>
        </p:txBody>
      </p:sp>
      <p:sp>
        <p:nvSpPr>
          <p:cNvPr id="34" name="Shape 32"/>
          <p:cNvSpPr/>
          <p:nvPr/>
        </p:nvSpPr>
        <p:spPr>
          <a:xfrm>
            <a:off x="5641848" y="4809744"/>
            <a:ext cx="182880" cy="182880"/>
          </a:xfrm>
          <a:prstGeom prst="chevron">
            <a:avLst/>
          </a:prstGeom>
          <a:solidFill>
            <a:srgbClr val="6FB3E8"/>
          </a:solidFill>
          <a:ln w="12700">
            <a:solidFill>
              <a:srgbClr val="6FB3E8"/>
            </a:solidFill>
            <a:prstDash val="solid"/>
          </a:ln>
        </p:spPr>
      </p:sp>
      <p:sp>
        <p:nvSpPr>
          <p:cNvPr id="35" name="Text 33"/>
          <p:cNvSpPr txBox="1"/>
          <p:nvPr/>
        </p:nvSpPr>
        <p:spPr>
          <a:xfrm>
            <a:off x="5989320" y="4736592"/>
            <a:ext cx="5010912" cy="292608"/>
          </a:xfrm>
          <a:prstGeom prst="rect">
            <a:avLst/>
          </a:prstGeom>
          <a:noFill/>
          <a:ln/>
        </p:spPr>
        <p:txBody>
          <a:bodyPr wrap="square" lIns="0" tIns="0" rIns="0" bIns="0" rtlCol="0" anchor="ctr">
            <a:normAutofit/>
          </a:bodyPr>
          <a:lstStyle/>
          <a:p>
            <a:pPr algn="l" indent="0" marL="0">
              <a:buNone/>
            </a:pPr>
            <a:r>
              <a:rPr lang="en-US" sz="920" dirty="0">
                <a:solidFill>
                  <a:srgbClr val="E8E6E0"/>
                </a:solidFill>
                <a:latin typeface="Arial" pitchFamily="34" charset="0"/>
                <a:ea typeface="Arial" pitchFamily="34" charset="-122"/>
                <a:cs typeface="Arial" pitchFamily="34" charset="-120"/>
              </a:rPr>
              <a:t>Campaigns • reminders • reviews • re-engagement • manager alerts • tasks</a:t>
            </a:r>
            <a:endParaRPr lang="en-US" sz="920" dirty="0"/>
          </a:p>
        </p:txBody>
      </p:sp>
      <p:sp>
        <p:nvSpPr>
          <p:cNvPr id="36" name="Shape 34"/>
          <p:cNvSpPr/>
          <p:nvPr/>
        </p:nvSpPr>
        <p:spPr>
          <a:xfrm>
            <a:off x="713232" y="5303520"/>
            <a:ext cx="10561320" cy="521208"/>
          </a:xfrm>
          <a:prstGeom prst="roundRect">
            <a:avLst/>
          </a:prstGeom>
          <a:solidFill>
            <a:srgbClr val="100F14"/>
          </a:solidFill>
          <a:ln w="5080">
            <a:solidFill>
              <a:srgbClr val="34323E"/>
            </a:solidFill>
            <a:prstDash val="solid"/>
          </a:ln>
        </p:spPr>
      </p:sp>
      <p:sp>
        <p:nvSpPr>
          <p:cNvPr id="37" name="Text 35"/>
          <p:cNvSpPr txBox="1"/>
          <p:nvPr/>
        </p:nvSpPr>
        <p:spPr>
          <a:xfrm>
            <a:off x="896112" y="5449824"/>
            <a:ext cx="1143000" cy="155448"/>
          </a:xfrm>
          <a:prstGeom prst="rect">
            <a:avLst/>
          </a:prstGeom>
          <a:noFill/>
          <a:ln/>
        </p:spPr>
        <p:txBody>
          <a:bodyPr wrap="square" lIns="0" tIns="0" rIns="0" bIns="0" rtlCol="0" anchor="t">
            <a:normAutofit/>
          </a:bodyPr>
          <a:lstStyle/>
          <a:p>
            <a:pPr algn="l" indent="0" marL="0">
              <a:buNone/>
            </a:pPr>
            <a:r>
              <a:rPr lang="en-US" sz="820" b="1" spc="70" kern="0" dirty="0">
                <a:solidFill>
                  <a:srgbClr val="E8A33D"/>
                </a:solidFill>
                <a:latin typeface="Courier New" pitchFamily="34" charset="0"/>
                <a:ea typeface="Courier New" pitchFamily="34" charset="-122"/>
                <a:cs typeface="Courier New" pitchFamily="34" charset="-120"/>
              </a:rPr>
              <a:t>SCALE</a:t>
            </a:r>
            <a:endParaRPr lang="en-US" sz="820" dirty="0"/>
          </a:p>
        </p:txBody>
      </p:sp>
      <p:sp>
        <p:nvSpPr>
          <p:cNvPr id="38" name="Text 36"/>
          <p:cNvSpPr txBox="1"/>
          <p:nvPr/>
        </p:nvSpPr>
        <p:spPr>
          <a:xfrm>
            <a:off x="2139696" y="5413248"/>
            <a:ext cx="3429000" cy="246888"/>
          </a:xfrm>
          <a:prstGeom prst="rect">
            <a:avLst/>
          </a:prstGeom>
          <a:noFill/>
          <a:ln/>
        </p:spPr>
        <p:txBody>
          <a:bodyPr wrap="square" lIns="0" tIns="0" rIns="0" bIns="0" rtlCol="0" anchor="t">
            <a:normAutofit/>
          </a:bodyPr>
          <a:lstStyle/>
          <a:p>
            <a:pPr algn="l" indent="0" marL="0">
              <a:buNone/>
            </a:pPr>
            <a:r>
              <a:rPr lang="en-US" sz="1020" dirty="0">
                <a:solidFill>
                  <a:srgbClr val="E8E6E0"/>
                </a:solidFill>
                <a:latin typeface="Arial" pitchFamily="34" charset="0"/>
                <a:ea typeface="Arial" pitchFamily="34" charset="-122"/>
                <a:cs typeface="Arial" pitchFamily="34" charset="-120"/>
              </a:rPr>
              <a:t>One company; tenant-aware data and authorization</a:t>
            </a:r>
            <a:endParaRPr lang="en-US" sz="1020" dirty="0"/>
          </a:p>
        </p:txBody>
      </p:sp>
      <p:sp>
        <p:nvSpPr>
          <p:cNvPr id="39" name="Shape 37"/>
          <p:cNvSpPr/>
          <p:nvPr/>
        </p:nvSpPr>
        <p:spPr>
          <a:xfrm>
            <a:off x="5641848" y="5468112"/>
            <a:ext cx="182880" cy="182880"/>
          </a:xfrm>
          <a:prstGeom prst="chevron">
            <a:avLst/>
          </a:prstGeom>
          <a:solidFill>
            <a:srgbClr val="6FB3E8"/>
          </a:solidFill>
          <a:ln w="12700">
            <a:solidFill>
              <a:srgbClr val="6FB3E8"/>
            </a:solidFill>
            <a:prstDash val="solid"/>
          </a:ln>
        </p:spPr>
      </p:sp>
      <p:sp>
        <p:nvSpPr>
          <p:cNvPr id="40" name="Text 38"/>
          <p:cNvSpPr txBox="1"/>
          <p:nvPr/>
        </p:nvSpPr>
        <p:spPr>
          <a:xfrm>
            <a:off x="5989320" y="5394960"/>
            <a:ext cx="5010912" cy="292608"/>
          </a:xfrm>
          <a:prstGeom prst="rect">
            <a:avLst/>
          </a:prstGeom>
          <a:noFill/>
          <a:ln/>
        </p:spPr>
        <p:txBody>
          <a:bodyPr wrap="square" lIns="0" tIns="0" rIns="0" bIns="0" rtlCol="0" anchor="ctr">
            <a:normAutofit/>
          </a:bodyPr>
          <a:lstStyle/>
          <a:p>
            <a:pPr algn="l" indent="0" marL="0">
              <a:buNone/>
            </a:pPr>
            <a:r>
              <a:rPr lang="en-US" sz="920" dirty="0">
                <a:solidFill>
                  <a:srgbClr val="E8E6E0"/>
                </a:solidFill>
                <a:latin typeface="Arial" pitchFamily="34" charset="0"/>
                <a:ea typeface="Arial" pitchFamily="34" charset="-122"/>
                <a:cs typeface="Arial" pitchFamily="34" charset="-120"/>
              </a:rPr>
              <a:t>Companies • brands • locations • business units • additional agents • high concurrency</a:t>
            </a:r>
            <a:endParaRPr lang="en-US" sz="920" dirty="0"/>
          </a:p>
        </p:txBody>
      </p:sp>
      <p:sp>
        <p:nvSpPr>
          <p:cNvPr id="41" name="Text 39">
            <a:hlinkClick r:id="rId1" tooltip=""/>
          </p:cNvPr>
          <p:cNvSpPr txBox="1"/>
          <p:nvPr/>
        </p:nvSpPr>
        <p:spPr>
          <a:xfrm>
            <a:off x="896112" y="6053328"/>
            <a:ext cx="10287000" cy="182880"/>
          </a:xfrm>
          <a:prstGeom prst="rect">
            <a:avLst/>
          </a:prstGeom>
          <a:noFill/>
          <a:ln/>
        </p:spPr>
        <p:txBody>
          <a:bodyPr wrap="square" lIns="0" tIns="0" rIns="0" bIns="0" rtlCol="0" anchor="t">
            <a:normAutofit/>
          </a:bodyPr>
          <a:lstStyle/>
          <a:p>
            <a:pPr algn="ctr" indent="0" marL="0">
              <a:buNone/>
            </a:pPr>
            <a:r>
              <a:rPr lang="en-US" sz="950" i="1" u="sng" dirty="0">
                <a:solidFill>
                  <a:srgbClr val="9A97A3"/>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Google Business Messages was discontinued 31 Jul 2024; select a current replacement during discovery.</a:t>
            </a:r>
            <a:endParaRPr lang="en-US" sz="950" dirty="0"/>
          </a:p>
        </p:txBody>
      </p:sp>
      <p:sp>
        <p:nvSpPr>
          <p:cNvPr id="25" name="Slide Number Placeholder 0"/>
          <p:cNvSpPr>
            <a:spLocks noGrp="1"/>
          </p:cNvSpPr>
          <p:nvPr>
            <p:ph type="sldNum" sz="quarter" idx="4294967295"/>
          </p:nvPr>
        </p:nvSpPr>
        <p:spPr>
          <a:xfrm>
            <a:off x="11109960" y="6483096"/>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9A97A3"/>
                </a:solidFill>
                <a:latin typeface="Courier New"/>
                <a:ea typeface="Courier New"/>
                <a:cs typeface="Courier New"/>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61D"/>
        </a:solidFill>
      </p:bgPr>
    </p:bg>
    <p:spTree>
      <p:nvGrpSpPr>
        <p:cNvPr id="1" name=""/>
        <p:cNvGrpSpPr/>
        <p:nvPr/>
      </p:nvGrpSpPr>
      <p:grpSpPr>
        <a:xfrm>
          <a:off x="0" y="0"/>
          <a:ext cx="0" cy="0"/>
          <a:chOff x="0" y="0"/>
          <a:chExt cx="0" cy="0"/>
        </a:xfrm>
      </p:grpSpPr>
      <p:sp>
        <p:nvSpPr>
          <p:cNvPr id="2" name="Text 0"/>
          <p:cNvSpPr txBox="1"/>
          <p:nvPr/>
        </p:nvSpPr>
        <p:spPr>
          <a:xfrm>
            <a:off x="713232" y="384048"/>
            <a:ext cx="5120640" cy="219456"/>
          </a:xfrm>
          <a:prstGeom prst="rect">
            <a:avLst/>
          </a:prstGeom>
          <a:noFill/>
          <a:ln/>
        </p:spPr>
        <p:txBody>
          <a:bodyPr wrap="square" lIns="0" tIns="0" rIns="0" bIns="0" rtlCol="0" anchor="t">
            <a:normAutofit/>
          </a:bodyPr>
          <a:lstStyle/>
          <a:p>
            <a:pPr algn="l" indent="0" marL="0">
              <a:buNone/>
            </a:pPr>
            <a:r>
              <a:rPr lang="en-US" sz="900" b="1" spc="210" kern="0" dirty="0">
                <a:solidFill>
                  <a:srgbClr val="9A97A3"/>
                </a:solidFill>
                <a:latin typeface="Courier New" pitchFamily="34" charset="0"/>
                <a:ea typeface="Courier New" pitchFamily="34" charset="-122"/>
                <a:cs typeface="Courier New" pitchFamily="34" charset="-120"/>
              </a:rPr>
              <a:t>DELIVERY PLAN</a:t>
            </a:r>
            <a:endParaRPr lang="en-US" sz="900" dirty="0"/>
          </a:p>
        </p:txBody>
      </p:sp>
      <p:sp>
        <p:nvSpPr>
          <p:cNvPr id="3" name="Text 1"/>
          <p:cNvSpPr txBox="1"/>
          <p:nvPr/>
        </p:nvSpPr>
        <p:spPr>
          <a:xfrm>
            <a:off x="10424160" y="347472"/>
            <a:ext cx="1051560" cy="228600"/>
          </a:xfrm>
          <a:prstGeom prst="rect">
            <a:avLst/>
          </a:prstGeom>
          <a:noFill/>
          <a:ln/>
        </p:spPr>
        <p:txBody>
          <a:bodyPr wrap="square" lIns="0" tIns="0" rIns="0" bIns="0" rtlCol="0" anchor="t">
            <a:normAutofit/>
          </a:bodyPr>
          <a:lstStyle/>
          <a:p>
            <a:pPr algn="r" indent="0" marL="0">
              <a:buNone/>
            </a:pPr>
            <a:r>
              <a:rPr lang="en-US" sz="1000" b="1" spc="240" kern="0" dirty="0">
                <a:solidFill>
                  <a:srgbClr val="E8E6E0"/>
                </a:solidFill>
                <a:latin typeface="Courier New" pitchFamily="34" charset="0"/>
                <a:ea typeface="Courier New" pitchFamily="34" charset="-122"/>
                <a:cs typeface="Courier New" pitchFamily="34" charset="-120"/>
              </a:rPr>
              <a:t>CYBIC</a:t>
            </a:r>
            <a:endParaRPr lang="en-US" sz="1000" dirty="0"/>
          </a:p>
        </p:txBody>
      </p:sp>
      <p:sp>
        <p:nvSpPr>
          <p:cNvPr id="4" name="Text 2"/>
          <p:cNvSpPr txBox="1"/>
          <p:nvPr/>
        </p:nvSpPr>
        <p:spPr>
          <a:xfrm>
            <a:off x="685800" y="713232"/>
            <a:ext cx="10744200" cy="566928"/>
          </a:xfrm>
          <a:prstGeom prst="rect">
            <a:avLst/>
          </a:prstGeom>
          <a:noFill/>
          <a:ln/>
        </p:spPr>
        <p:txBody>
          <a:bodyPr wrap="square" lIns="0" tIns="0" rIns="0" bIns="0" rtlCol="0" anchor="t">
            <a:normAutofit/>
          </a:bodyPr>
          <a:lstStyle/>
          <a:p>
            <a:pPr algn="l" indent="0" marL="0">
              <a:buNone/>
            </a:pPr>
            <a:r>
              <a:rPr lang="en-US" sz="2800" b="1" dirty="0">
                <a:solidFill>
                  <a:srgbClr val="6FB3E8"/>
                </a:solidFill>
                <a:latin typeface="Arial" pitchFamily="34" charset="0"/>
                <a:ea typeface="Arial" pitchFamily="34" charset="-122"/>
                <a:cs typeface="Arial" pitchFamily="34" charset="-120"/>
              </a:rPr>
              <a:t>Build the platform in controlled stages</a:t>
            </a:r>
            <a:endParaRPr lang="en-US" sz="2800" dirty="0"/>
          </a:p>
        </p:txBody>
      </p:sp>
      <p:sp>
        <p:nvSpPr>
          <p:cNvPr id="5" name="Text 3"/>
          <p:cNvSpPr txBox="1"/>
          <p:nvPr/>
        </p:nvSpPr>
        <p:spPr>
          <a:xfrm>
            <a:off x="713232" y="1298448"/>
            <a:ext cx="10607040" cy="411480"/>
          </a:xfrm>
          <a:prstGeom prst="rect">
            <a:avLst/>
          </a:prstGeom>
          <a:noFill/>
          <a:ln/>
        </p:spPr>
        <p:txBody>
          <a:bodyPr wrap="square" lIns="0" tIns="0" rIns="0" bIns="0" rtlCol="0" anchor="t">
            <a:normAutofit/>
          </a:bodyPr>
          <a:lstStyle/>
          <a:p>
            <a:pPr algn="l" indent="0" marL="0">
              <a:buNone/>
            </a:pPr>
            <a:r>
              <a:rPr lang="en-US" sz="1350" dirty="0">
                <a:solidFill>
                  <a:srgbClr val="9A97A3"/>
                </a:solidFill>
                <a:latin typeface="Arial" pitchFamily="34" charset="0"/>
                <a:ea typeface="Arial" pitchFamily="34" charset="-122"/>
                <a:cs typeface="Arial" pitchFamily="34" charset="-120"/>
              </a:rPr>
              <a:t>Directional ranges assume a dedicated team and timely access to systems, policies, and data.</a:t>
            </a:r>
            <a:endParaRPr lang="en-US" sz="1350" dirty="0"/>
          </a:p>
        </p:txBody>
      </p:sp>
      <p:sp>
        <p:nvSpPr>
          <p:cNvPr id="6" name="Shape 4"/>
          <p:cNvSpPr/>
          <p:nvPr/>
        </p:nvSpPr>
        <p:spPr>
          <a:xfrm>
            <a:off x="658368" y="6428232"/>
            <a:ext cx="10863072" cy="0"/>
          </a:xfrm>
          <a:prstGeom prst="line">
            <a:avLst/>
          </a:prstGeom>
          <a:noFill/>
          <a:ln w="8890">
            <a:solidFill>
              <a:srgbClr val="34323E"/>
            </a:solidFill>
            <a:prstDash val="solid"/>
          </a:ln>
        </p:spPr>
      </p:sp>
      <p:sp>
        <p:nvSpPr>
          <p:cNvPr id="7" name="Text 5"/>
          <p:cNvSpPr txBox="1"/>
          <p:nvPr/>
        </p:nvSpPr>
        <p:spPr>
          <a:xfrm>
            <a:off x="685800" y="6473952"/>
            <a:ext cx="2926080" cy="146304"/>
          </a:xfrm>
          <a:prstGeom prst="rect">
            <a:avLst/>
          </a:prstGeom>
          <a:noFill/>
          <a:ln/>
        </p:spPr>
        <p:txBody>
          <a:bodyPr wrap="square" lIns="0" tIns="0" rIns="0" bIns="0" rtlCol="0" anchor="t">
            <a:normAutofit/>
          </a:bodyPr>
          <a:lstStyle/>
          <a:p>
            <a:pPr algn="l" indent="0" marL="0">
              <a:buNone/>
            </a:pPr>
            <a:r>
              <a:rPr lang="en-US" sz="750" spc="120" kern="0" dirty="0">
                <a:solidFill>
                  <a:srgbClr val="9A97A3"/>
                </a:solidFill>
                <a:latin typeface="Courier New" pitchFamily="34" charset="0"/>
                <a:ea typeface="Courier New" pitchFamily="34" charset="-122"/>
                <a:cs typeface="Courier New" pitchFamily="34" charset="-120"/>
              </a:rPr>
              <a:t>CYBIC  •  CONFIDENTIAL</a:t>
            </a:r>
            <a:endParaRPr lang="en-US" sz="750" dirty="0"/>
          </a:p>
        </p:txBody>
      </p:sp>
      <p:sp>
        <p:nvSpPr>
          <p:cNvPr id="8" name="Shape 6"/>
          <p:cNvSpPr/>
          <p:nvPr/>
        </p:nvSpPr>
        <p:spPr>
          <a:xfrm>
            <a:off x="704088" y="1920240"/>
            <a:ext cx="1975104" cy="2880360"/>
          </a:xfrm>
          <a:prstGeom prst="roundRect">
            <a:avLst/>
          </a:prstGeom>
          <a:solidFill>
            <a:srgbClr val="20303D"/>
          </a:solidFill>
          <a:ln w="15240">
            <a:solidFill>
              <a:srgbClr val="6FB3E8"/>
            </a:solidFill>
            <a:prstDash val="solid"/>
          </a:ln>
        </p:spPr>
      </p:sp>
      <p:sp>
        <p:nvSpPr>
          <p:cNvPr id="9" name="Text 7"/>
          <p:cNvSpPr txBox="1"/>
          <p:nvPr/>
        </p:nvSpPr>
        <p:spPr>
          <a:xfrm>
            <a:off x="868680" y="2112264"/>
            <a:ext cx="347472" cy="182880"/>
          </a:xfrm>
          <a:prstGeom prst="rect">
            <a:avLst/>
          </a:prstGeom>
          <a:noFill/>
          <a:ln/>
        </p:spPr>
        <p:txBody>
          <a:bodyPr wrap="square" lIns="0" tIns="0" rIns="0" bIns="0" rtlCol="0" anchor="t">
            <a:normAutofit/>
          </a:bodyPr>
          <a:lstStyle/>
          <a:p>
            <a:pPr algn="l" indent="0" marL="0">
              <a:buNone/>
            </a:pPr>
            <a:r>
              <a:rPr lang="en-US" sz="800" b="1" dirty="0">
                <a:solidFill>
                  <a:srgbClr val="6FB3E8"/>
                </a:solidFill>
                <a:latin typeface="Courier New" pitchFamily="34" charset="0"/>
                <a:ea typeface="Courier New" pitchFamily="34" charset="-122"/>
                <a:cs typeface="Courier New" pitchFamily="34" charset="-120"/>
              </a:rPr>
              <a:t>01</a:t>
            </a:r>
            <a:endParaRPr lang="en-US" sz="800" dirty="0"/>
          </a:p>
        </p:txBody>
      </p:sp>
      <p:sp>
        <p:nvSpPr>
          <p:cNvPr id="10" name="Text 8"/>
          <p:cNvSpPr txBox="1"/>
          <p:nvPr/>
        </p:nvSpPr>
        <p:spPr>
          <a:xfrm>
            <a:off x="868680" y="2542032"/>
            <a:ext cx="1645920" cy="438912"/>
          </a:xfrm>
          <a:prstGeom prst="rect">
            <a:avLst/>
          </a:prstGeom>
          <a:noFill/>
          <a:ln/>
        </p:spPr>
        <p:txBody>
          <a:bodyPr wrap="square" lIns="0" tIns="0" rIns="0" bIns="0" rtlCol="0" anchor="ctr">
            <a:normAutofit/>
          </a:bodyPr>
          <a:lstStyle/>
          <a:p>
            <a:pPr algn="ctr" indent="0" marL="0">
              <a:buNone/>
            </a:pPr>
            <a:r>
              <a:rPr lang="en-US" sz="1100" b="1" spc="70" kern="0" dirty="0">
                <a:solidFill>
                  <a:srgbClr val="6FB3E8"/>
                </a:solidFill>
                <a:latin typeface="Courier New" pitchFamily="34" charset="0"/>
                <a:ea typeface="Courier New" pitchFamily="34" charset="-122"/>
                <a:cs typeface="Courier New" pitchFamily="34" charset="-120"/>
              </a:rPr>
              <a:t>DISCOVERY</a:t>
            </a:r>
            <a:endParaRPr lang="en-US" sz="1100" dirty="0"/>
          </a:p>
        </p:txBody>
      </p:sp>
      <p:sp>
        <p:nvSpPr>
          <p:cNvPr id="11" name="Text 9"/>
          <p:cNvSpPr txBox="1"/>
          <p:nvPr/>
        </p:nvSpPr>
        <p:spPr>
          <a:xfrm>
            <a:off x="868680" y="3200400"/>
            <a:ext cx="1645920" cy="292608"/>
          </a:xfrm>
          <a:prstGeom prst="rect">
            <a:avLst/>
          </a:prstGeom>
          <a:noFill/>
          <a:ln/>
        </p:spPr>
        <p:txBody>
          <a:bodyPr wrap="square" lIns="0" tIns="0" rIns="0" bIns="0" rtlCol="0" anchor="t">
            <a:normAutofit/>
          </a:bodyPr>
          <a:lstStyle/>
          <a:p>
            <a:pPr algn="ctr" indent="0" marL="0">
              <a:buNone/>
            </a:pPr>
            <a:r>
              <a:rPr lang="en-US" sz="1600" b="1" dirty="0">
                <a:solidFill>
                  <a:srgbClr val="E8E6E0"/>
                </a:solidFill>
                <a:latin typeface="Arial" pitchFamily="34" charset="0"/>
                <a:ea typeface="Arial" pitchFamily="34" charset="-122"/>
                <a:cs typeface="Arial" pitchFamily="34" charset="-120"/>
              </a:rPr>
              <a:t>3–4 weeks</a:t>
            </a:r>
            <a:endParaRPr lang="en-US" sz="1600" dirty="0"/>
          </a:p>
        </p:txBody>
      </p:sp>
      <p:sp>
        <p:nvSpPr>
          <p:cNvPr id="12" name="Shape 10"/>
          <p:cNvSpPr/>
          <p:nvPr/>
        </p:nvSpPr>
        <p:spPr>
          <a:xfrm>
            <a:off x="996696" y="3685032"/>
            <a:ext cx="1389888" cy="0"/>
          </a:xfrm>
          <a:prstGeom prst="line">
            <a:avLst/>
          </a:prstGeom>
          <a:noFill/>
          <a:ln w="10160">
            <a:solidFill>
              <a:srgbClr val="34323E"/>
            </a:solidFill>
            <a:prstDash val="solid"/>
          </a:ln>
        </p:spPr>
      </p:sp>
      <p:sp>
        <p:nvSpPr>
          <p:cNvPr id="13" name="Text 11"/>
          <p:cNvSpPr txBox="1"/>
          <p:nvPr/>
        </p:nvSpPr>
        <p:spPr>
          <a:xfrm>
            <a:off x="886968" y="3867912"/>
            <a:ext cx="1609344" cy="658368"/>
          </a:xfrm>
          <a:prstGeom prst="rect">
            <a:avLst/>
          </a:prstGeom>
          <a:noFill/>
          <a:ln/>
        </p:spPr>
        <p:txBody>
          <a:bodyPr wrap="square" lIns="0" tIns="0" rIns="0" bIns="0" rtlCol="0" anchor="ctr">
            <a:normAutofit/>
          </a:bodyPr>
          <a:lstStyle/>
          <a:p>
            <a:pPr algn="ctr" indent="0" marL="0">
              <a:buNone/>
            </a:pPr>
            <a:r>
              <a:rPr lang="en-US" sz="970" dirty="0">
                <a:solidFill>
                  <a:srgbClr val="9A97A3"/>
                </a:solidFill>
                <a:latin typeface="Arial" pitchFamily="34" charset="0"/>
                <a:ea typeface="Arial" pitchFamily="34" charset="-122"/>
                <a:cs typeface="Arial" pitchFamily="34" charset="-120"/>
              </a:rPr>
              <a:t>Journeys • vendors • identity • compliance • KPIs • IP • acceptance</a:t>
            </a:r>
            <a:endParaRPr lang="en-US" sz="970" dirty="0"/>
          </a:p>
        </p:txBody>
      </p:sp>
      <p:sp>
        <p:nvSpPr>
          <p:cNvPr id="14" name="Shape 12"/>
          <p:cNvSpPr/>
          <p:nvPr/>
        </p:nvSpPr>
        <p:spPr>
          <a:xfrm>
            <a:off x="2743200" y="3246120"/>
            <a:ext cx="146304" cy="219456"/>
          </a:xfrm>
          <a:prstGeom prst="chevron">
            <a:avLst/>
          </a:prstGeom>
          <a:solidFill>
            <a:srgbClr val="34323E"/>
          </a:solidFill>
          <a:ln w="12700">
            <a:solidFill>
              <a:srgbClr val="34323E"/>
            </a:solidFill>
            <a:prstDash val="solid"/>
          </a:ln>
        </p:spPr>
      </p:sp>
      <p:sp>
        <p:nvSpPr>
          <p:cNvPr id="15" name="Shape 13"/>
          <p:cNvSpPr/>
          <p:nvPr/>
        </p:nvSpPr>
        <p:spPr>
          <a:xfrm>
            <a:off x="2971800" y="1920240"/>
            <a:ext cx="1975104" cy="2880360"/>
          </a:xfrm>
          <a:prstGeom prst="roundRect">
            <a:avLst/>
          </a:prstGeom>
          <a:solidFill>
            <a:srgbClr val="20303D"/>
          </a:solidFill>
          <a:ln w="15240">
            <a:solidFill>
              <a:srgbClr val="6FB3E8"/>
            </a:solidFill>
            <a:prstDash val="solid"/>
          </a:ln>
        </p:spPr>
      </p:sp>
      <p:sp>
        <p:nvSpPr>
          <p:cNvPr id="16" name="Text 14"/>
          <p:cNvSpPr txBox="1"/>
          <p:nvPr/>
        </p:nvSpPr>
        <p:spPr>
          <a:xfrm>
            <a:off x="3136392" y="2112264"/>
            <a:ext cx="347472" cy="182880"/>
          </a:xfrm>
          <a:prstGeom prst="rect">
            <a:avLst/>
          </a:prstGeom>
          <a:noFill/>
          <a:ln/>
        </p:spPr>
        <p:txBody>
          <a:bodyPr wrap="square" lIns="0" tIns="0" rIns="0" bIns="0" rtlCol="0" anchor="t">
            <a:normAutofit/>
          </a:bodyPr>
          <a:lstStyle/>
          <a:p>
            <a:pPr algn="l" indent="0" marL="0">
              <a:buNone/>
            </a:pPr>
            <a:r>
              <a:rPr lang="en-US" sz="800" b="1" dirty="0">
                <a:solidFill>
                  <a:srgbClr val="6FB3E8"/>
                </a:solidFill>
                <a:latin typeface="Courier New" pitchFamily="34" charset="0"/>
                <a:ea typeface="Courier New" pitchFamily="34" charset="-122"/>
                <a:cs typeface="Courier New" pitchFamily="34" charset="-120"/>
              </a:rPr>
              <a:t>02</a:t>
            </a:r>
            <a:endParaRPr lang="en-US" sz="800" dirty="0"/>
          </a:p>
        </p:txBody>
      </p:sp>
      <p:sp>
        <p:nvSpPr>
          <p:cNvPr id="17" name="Text 15"/>
          <p:cNvSpPr txBox="1"/>
          <p:nvPr/>
        </p:nvSpPr>
        <p:spPr>
          <a:xfrm>
            <a:off x="3136392" y="2542032"/>
            <a:ext cx="1645920" cy="438912"/>
          </a:xfrm>
          <a:prstGeom prst="rect">
            <a:avLst/>
          </a:prstGeom>
          <a:noFill/>
          <a:ln/>
        </p:spPr>
        <p:txBody>
          <a:bodyPr wrap="square" lIns="0" tIns="0" rIns="0" bIns="0" rtlCol="0" anchor="ctr">
            <a:normAutofit/>
          </a:bodyPr>
          <a:lstStyle/>
          <a:p>
            <a:pPr algn="ctr" indent="0" marL="0">
              <a:buNone/>
            </a:pPr>
            <a:r>
              <a:rPr lang="en-US" sz="1100" b="1" spc="70" kern="0" dirty="0">
                <a:solidFill>
                  <a:srgbClr val="6FB3E8"/>
                </a:solidFill>
                <a:latin typeface="Courier New" pitchFamily="34" charset="0"/>
                <a:ea typeface="Courier New" pitchFamily="34" charset="-122"/>
                <a:cs typeface="Courier New" pitchFamily="34" charset="-120"/>
              </a:rPr>
              <a:t>PLATFORM SPINE</a:t>
            </a:r>
            <a:endParaRPr lang="en-US" sz="1100" dirty="0"/>
          </a:p>
        </p:txBody>
      </p:sp>
      <p:sp>
        <p:nvSpPr>
          <p:cNvPr id="18" name="Text 16"/>
          <p:cNvSpPr txBox="1"/>
          <p:nvPr/>
        </p:nvSpPr>
        <p:spPr>
          <a:xfrm>
            <a:off x="3136392" y="3200400"/>
            <a:ext cx="1645920" cy="292608"/>
          </a:xfrm>
          <a:prstGeom prst="rect">
            <a:avLst/>
          </a:prstGeom>
          <a:noFill/>
          <a:ln/>
        </p:spPr>
        <p:txBody>
          <a:bodyPr wrap="square" lIns="0" tIns="0" rIns="0" bIns="0" rtlCol="0" anchor="t">
            <a:normAutofit/>
          </a:bodyPr>
          <a:lstStyle/>
          <a:p>
            <a:pPr algn="ctr" indent="0" marL="0">
              <a:buNone/>
            </a:pPr>
            <a:r>
              <a:rPr lang="en-US" sz="1600" b="1" dirty="0">
                <a:solidFill>
                  <a:srgbClr val="E8E6E0"/>
                </a:solidFill>
                <a:latin typeface="Arial" pitchFamily="34" charset="0"/>
                <a:ea typeface="Arial" pitchFamily="34" charset="-122"/>
                <a:cs typeface="Arial" pitchFamily="34" charset="-120"/>
              </a:rPr>
              <a:t>6–8 weeks</a:t>
            </a:r>
            <a:endParaRPr lang="en-US" sz="1600" dirty="0"/>
          </a:p>
        </p:txBody>
      </p:sp>
      <p:sp>
        <p:nvSpPr>
          <p:cNvPr id="19" name="Shape 17"/>
          <p:cNvSpPr/>
          <p:nvPr/>
        </p:nvSpPr>
        <p:spPr>
          <a:xfrm>
            <a:off x="3264408" y="3685032"/>
            <a:ext cx="1389888" cy="0"/>
          </a:xfrm>
          <a:prstGeom prst="line">
            <a:avLst/>
          </a:prstGeom>
          <a:noFill/>
          <a:ln w="10160">
            <a:solidFill>
              <a:srgbClr val="34323E"/>
            </a:solidFill>
            <a:prstDash val="solid"/>
          </a:ln>
        </p:spPr>
      </p:sp>
      <p:sp>
        <p:nvSpPr>
          <p:cNvPr id="20" name="Text 18"/>
          <p:cNvSpPr txBox="1"/>
          <p:nvPr/>
        </p:nvSpPr>
        <p:spPr>
          <a:xfrm>
            <a:off x="3154680" y="3867912"/>
            <a:ext cx="1609344" cy="658368"/>
          </a:xfrm>
          <a:prstGeom prst="rect">
            <a:avLst/>
          </a:prstGeom>
          <a:noFill/>
          <a:ln/>
        </p:spPr>
        <p:txBody>
          <a:bodyPr wrap="square" lIns="0" tIns="0" rIns="0" bIns="0" rtlCol="0" anchor="ctr">
            <a:normAutofit/>
          </a:bodyPr>
          <a:lstStyle/>
          <a:p>
            <a:pPr algn="ctr" indent="0" marL="0">
              <a:buNone/>
            </a:pPr>
            <a:r>
              <a:rPr lang="en-US" sz="970" dirty="0">
                <a:solidFill>
                  <a:srgbClr val="9A97A3"/>
                </a:solidFill>
                <a:latin typeface="Arial" pitchFamily="34" charset="0"/>
                <a:ea typeface="Arial" pitchFamily="34" charset="-122"/>
                <a:cs typeface="Arial" pitchFamily="34" charset="-120"/>
              </a:rPr>
              <a:t>Auth • canonical events • conversation store • knowledge • audit • shadow mode</a:t>
            </a:r>
            <a:endParaRPr lang="en-US" sz="970" dirty="0"/>
          </a:p>
        </p:txBody>
      </p:sp>
      <p:sp>
        <p:nvSpPr>
          <p:cNvPr id="21" name="Shape 19"/>
          <p:cNvSpPr/>
          <p:nvPr/>
        </p:nvSpPr>
        <p:spPr>
          <a:xfrm>
            <a:off x="5010912" y="3246120"/>
            <a:ext cx="146304" cy="219456"/>
          </a:xfrm>
          <a:prstGeom prst="chevron">
            <a:avLst/>
          </a:prstGeom>
          <a:solidFill>
            <a:srgbClr val="34323E"/>
          </a:solidFill>
          <a:ln w="12700">
            <a:solidFill>
              <a:srgbClr val="34323E"/>
            </a:solidFill>
            <a:prstDash val="solid"/>
          </a:ln>
        </p:spPr>
      </p:sp>
      <p:sp>
        <p:nvSpPr>
          <p:cNvPr id="22" name="Shape 20"/>
          <p:cNvSpPr/>
          <p:nvPr/>
        </p:nvSpPr>
        <p:spPr>
          <a:xfrm>
            <a:off x="5239512" y="1920240"/>
            <a:ext cx="1975104" cy="2880360"/>
          </a:xfrm>
          <a:prstGeom prst="roundRect">
            <a:avLst/>
          </a:prstGeom>
          <a:solidFill>
            <a:srgbClr val="20303D"/>
          </a:solidFill>
          <a:ln w="15240">
            <a:solidFill>
              <a:srgbClr val="6FB3E8"/>
            </a:solidFill>
            <a:prstDash val="solid"/>
          </a:ln>
        </p:spPr>
      </p:sp>
      <p:sp>
        <p:nvSpPr>
          <p:cNvPr id="23" name="Text 21"/>
          <p:cNvSpPr txBox="1"/>
          <p:nvPr/>
        </p:nvSpPr>
        <p:spPr>
          <a:xfrm>
            <a:off x="5404104" y="2112264"/>
            <a:ext cx="347472" cy="182880"/>
          </a:xfrm>
          <a:prstGeom prst="rect">
            <a:avLst/>
          </a:prstGeom>
          <a:noFill/>
          <a:ln/>
        </p:spPr>
        <p:txBody>
          <a:bodyPr wrap="square" lIns="0" tIns="0" rIns="0" bIns="0" rtlCol="0" anchor="t">
            <a:normAutofit/>
          </a:bodyPr>
          <a:lstStyle/>
          <a:p>
            <a:pPr algn="l" indent="0" marL="0">
              <a:buNone/>
            </a:pPr>
            <a:r>
              <a:rPr lang="en-US" sz="800" b="1" dirty="0">
                <a:solidFill>
                  <a:srgbClr val="6FB3E8"/>
                </a:solidFill>
                <a:latin typeface="Courier New" pitchFamily="34" charset="0"/>
                <a:ea typeface="Courier New" pitchFamily="34" charset="-122"/>
                <a:cs typeface="Courier New" pitchFamily="34" charset="-120"/>
              </a:rPr>
              <a:t>03</a:t>
            </a:r>
            <a:endParaRPr lang="en-US" sz="800" dirty="0"/>
          </a:p>
        </p:txBody>
      </p:sp>
      <p:sp>
        <p:nvSpPr>
          <p:cNvPr id="24" name="Text 22"/>
          <p:cNvSpPr txBox="1"/>
          <p:nvPr/>
        </p:nvSpPr>
        <p:spPr>
          <a:xfrm>
            <a:off x="5404104" y="2542032"/>
            <a:ext cx="1645920" cy="438912"/>
          </a:xfrm>
          <a:prstGeom prst="rect">
            <a:avLst/>
          </a:prstGeom>
          <a:noFill/>
          <a:ln/>
        </p:spPr>
        <p:txBody>
          <a:bodyPr wrap="square" lIns="0" tIns="0" rIns="0" bIns="0" rtlCol="0" anchor="ctr">
            <a:normAutofit/>
          </a:bodyPr>
          <a:lstStyle/>
          <a:p>
            <a:pPr algn="ctr" indent="0" marL="0">
              <a:buNone/>
            </a:pPr>
            <a:r>
              <a:rPr lang="en-US" sz="1100" b="1" spc="70" kern="0" dirty="0">
                <a:solidFill>
                  <a:srgbClr val="6FB3E8"/>
                </a:solidFill>
                <a:latin typeface="Courier New" pitchFamily="34" charset="0"/>
                <a:ea typeface="Courier New" pitchFamily="34" charset="-122"/>
                <a:cs typeface="Courier New" pitchFamily="34" charset="-120"/>
              </a:rPr>
              <a:t>END-TO-END MVP</a:t>
            </a:r>
            <a:endParaRPr lang="en-US" sz="1100" dirty="0"/>
          </a:p>
        </p:txBody>
      </p:sp>
      <p:sp>
        <p:nvSpPr>
          <p:cNvPr id="25" name="Text 23"/>
          <p:cNvSpPr txBox="1"/>
          <p:nvPr/>
        </p:nvSpPr>
        <p:spPr>
          <a:xfrm>
            <a:off x="5404104" y="3200400"/>
            <a:ext cx="1645920" cy="292608"/>
          </a:xfrm>
          <a:prstGeom prst="rect">
            <a:avLst/>
          </a:prstGeom>
          <a:noFill/>
          <a:ln/>
        </p:spPr>
        <p:txBody>
          <a:bodyPr wrap="square" lIns="0" tIns="0" rIns="0" bIns="0" rtlCol="0" anchor="t">
            <a:normAutofit/>
          </a:bodyPr>
          <a:lstStyle/>
          <a:p>
            <a:pPr algn="ctr" indent="0" marL="0">
              <a:buNone/>
            </a:pPr>
            <a:r>
              <a:rPr lang="en-US" sz="1600" b="1" dirty="0">
                <a:solidFill>
                  <a:srgbClr val="E8E6E0"/>
                </a:solidFill>
                <a:latin typeface="Arial" pitchFamily="34" charset="0"/>
                <a:ea typeface="Arial" pitchFamily="34" charset="-122"/>
                <a:cs typeface="Arial" pitchFamily="34" charset="-120"/>
              </a:rPr>
              <a:t>8–12 weeks</a:t>
            </a:r>
            <a:endParaRPr lang="en-US" sz="1600" dirty="0"/>
          </a:p>
        </p:txBody>
      </p:sp>
      <p:sp>
        <p:nvSpPr>
          <p:cNvPr id="26" name="Shape 24"/>
          <p:cNvSpPr/>
          <p:nvPr/>
        </p:nvSpPr>
        <p:spPr>
          <a:xfrm>
            <a:off x="5532120" y="3685032"/>
            <a:ext cx="1389888" cy="0"/>
          </a:xfrm>
          <a:prstGeom prst="line">
            <a:avLst/>
          </a:prstGeom>
          <a:noFill/>
          <a:ln w="10160">
            <a:solidFill>
              <a:srgbClr val="34323E"/>
            </a:solidFill>
            <a:prstDash val="solid"/>
          </a:ln>
        </p:spPr>
      </p:sp>
      <p:sp>
        <p:nvSpPr>
          <p:cNvPr id="27" name="Text 25"/>
          <p:cNvSpPr txBox="1"/>
          <p:nvPr/>
        </p:nvSpPr>
        <p:spPr>
          <a:xfrm>
            <a:off x="5422392" y="3867912"/>
            <a:ext cx="1609344" cy="658368"/>
          </a:xfrm>
          <a:prstGeom prst="rect">
            <a:avLst/>
          </a:prstGeom>
          <a:noFill/>
          <a:ln/>
        </p:spPr>
        <p:txBody>
          <a:bodyPr wrap="square" lIns="0" tIns="0" rIns="0" bIns="0" rtlCol="0" anchor="ctr">
            <a:normAutofit/>
          </a:bodyPr>
          <a:lstStyle/>
          <a:p>
            <a:pPr algn="ctr" indent="0" marL="0">
              <a:buNone/>
            </a:pPr>
            <a:r>
              <a:rPr lang="en-US" sz="970" dirty="0">
                <a:solidFill>
                  <a:srgbClr val="9A97A3"/>
                </a:solidFill>
                <a:latin typeface="Arial" pitchFamily="34" charset="0"/>
                <a:ea typeface="Arial" pitchFamily="34" charset="-122"/>
                <a:cs typeface="Arial" pitchFamily="34" charset="-120"/>
              </a:rPr>
              <a:t>Web + voice + SMS • continuity • qualification • CRM + calendar • handoff</a:t>
            </a:r>
            <a:endParaRPr lang="en-US" sz="970" dirty="0"/>
          </a:p>
        </p:txBody>
      </p:sp>
      <p:sp>
        <p:nvSpPr>
          <p:cNvPr id="28" name="Shape 26"/>
          <p:cNvSpPr/>
          <p:nvPr/>
        </p:nvSpPr>
        <p:spPr>
          <a:xfrm>
            <a:off x="7278624" y="3246120"/>
            <a:ext cx="146304" cy="219456"/>
          </a:xfrm>
          <a:prstGeom prst="chevron">
            <a:avLst/>
          </a:prstGeom>
          <a:solidFill>
            <a:srgbClr val="34323E"/>
          </a:solidFill>
          <a:ln w="12700">
            <a:solidFill>
              <a:srgbClr val="34323E"/>
            </a:solidFill>
            <a:prstDash val="solid"/>
          </a:ln>
        </p:spPr>
      </p:sp>
      <p:sp>
        <p:nvSpPr>
          <p:cNvPr id="29" name="Shape 27"/>
          <p:cNvSpPr/>
          <p:nvPr/>
        </p:nvSpPr>
        <p:spPr>
          <a:xfrm>
            <a:off x="7507224" y="1920240"/>
            <a:ext cx="1975104" cy="2880360"/>
          </a:xfrm>
          <a:prstGeom prst="roundRect">
            <a:avLst/>
          </a:prstGeom>
          <a:solidFill>
            <a:srgbClr val="20382F"/>
          </a:solidFill>
          <a:ln w="10160">
            <a:solidFill>
              <a:srgbClr val="7CC7A5"/>
            </a:solidFill>
            <a:prstDash val="solid"/>
          </a:ln>
        </p:spPr>
      </p:sp>
      <p:sp>
        <p:nvSpPr>
          <p:cNvPr id="30" name="Text 28"/>
          <p:cNvSpPr txBox="1"/>
          <p:nvPr/>
        </p:nvSpPr>
        <p:spPr>
          <a:xfrm>
            <a:off x="7671816" y="2112264"/>
            <a:ext cx="347472" cy="182880"/>
          </a:xfrm>
          <a:prstGeom prst="rect">
            <a:avLst/>
          </a:prstGeom>
          <a:noFill/>
          <a:ln/>
        </p:spPr>
        <p:txBody>
          <a:bodyPr wrap="square" lIns="0" tIns="0" rIns="0" bIns="0" rtlCol="0" anchor="t">
            <a:normAutofit/>
          </a:bodyPr>
          <a:lstStyle/>
          <a:p>
            <a:pPr algn="l" indent="0" marL="0">
              <a:buNone/>
            </a:pPr>
            <a:r>
              <a:rPr lang="en-US" sz="800" b="1" dirty="0">
                <a:solidFill>
                  <a:srgbClr val="7CC7A5"/>
                </a:solidFill>
                <a:latin typeface="Courier New" pitchFamily="34" charset="0"/>
                <a:ea typeface="Courier New" pitchFamily="34" charset="-122"/>
                <a:cs typeface="Courier New" pitchFamily="34" charset="-120"/>
              </a:rPr>
              <a:t>04</a:t>
            </a:r>
            <a:endParaRPr lang="en-US" sz="800" dirty="0"/>
          </a:p>
        </p:txBody>
      </p:sp>
      <p:sp>
        <p:nvSpPr>
          <p:cNvPr id="31" name="Text 29"/>
          <p:cNvSpPr txBox="1"/>
          <p:nvPr/>
        </p:nvSpPr>
        <p:spPr>
          <a:xfrm>
            <a:off x="7671816" y="2542032"/>
            <a:ext cx="1645920" cy="438912"/>
          </a:xfrm>
          <a:prstGeom prst="rect">
            <a:avLst/>
          </a:prstGeom>
          <a:noFill/>
          <a:ln/>
        </p:spPr>
        <p:txBody>
          <a:bodyPr wrap="square" lIns="0" tIns="0" rIns="0" bIns="0" rtlCol="0" anchor="ctr">
            <a:normAutofit/>
          </a:bodyPr>
          <a:lstStyle/>
          <a:p>
            <a:pPr algn="ctr" indent="0" marL="0">
              <a:buNone/>
            </a:pPr>
            <a:r>
              <a:rPr lang="en-US" sz="1100" b="1" spc="70" kern="0" dirty="0">
                <a:solidFill>
                  <a:srgbClr val="7CC7A5"/>
                </a:solidFill>
                <a:latin typeface="Courier New" pitchFamily="34" charset="0"/>
                <a:ea typeface="Courier New" pitchFamily="34" charset="-122"/>
                <a:cs typeface="Courier New" pitchFamily="34" charset="-120"/>
              </a:rPr>
              <a:t>CONTROLLED PILOT</a:t>
            </a:r>
            <a:endParaRPr lang="en-US" sz="1100" dirty="0"/>
          </a:p>
        </p:txBody>
      </p:sp>
      <p:sp>
        <p:nvSpPr>
          <p:cNvPr id="32" name="Text 30"/>
          <p:cNvSpPr txBox="1"/>
          <p:nvPr/>
        </p:nvSpPr>
        <p:spPr>
          <a:xfrm>
            <a:off x="7671816" y="3200400"/>
            <a:ext cx="1645920" cy="292608"/>
          </a:xfrm>
          <a:prstGeom prst="rect">
            <a:avLst/>
          </a:prstGeom>
          <a:noFill/>
          <a:ln/>
        </p:spPr>
        <p:txBody>
          <a:bodyPr wrap="square" lIns="0" tIns="0" rIns="0" bIns="0" rtlCol="0" anchor="t">
            <a:normAutofit/>
          </a:bodyPr>
          <a:lstStyle/>
          <a:p>
            <a:pPr algn="ctr" indent="0" marL="0">
              <a:buNone/>
            </a:pPr>
            <a:r>
              <a:rPr lang="en-US" sz="1600" b="1" dirty="0">
                <a:solidFill>
                  <a:srgbClr val="E8E6E0"/>
                </a:solidFill>
                <a:latin typeface="Arial" pitchFamily="34" charset="0"/>
                <a:ea typeface="Arial" pitchFamily="34" charset="-122"/>
                <a:cs typeface="Arial" pitchFamily="34" charset="-120"/>
              </a:rPr>
              <a:t>6–8 weeks</a:t>
            </a:r>
            <a:endParaRPr lang="en-US" sz="1600" dirty="0"/>
          </a:p>
        </p:txBody>
      </p:sp>
      <p:sp>
        <p:nvSpPr>
          <p:cNvPr id="33" name="Shape 31"/>
          <p:cNvSpPr/>
          <p:nvPr/>
        </p:nvSpPr>
        <p:spPr>
          <a:xfrm>
            <a:off x="7799832" y="3685032"/>
            <a:ext cx="1389888" cy="0"/>
          </a:xfrm>
          <a:prstGeom prst="line">
            <a:avLst/>
          </a:prstGeom>
          <a:noFill/>
          <a:ln w="10160">
            <a:solidFill>
              <a:srgbClr val="34323E"/>
            </a:solidFill>
            <a:prstDash val="solid"/>
          </a:ln>
        </p:spPr>
      </p:sp>
      <p:sp>
        <p:nvSpPr>
          <p:cNvPr id="34" name="Text 32"/>
          <p:cNvSpPr txBox="1"/>
          <p:nvPr/>
        </p:nvSpPr>
        <p:spPr>
          <a:xfrm>
            <a:off x="7690104" y="3867912"/>
            <a:ext cx="1609344" cy="658368"/>
          </a:xfrm>
          <a:prstGeom prst="rect">
            <a:avLst/>
          </a:prstGeom>
          <a:noFill/>
          <a:ln/>
        </p:spPr>
        <p:txBody>
          <a:bodyPr wrap="square" lIns="0" tIns="0" rIns="0" bIns="0" rtlCol="0" anchor="ctr">
            <a:normAutofit/>
          </a:bodyPr>
          <a:lstStyle/>
          <a:p>
            <a:pPr algn="ctr" indent="0" marL="0">
              <a:buNone/>
            </a:pPr>
            <a:r>
              <a:rPr lang="en-US" sz="970" dirty="0">
                <a:solidFill>
                  <a:srgbClr val="9A97A3"/>
                </a:solidFill>
                <a:latin typeface="Arial" pitchFamily="34" charset="0"/>
                <a:ea typeface="Arial" pitchFamily="34" charset="-122"/>
                <a:cs typeface="Arial" pitchFamily="34" charset="-120"/>
              </a:rPr>
              <a:t>Limited traffic • security/load tests • monitoring • recovery • reconciliation</a:t>
            </a:r>
            <a:endParaRPr lang="en-US" sz="970" dirty="0"/>
          </a:p>
        </p:txBody>
      </p:sp>
      <p:sp>
        <p:nvSpPr>
          <p:cNvPr id="35" name="Shape 33"/>
          <p:cNvSpPr/>
          <p:nvPr/>
        </p:nvSpPr>
        <p:spPr>
          <a:xfrm>
            <a:off x="9546336" y="3246120"/>
            <a:ext cx="146304" cy="219456"/>
          </a:xfrm>
          <a:prstGeom prst="chevron">
            <a:avLst/>
          </a:prstGeom>
          <a:solidFill>
            <a:srgbClr val="34323E"/>
          </a:solidFill>
          <a:ln w="12700">
            <a:solidFill>
              <a:srgbClr val="34323E"/>
            </a:solidFill>
            <a:prstDash val="solid"/>
          </a:ln>
        </p:spPr>
      </p:sp>
      <p:sp>
        <p:nvSpPr>
          <p:cNvPr id="36" name="Shape 34"/>
          <p:cNvSpPr/>
          <p:nvPr/>
        </p:nvSpPr>
        <p:spPr>
          <a:xfrm>
            <a:off x="9774936" y="1920240"/>
            <a:ext cx="1975104" cy="2880360"/>
          </a:xfrm>
          <a:prstGeom prst="roundRect">
            <a:avLst/>
          </a:prstGeom>
          <a:solidFill>
            <a:srgbClr val="1E1E28"/>
          </a:solidFill>
          <a:ln w="10160">
            <a:solidFill>
              <a:srgbClr val="9A97A3"/>
            </a:solidFill>
            <a:prstDash val="solid"/>
          </a:ln>
        </p:spPr>
      </p:sp>
      <p:sp>
        <p:nvSpPr>
          <p:cNvPr id="37" name="Text 35"/>
          <p:cNvSpPr txBox="1"/>
          <p:nvPr/>
        </p:nvSpPr>
        <p:spPr>
          <a:xfrm>
            <a:off x="9939528" y="2112264"/>
            <a:ext cx="347472" cy="182880"/>
          </a:xfrm>
          <a:prstGeom prst="rect">
            <a:avLst/>
          </a:prstGeom>
          <a:noFill/>
          <a:ln/>
        </p:spPr>
        <p:txBody>
          <a:bodyPr wrap="square" lIns="0" tIns="0" rIns="0" bIns="0" rtlCol="0" anchor="t">
            <a:normAutofit/>
          </a:bodyPr>
          <a:lstStyle/>
          <a:p>
            <a:pPr algn="l" indent="0" marL="0">
              <a:buNone/>
            </a:pPr>
            <a:r>
              <a:rPr lang="en-US" sz="800" b="1" dirty="0">
                <a:solidFill>
                  <a:srgbClr val="9A97A3"/>
                </a:solidFill>
                <a:latin typeface="Courier New" pitchFamily="34" charset="0"/>
                <a:ea typeface="Courier New" pitchFamily="34" charset="-122"/>
                <a:cs typeface="Courier New" pitchFamily="34" charset="-120"/>
              </a:rPr>
              <a:t>05</a:t>
            </a:r>
            <a:endParaRPr lang="en-US" sz="800" dirty="0"/>
          </a:p>
        </p:txBody>
      </p:sp>
      <p:sp>
        <p:nvSpPr>
          <p:cNvPr id="38" name="Text 36"/>
          <p:cNvSpPr txBox="1"/>
          <p:nvPr/>
        </p:nvSpPr>
        <p:spPr>
          <a:xfrm>
            <a:off x="9939528" y="2542032"/>
            <a:ext cx="1645920" cy="438912"/>
          </a:xfrm>
          <a:prstGeom prst="rect">
            <a:avLst/>
          </a:prstGeom>
          <a:noFill/>
          <a:ln/>
        </p:spPr>
        <p:txBody>
          <a:bodyPr wrap="square" lIns="0" tIns="0" rIns="0" bIns="0" rtlCol="0" anchor="ctr">
            <a:normAutofit/>
          </a:bodyPr>
          <a:lstStyle/>
          <a:p>
            <a:pPr algn="ctr" indent="0" marL="0">
              <a:buNone/>
            </a:pPr>
            <a:r>
              <a:rPr lang="en-US" sz="1100" b="1" spc="70" kern="0" dirty="0">
                <a:solidFill>
                  <a:srgbClr val="9A97A3"/>
                </a:solidFill>
                <a:latin typeface="Courier New" pitchFamily="34" charset="0"/>
                <a:ea typeface="Courier New" pitchFamily="34" charset="-122"/>
                <a:cs typeface="Courier New" pitchFamily="34" charset="-120"/>
              </a:rPr>
              <a:t>EXPANSION WAVES</a:t>
            </a:r>
            <a:endParaRPr lang="en-US" sz="1100" dirty="0"/>
          </a:p>
        </p:txBody>
      </p:sp>
      <p:sp>
        <p:nvSpPr>
          <p:cNvPr id="39" name="Text 37"/>
          <p:cNvSpPr txBox="1"/>
          <p:nvPr/>
        </p:nvSpPr>
        <p:spPr>
          <a:xfrm>
            <a:off x="9939528" y="3200400"/>
            <a:ext cx="1645920" cy="292608"/>
          </a:xfrm>
          <a:prstGeom prst="rect">
            <a:avLst/>
          </a:prstGeom>
          <a:noFill/>
          <a:ln/>
        </p:spPr>
        <p:txBody>
          <a:bodyPr wrap="square" lIns="0" tIns="0" rIns="0" bIns="0" rtlCol="0" anchor="t">
            <a:normAutofit/>
          </a:bodyPr>
          <a:lstStyle/>
          <a:p>
            <a:pPr algn="ctr" indent="0" marL="0">
              <a:buNone/>
            </a:pPr>
            <a:r>
              <a:rPr lang="en-US" sz="1250" b="1" dirty="0">
                <a:solidFill>
                  <a:srgbClr val="E8E6E0"/>
                </a:solidFill>
                <a:latin typeface="Arial" pitchFamily="34" charset="0"/>
                <a:ea typeface="Arial" pitchFamily="34" charset="-122"/>
                <a:cs typeface="Arial" pitchFamily="34" charset="-120"/>
              </a:rPr>
              <a:t>8–12 weeks / wave</a:t>
            </a:r>
            <a:endParaRPr lang="en-US" sz="1250" dirty="0"/>
          </a:p>
        </p:txBody>
      </p:sp>
      <p:sp>
        <p:nvSpPr>
          <p:cNvPr id="40" name="Shape 38"/>
          <p:cNvSpPr/>
          <p:nvPr/>
        </p:nvSpPr>
        <p:spPr>
          <a:xfrm>
            <a:off x="10067544" y="3685032"/>
            <a:ext cx="1389888" cy="0"/>
          </a:xfrm>
          <a:prstGeom prst="line">
            <a:avLst/>
          </a:prstGeom>
          <a:noFill/>
          <a:ln w="10160">
            <a:solidFill>
              <a:srgbClr val="34323E"/>
            </a:solidFill>
            <a:prstDash val="solid"/>
          </a:ln>
        </p:spPr>
      </p:sp>
      <p:sp>
        <p:nvSpPr>
          <p:cNvPr id="41" name="Text 39"/>
          <p:cNvSpPr txBox="1"/>
          <p:nvPr/>
        </p:nvSpPr>
        <p:spPr>
          <a:xfrm>
            <a:off x="9957816" y="3867912"/>
            <a:ext cx="1609344" cy="658368"/>
          </a:xfrm>
          <a:prstGeom prst="rect">
            <a:avLst/>
          </a:prstGeom>
          <a:noFill/>
          <a:ln/>
        </p:spPr>
        <p:txBody>
          <a:bodyPr wrap="square" lIns="0" tIns="0" rIns="0" bIns="0" rtlCol="0" anchor="ctr">
            <a:normAutofit/>
          </a:bodyPr>
          <a:lstStyle/>
          <a:p>
            <a:pPr algn="ctr" indent="0" marL="0">
              <a:buNone/>
            </a:pPr>
            <a:r>
              <a:rPr lang="en-US" sz="970" dirty="0">
                <a:solidFill>
                  <a:srgbClr val="9A97A3"/>
                </a:solidFill>
                <a:latin typeface="Arial" pitchFamily="34" charset="0"/>
                <a:ea typeface="Arial" pitchFamily="34" charset="-122"/>
                <a:cs typeface="Arial" pitchFamily="34" charset="-120"/>
              </a:rPr>
              <a:t>Outbound • email/social • more connectors • campaigns • optimization • BI</a:t>
            </a:r>
            <a:endParaRPr lang="en-US" sz="970" dirty="0"/>
          </a:p>
        </p:txBody>
      </p:sp>
      <p:sp>
        <p:nvSpPr>
          <p:cNvPr id="42" name="Shape 40"/>
          <p:cNvSpPr/>
          <p:nvPr/>
        </p:nvSpPr>
        <p:spPr>
          <a:xfrm>
            <a:off x="749808" y="5230368"/>
            <a:ext cx="6473952" cy="0"/>
          </a:xfrm>
          <a:prstGeom prst="line">
            <a:avLst/>
          </a:prstGeom>
          <a:noFill/>
          <a:ln w="25400">
            <a:solidFill>
              <a:srgbClr val="6FB3E8"/>
            </a:solidFill>
            <a:prstDash val="solid"/>
          </a:ln>
        </p:spPr>
      </p:sp>
      <p:sp>
        <p:nvSpPr>
          <p:cNvPr id="43" name="Shape 41"/>
          <p:cNvSpPr/>
          <p:nvPr/>
        </p:nvSpPr>
        <p:spPr>
          <a:xfrm>
            <a:off x="749808" y="5138928"/>
            <a:ext cx="0" cy="182880"/>
          </a:xfrm>
          <a:prstGeom prst="line">
            <a:avLst/>
          </a:prstGeom>
          <a:noFill/>
          <a:ln w="25400">
            <a:solidFill>
              <a:srgbClr val="6FB3E8"/>
            </a:solidFill>
            <a:prstDash val="solid"/>
          </a:ln>
        </p:spPr>
      </p:sp>
      <p:sp>
        <p:nvSpPr>
          <p:cNvPr id="44" name="Shape 42"/>
          <p:cNvSpPr/>
          <p:nvPr/>
        </p:nvSpPr>
        <p:spPr>
          <a:xfrm>
            <a:off x="7223760" y="5138928"/>
            <a:ext cx="0" cy="182880"/>
          </a:xfrm>
          <a:prstGeom prst="line">
            <a:avLst/>
          </a:prstGeom>
          <a:noFill/>
          <a:ln w="25400">
            <a:solidFill>
              <a:srgbClr val="6FB3E8"/>
            </a:solidFill>
            <a:prstDash val="solid"/>
          </a:ln>
        </p:spPr>
      </p:sp>
      <p:sp>
        <p:nvSpPr>
          <p:cNvPr id="45" name="Shape 43"/>
          <p:cNvSpPr/>
          <p:nvPr/>
        </p:nvSpPr>
        <p:spPr>
          <a:xfrm>
            <a:off x="2395728" y="5010912"/>
            <a:ext cx="3182112" cy="438912"/>
          </a:xfrm>
          <a:prstGeom prst="roundRect">
            <a:avLst/>
          </a:prstGeom>
          <a:solidFill>
            <a:srgbClr val="20303D"/>
          </a:solidFill>
          <a:ln w="12700">
            <a:solidFill>
              <a:srgbClr val="6FB3E8"/>
            </a:solidFill>
            <a:prstDash val="solid"/>
          </a:ln>
        </p:spPr>
      </p:sp>
      <p:sp>
        <p:nvSpPr>
          <p:cNvPr id="46" name="Text 44"/>
          <p:cNvSpPr txBox="1"/>
          <p:nvPr/>
        </p:nvSpPr>
        <p:spPr>
          <a:xfrm>
            <a:off x="2596896" y="5148072"/>
            <a:ext cx="2779776" cy="164592"/>
          </a:xfrm>
          <a:prstGeom prst="rect">
            <a:avLst/>
          </a:prstGeom>
          <a:noFill/>
          <a:ln/>
        </p:spPr>
        <p:txBody>
          <a:bodyPr wrap="square" lIns="0" tIns="0" rIns="0" bIns="0" rtlCol="0" anchor="t">
            <a:normAutofit/>
          </a:bodyPr>
          <a:lstStyle/>
          <a:p>
            <a:pPr algn="ctr" indent="0" marL="0">
              <a:buNone/>
            </a:pPr>
            <a:r>
              <a:rPr lang="en-US" sz="940" b="1" spc="80" kern="0" dirty="0">
                <a:solidFill>
                  <a:srgbClr val="6FB3E8"/>
                </a:solidFill>
                <a:latin typeface="Courier New" pitchFamily="34" charset="0"/>
                <a:ea typeface="Courier New" pitchFamily="34" charset="-122"/>
                <a:cs typeface="Courier New" pitchFamily="34" charset="-120"/>
              </a:rPr>
              <a:t>CUSTOMER-FACING MVP: 17–24 WEEKS</a:t>
            </a:r>
            <a:endParaRPr lang="en-US" sz="940" dirty="0"/>
          </a:p>
        </p:txBody>
      </p:sp>
      <p:sp>
        <p:nvSpPr>
          <p:cNvPr id="47" name="Shape 45"/>
          <p:cNvSpPr/>
          <p:nvPr/>
        </p:nvSpPr>
        <p:spPr>
          <a:xfrm>
            <a:off x="7635240" y="5010912"/>
            <a:ext cx="3630168" cy="658368"/>
          </a:xfrm>
          <a:prstGeom prst="roundRect">
            <a:avLst/>
          </a:prstGeom>
          <a:solidFill>
            <a:srgbClr val="100F14"/>
          </a:solidFill>
          <a:ln w="10160">
            <a:solidFill>
              <a:srgbClr val="34323E"/>
            </a:solidFill>
            <a:prstDash val="solid"/>
          </a:ln>
        </p:spPr>
      </p:sp>
      <p:sp>
        <p:nvSpPr>
          <p:cNvPr id="48" name="Text 46"/>
          <p:cNvSpPr txBox="1"/>
          <p:nvPr/>
        </p:nvSpPr>
        <p:spPr>
          <a:xfrm>
            <a:off x="7900416" y="5102352"/>
            <a:ext cx="3099816" cy="457200"/>
          </a:xfrm>
          <a:prstGeom prst="rect">
            <a:avLst/>
          </a:prstGeom>
          <a:noFill/>
          <a:ln/>
        </p:spPr>
        <p:txBody>
          <a:bodyPr wrap="square" lIns="0" tIns="0" rIns="0" bIns="0" rtlCol="0" anchor="ctr">
            <a:normAutofit/>
          </a:bodyPr>
          <a:lstStyle/>
          <a:p>
            <a:pPr algn="ctr" indent="0" marL="0">
              <a:buNone/>
            </a:pPr>
            <a:r>
              <a:rPr lang="en-US" sz="950" b="1" dirty="0">
                <a:solidFill>
                  <a:srgbClr val="9A97A3"/>
                </a:solidFill>
                <a:latin typeface="Arial" pitchFamily="34" charset="0"/>
                <a:ea typeface="Arial" pitchFamily="34" charset="-122"/>
                <a:cs typeface="Arial" pitchFamily="34" charset="-120"/>
              </a:rPr>
              <a:t>Pilot hardening follows.</a:t>
            </a:r>
            <a:endParaRPr lang="en-US" sz="950" dirty="0"/>
          </a:p>
          <a:p>
            <a:pPr algn="ctr" indent="0" marL="0">
              <a:buNone/>
            </a:pPr>
            <a:r>
              <a:rPr lang="en-US" sz="950" b="1" dirty="0">
                <a:solidFill>
                  <a:srgbClr val="9A97A3"/>
                </a:solidFill>
                <a:latin typeface="Arial" pitchFamily="34" charset="0"/>
                <a:ea typeface="Arial" pitchFamily="34" charset="-122"/>
                <a:cs typeface="Arial" pitchFamily="34" charset="-120"/>
              </a:rPr>
              <a:t>This is a planning range, not a fixed commercial commitment.</a:t>
            </a:r>
            <a:endParaRPr lang="en-US" sz="950" dirty="0"/>
          </a:p>
        </p:txBody>
      </p:sp>
      <p:sp>
        <p:nvSpPr>
          <p:cNvPr id="25" name="Slide Number Placeholder 0"/>
          <p:cNvSpPr>
            <a:spLocks noGrp="1"/>
          </p:cNvSpPr>
          <p:nvPr>
            <p:ph type="sldNum" sz="quarter" idx="4294967295"/>
          </p:nvPr>
        </p:nvSpPr>
        <p:spPr>
          <a:xfrm>
            <a:off x="11109960" y="6483096"/>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9A97A3"/>
                </a:solidFill>
                <a:latin typeface="Courier New"/>
                <a:ea typeface="Courier New"/>
                <a:cs typeface="Courier New"/>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61D"/>
        </a:solidFill>
      </p:bgPr>
    </p:bg>
    <p:spTree>
      <p:nvGrpSpPr>
        <p:cNvPr id="1" name=""/>
        <p:cNvGrpSpPr/>
        <p:nvPr/>
      </p:nvGrpSpPr>
      <p:grpSpPr>
        <a:xfrm>
          <a:off x="0" y="0"/>
          <a:ext cx="0" cy="0"/>
          <a:chOff x="0" y="0"/>
          <a:chExt cx="0" cy="0"/>
        </a:xfrm>
      </p:grpSpPr>
      <p:sp>
        <p:nvSpPr>
          <p:cNvPr id="2" name="Text 0"/>
          <p:cNvSpPr txBox="1"/>
          <p:nvPr/>
        </p:nvSpPr>
        <p:spPr>
          <a:xfrm>
            <a:off x="713232" y="384048"/>
            <a:ext cx="5120640" cy="219456"/>
          </a:xfrm>
          <a:prstGeom prst="rect">
            <a:avLst/>
          </a:prstGeom>
          <a:noFill/>
          <a:ln/>
        </p:spPr>
        <p:txBody>
          <a:bodyPr wrap="square" lIns="0" tIns="0" rIns="0" bIns="0" rtlCol="0" anchor="t">
            <a:normAutofit/>
          </a:bodyPr>
          <a:lstStyle/>
          <a:p>
            <a:pPr algn="l" indent="0" marL="0">
              <a:buNone/>
            </a:pPr>
            <a:r>
              <a:rPr lang="en-US" sz="900" b="1" spc="210" kern="0" dirty="0">
                <a:solidFill>
                  <a:srgbClr val="9A97A3"/>
                </a:solidFill>
                <a:latin typeface="Courier New" pitchFamily="34" charset="0"/>
                <a:ea typeface="Courier New" pitchFamily="34" charset="-122"/>
                <a:cs typeface="Courier New" pitchFamily="34" charset="-120"/>
              </a:rPr>
              <a:t>AI MODEL STRATEGY</a:t>
            </a:r>
            <a:endParaRPr lang="en-US" sz="900" dirty="0"/>
          </a:p>
        </p:txBody>
      </p:sp>
      <p:sp>
        <p:nvSpPr>
          <p:cNvPr id="3" name="Text 1"/>
          <p:cNvSpPr txBox="1"/>
          <p:nvPr/>
        </p:nvSpPr>
        <p:spPr>
          <a:xfrm>
            <a:off x="10424160" y="347472"/>
            <a:ext cx="1051560" cy="228600"/>
          </a:xfrm>
          <a:prstGeom prst="rect">
            <a:avLst/>
          </a:prstGeom>
          <a:noFill/>
          <a:ln/>
        </p:spPr>
        <p:txBody>
          <a:bodyPr wrap="square" lIns="0" tIns="0" rIns="0" bIns="0" rtlCol="0" anchor="t">
            <a:normAutofit/>
          </a:bodyPr>
          <a:lstStyle/>
          <a:p>
            <a:pPr algn="r" indent="0" marL="0">
              <a:buNone/>
            </a:pPr>
            <a:r>
              <a:rPr lang="en-US" sz="1000" b="1" spc="240" kern="0" dirty="0">
                <a:solidFill>
                  <a:srgbClr val="E8E6E0"/>
                </a:solidFill>
                <a:latin typeface="Courier New" pitchFamily="34" charset="0"/>
                <a:ea typeface="Courier New" pitchFamily="34" charset="-122"/>
                <a:cs typeface="Courier New" pitchFamily="34" charset="-120"/>
              </a:rPr>
              <a:t>CYBIC</a:t>
            </a:r>
            <a:endParaRPr lang="en-US" sz="1000" dirty="0"/>
          </a:p>
        </p:txBody>
      </p:sp>
      <p:sp>
        <p:nvSpPr>
          <p:cNvPr id="4" name="Text 2"/>
          <p:cNvSpPr txBox="1"/>
          <p:nvPr/>
        </p:nvSpPr>
        <p:spPr>
          <a:xfrm>
            <a:off x="685800" y="713232"/>
            <a:ext cx="10744200" cy="566928"/>
          </a:xfrm>
          <a:prstGeom prst="rect">
            <a:avLst/>
          </a:prstGeom>
          <a:noFill/>
          <a:ln/>
        </p:spPr>
        <p:txBody>
          <a:bodyPr wrap="square" lIns="0" tIns="0" rIns="0" bIns="0" rtlCol="0" anchor="t">
            <a:normAutofit/>
          </a:bodyPr>
          <a:lstStyle/>
          <a:p>
            <a:pPr algn="l" indent="0" marL="0">
              <a:buNone/>
            </a:pPr>
            <a:r>
              <a:rPr lang="en-US" sz="2800" b="1" dirty="0">
                <a:solidFill>
                  <a:srgbClr val="7CC7A5"/>
                </a:solidFill>
                <a:latin typeface="Arial" pitchFamily="34" charset="0"/>
                <a:ea typeface="Arial" pitchFamily="34" charset="-122"/>
                <a:cs typeface="Arial" pitchFamily="34" charset="-120"/>
              </a:rPr>
              <a:t>AI can reason; policy decides</a:t>
            </a:r>
            <a:endParaRPr lang="en-US" sz="2800" dirty="0"/>
          </a:p>
        </p:txBody>
      </p:sp>
      <p:sp>
        <p:nvSpPr>
          <p:cNvPr id="5" name="Text 3"/>
          <p:cNvSpPr txBox="1"/>
          <p:nvPr/>
        </p:nvSpPr>
        <p:spPr>
          <a:xfrm>
            <a:off x="713232" y="1298448"/>
            <a:ext cx="10607040" cy="411480"/>
          </a:xfrm>
          <a:prstGeom prst="rect">
            <a:avLst/>
          </a:prstGeom>
          <a:noFill/>
          <a:ln/>
        </p:spPr>
        <p:txBody>
          <a:bodyPr wrap="square" lIns="0" tIns="0" rIns="0" bIns="0" rtlCol="0" anchor="t">
            <a:normAutofit/>
          </a:bodyPr>
          <a:lstStyle/>
          <a:p>
            <a:pPr algn="l" indent="0" marL="0">
              <a:buNone/>
            </a:pPr>
            <a:r>
              <a:rPr lang="en-US" sz="1350" dirty="0">
                <a:solidFill>
                  <a:srgbClr val="9A97A3"/>
                </a:solidFill>
                <a:latin typeface="Arial" pitchFamily="34" charset="0"/>
                <a:ea typeface="Arial" pitchFamily="34" charset="-122"/>
                <a:cs typeface="Arial" pitchFamily="34" charset="-120"/>
              </a:rPr>
              <a:t>Use task-specific models and governed tools rather than one unrestricted model.</a:t>
            </a:r>
            <a:endParaRPr lang="en-US" sz="1350" dirty="0"/>
          </a:p>
        </p:txBody>
      </p:sp>
      <p:sp>
        <p:nvSpPr>
          <p:cNvPr id="6" name="Shape 4"/>
          <p:cNvSpPr/>
          <p:nvPr/>
        </p:nvSpPr>
        <p:spPr>
          <a:xfrm>
            <a:off x="658368" y="6428232"/>
            <a:ext cx="10863072" cy="0"/>
          </a:xfrm>
          <a:prstGeom prst="line">
            <a:avLst/>
          </a:prstGeom>
          <a:noFill/>
          <a:ln w="8890">
            <a:solidFill>
              <a:srgbClr val="34323E"/>
            </a:solidFill>
            <a:prstDash val="solid"/>
          </a:ln>
        </p:spPr>
      </p:sp>
      <p:sp>
        <p:nvSpPr>
          <p:cNvPr id="7" name="Text 5"/>
          <p:cNvSpPr txBox="1"/>
          <p:nvPr/>
        </p:nvSpPr>
        <p:spPr>
          <a:xfrm>
            <a:off x="685800" y="6473952"/>
            <a:ext cx="2926080" cy="146304"/>
          </a:xfrm>
          <a:prstGeom prst="rect">
            <a:avLst/>
          </a:prstGeom>
          <a:noFill/>
          <a:ln/>
        </p:spPr>
        <p:txBody>
          <a:bodyPr wrap="square" lIns="0" tIns="0" rIns="0" bIns="0" rtlCol="0" anchor="t">
            <a:normAutofit/>
          </a:bodyPr>
          <a:lstStyle/>
          <a:p>
            <a:pPr algn="l" indent="0" marL="0">
              <a:buNone/>
            </a:pPr>
            <a:r>
              <a:rPr lang="en-US" sz="750" spc="120" kern="0" dirty="0">
                <a:solidFill>
                  <a:srgbClr val="9A97A3"/>
                </a:solidFill>
                <a:latin typeface="Courier New" pitchFamily="34" charset="0"/>
                <a:ea typeface="Courier New" pitchFamily="34" charset="-122"/>
                <a:cs typeface="Courier New" pitchFamily="34" charset="-120"/>
              </a:rPr>
              <a:t>CYBIC  •  CONFIDENTIAL</a:t>
            </a:r>
            <a:endParaRPr lang="en-US" sz="750" dirty="0"/>
          </a:p>
        </p:txBody>
      </p:sp>
      <p:sp>
        <p:nvSpPr>
          <p:cNvPr id="8" name="Shape 6"/>
          <p:cNvSpPr/>
          <p:nvPr/>
        </p:nvSpPr>
        <p:spPr>
          <a:xfrm>
            <a:off x="713232" y="1755648"/>
            <a:ext cx="3657600" cy="4160520"/>
          </a:xfrm>
          <a:prstGeom prst="roundRect">
            <a:avLst/>
          </a:prstGeom>
          <a:solidFill>
            <a:srgbClr val="20382F"/>
          </a:solidFill>
          <a:ln w="13970">
            <a:solidFill>
              <a:srgbClr val="7CC7A5"/>
            </a:solidFill>
            <a:prstDash val="solid"/>
          </a:ln>
        </p:spPr>
      </p:sp>
      <p:sp>
        <p:nvSpPr>
          <p:cNvPr id="9" name="Shape 7"/>
          <p:cNvSpPr/>
          <p:nvPr/>
        </p:nvSpPr>
        <p:spPr>
          <a:xfrm>
            <a:off x="960120" y="1975104"/>
            <a:ext cx="1389888" cy="310896"/>
          </a:xfrm>
          <a:prstGeom prst="roundRect">
            <a:avLst/>
          </a:prstGeom>
          <a:solidFill>
            <a:srgbClr val="20382F"/>
          </a:solidFill>
          <a:ln w="10160">
            <a:solidFill>
              <a:srgbClr val="7CC7A5"/>
            </a:solidFill>
            <a:prstDash val="solid"/>
          </a:ln>
        </p:spPr>
      </p:sp>
      <p:sp>
        <p:nvSpPr>
          <p:cNvPr id="10" name="Text 8"/>
          <p:cNvSpPr txBox="1"/>
          <p:nvPr/>
        </p:nvSpPr>
        <p:spPr>
          <a:xfrm>
            <a:off x="1005840" y="2011680"/>
            <a:ext cx="1298448" cy="246888"/>
          </a:xfrm>
          <a:prstGeom prst="rect">
            <a:avLst/>
          </a:prstGeom>
          <a:noFill/>
          <a:ln/>
        </p:spPr>
        <p:txBody>
          <a:bodyPr wrap="square" lIns="0" tIns="0" rIns="0" bIns="0" rtlCol="0" anchor="ctr">
            <a:normAutofit/>
          </a:bodyPr>
          <a:lstStyle/>
          <a:p>
            <a:pPr algn="ctr" indent="0" marL="0">
              <a:buNone/>
            </a:pPr>
            <a:r>
              <a:rPr lang="en-US" sz="850" b="1" spc="100" kern="0" dirty="0">
                <a:solidFill>
                  <a:srgbClr val="7CC7A5"/>
                </a:solidFill>
                <a:latin typeface="Courier New" pitchFamily="34" charset="0"/>
                <a:ea typeface="Courier New" pitchFamily="34" charset="-122"/>
                <a:cs typeface="Courier New" pitchFamily="34" charset="-120"/>
              </a:rPr>
              <a:t>AI INTELLIGENCE</a:t>
            </a:r>
            <a:endParaRPr lang="en-US" sz="850" dirty="0"/>
          </a:p>
        </p:txBody>
      </p:sp>
      <p:sp>
        <p:nvSpPr>
          <p:cNvPr id="11" name="Text 9"/>
          <p:cNvSpPr txBox="1"/>
          <p:nvPr/>
        </p:nvSpPr>
        <p:spPr>
          <a:xfrm>
            <a:off x="978408" y="2542032"/>
            <a:ext cx="3136392" cy="173736"/>
          </a:xfrm>
          <a:prstGeom prst="rect">
            <a:avLst/>
          </a:prstGeom>
          <a:noFill/>
          <a:ln/>
        </p:spPr>
        <p:txBody>
          <a:bodyPr wrap="square" lIns="0" tIns="0" rIns="0" bIns="0" rtlCol="0" anchor="t">
            <a:normAutofit/>
          </a:bodyPr>
          <a:lstStyle/>
          <a:p>
            <a:pPr algn="l" indent="0" marL="0">
              <a:buNone/>
            </a:pPr>
            <a:r>
              <a:rPr lang="en-US" sz="830" b="1" spc="70" kern="0" dirty="0">
                <a:solidFill>
                  <a:srgbClr val="7CC7A5"/>
                </a:solidFill>
                <a:latin typeface="Courier New" pitchFamily="34" charset="0"/>
                <a:ea typeface="Courier New" pitchFamily="34" charset="-122"/>
                <a:cs typeface="Courier New" pitchFamily="34" charset="-120"/>
              </a:rPr>
              <a:t>STREAMING STT / TTS</a:t>
            </a:r>
            <a:endParaRPr lang="en-US" sz="830" dirty="0"/>
          </a:p>
        </p:txBody>
      </p:sp>
      <p:sp>
        <p:nvSpPr>
          <p:cNvPr id="12" name="Text 10"/>
          <p:cNvSpPr txBox="1"/>
          <p:nvPr/>
        </p:nvSpPr>
        <p:spPr>
          <a:xfrm>
            <a:off x="978408" y="2779776"/>
            <a:ext cx="3136392" cy="329184"/>
          </a:xfrm>
          <a:prstGeom prst="rect">
            <a:avLst/>
          </a:prstGeom>
          <a:noFill/>
          <a:ln/>
        </p:spPr>
        <p:txBody>
          <a:bodyPr wrap="square" lIns="0" tIns="0" rIns="0" bIns="0" rtlCol="0" anchor="ctr">
            <a:normAutofit/>
          </a:bodyPr>
          <a:lstStyle/>
          <a:p>
            <a:pPr algn="l" indent="0" marL="0">
              <a:buNone/>
            </a:pPr>
            <a:r>
              <a:rPr lang="en-US" sz="1030" dirty="0">
                <a:solidFill>
                  <a:srgbClr val="E8E6E0"/>
                </a:solidFill>
                <a:latin typeface="Arial" pitchFamily="34" charset="0"/>
                <a:ea typeface="Arial" pitchFamily="34" charset="-122"/>
                <a:cs typeface="Arial" pitchFamily="34" charset="-120"/>
              </a:rPr>
              <a:t>quality • latency • interruption • privacy • cost</a:t>
            </a:r>
            <a:endParaRPr lang="en-US" sz="1030" dirty="0"/>
          </a:p>
        </p:txBody>
      </p:sp>
      <p:sp>
        <p:nvSpPr>
          <p:cNvPr id="13" name="Text 11"/>
          <p:cNvSpPr txBox="1"/>
          <p:nvPr/>
        </p:nvSpPr>
        <p:spPr>
          <a:xfrm>
            <a:off x="978408" y="3255264"/>
            <a:ext cx="3136392" cy="173736"/>
          </a:xfrm>
          <a:prstGeom prst="rect">
            <a:avLst/>
          </a:prstGeom>
          <a:noFill/>
          <a:ln/>
        </p:spPr>
        <p:txBody>
          <a:bodyPr wrap="square" lIns="0" tIns="0" rIns="0" bIns="0" rtlCol="0" anchor="t">
            <a:normAutofit/>
          </a:bodyPr>
          <a:lstStyle/>
          <a:p>
            <a:pPr algn="l" indent="0" marL="0">
              <a:buNone/>
            </a:pPr>
            <a:r>
              <a:rPr lang="en-US" sz="830" b="1" spc="70" kern="0" dirty="0">
                <a:solidFill>
                  <a:srgbClr val="7CC7A5"/>
                </a:solidFill>
                <a:latin typeface="Courier New" pitchFamily="34" charset="0"/>
                <a:ea typeface="Courier New" pitchFamily="34" charset="-122"/>
                <a:cs typeface="Courier New" pitchFamily="34" charset="-120"/>
              </a:rPr>
              <a:t>SMALL FAST MODELS</a:t>
            </a:r>
            <a:endParaRPr lang="en-US" sz="830" dirty="0"/>
          </a:p>
        </p:txBody>
      </p:sp>
      <p:sp>
        <p:nvSpPr>
          <p:cNvPr id="14" name="Text 12"/>
          <p:cNvSpPr txBox="1"/>
          <p:nvPr/>
        </p:nvSpPr>
        <p:spPr>
          <a:xfrm>
            <a:off x="978408" y="3493008"/>
            <a:ext cx="3136392" cy="329184"/>
          </a:xfrm>
          <a:prstGeom prst="rect">
            <a:avLst/>
          </a:prstGeom>
          <a:noFill/>
          <a:ln/>
        </p:spPr>
        <p:txBody>
          <a:bodyPr wrap="square" lIns="0" tIns="0" rIns="0" bIns="0" rtlCol="0" anchor="ctr">
            <a:normAutofit/>
          </a:bodyPr>
          <a:lstStyle/>
          <a:p>
            <a:pPr algn="l" indent="0" marL="0">
              <a:buNone/>
            </a:pPr>
            <a:r>
              <a:rPr lang="en-US" sz="1030" dirty="0">
                <a:solidFill>
                  <a:srgbClr val="E8E6E0"/>
                </a:solidFill>
                <a:latin typeface="Arial" pitchFamily="34" charset="0"/>
                <a:ea typeface="Arial" pitchFamily="34" charset="-122"/>
                <a:cs typeface="Arial" pitchFamily="34" charset="-120"/>
              </a:rPr>
              <a:t>intent • entity extraction • confidence</a:t>
            </a:r>
            <a:endParaRPr lang="en-US" sz="1030" dirty="0"/>
          </a:p>
        </p:txBody>
      </p:sp>
      <p:sp>
        <p:nvSpPr>
          <p:cNvPr id="15" name="Text 13"/>
          <p:cNvSpPr txBox="1"/>
          <p:nvPr/>
        </p:nvSpPr>
        <p:spPr>
          <a:xfrm>
            <a:off x="978408" y="3968496"/>
            <a:ext cx="3136392" cy="173736"/>
          </a:xfrm>
          <a:prstGeom prst="rect">
            <a:avLst/>
          </a:prstGeom>
          <a:noFill/>
          <a:ln/>
        </p:spPr>
        <p:txBody>
          <a:bodyPr wrap="square" lIns="0" tIns="0" rIns="0" bIns="0" rtlCol="0" anchor="t">
            <a:normAutofit/>
          </a:bodyPr>
          <a:lstStyle/>
          <a:p>
            <a:pPr algn="l" indent="0" marL="0">
              <a:buNone/>
            </a:pPr>
            <a:r>
              <a:rPr lang="en-US" sz="830" b="1" spc="70" kern="0" dirty="0">
                <a:solidFill>
                  <a:srgbClr val="7CC7A5"/>
                </a:solidFill>
                <a:latin typeface="Courier New" pitchFamily="34" charset="0"/>
                <a:ea typeface="Courier New" pitchFamily="34" charset="-122"/>
                <a:cs typeface="Courier New" pitchFamily="34" charset="-120"/>
              </a:rPr>
              <a:t>DIALOGUE / REASONING</a:t>
            </a:r>
            <a:endParaRPr lang="en-US" sz="830" dirty="0"/>
          </a:p>
        </p:txBody>
      </p:sp>
      <p:sp>
        <p:nvSpPr>
          <p:cNvPr id="16" name="Text 14"/>
          <p:cNvSpPr txBox="1"/>
          <p:nvPr/>
        </p:nvSpPr>
        <p:spPr>
          <a:xfrm>
            <a:off x="978408" y="4206240"/>
            <a:ext cx="3136392" cy="329184"/>
          </a:xfrm>
          <a:prstGeom prst="rect">
            <a:avLst/>
          </a:prstGeom>
          <a:noFill/>
          <a:ln/>
        </p:spPr>
        <p:txBody>
          <a:bodyPr wrap="square" lIns="0" tIns="0" rIns="0" bIns="0" rtlCol="0" anchor="ctr">
            <a:normAutofit/>
          </a:bodyPr>
          <a:lstStyle/>
          <a:p>
            <a:pPr algn="l" indent="0" marL="0">
              <a:buNone/>
            </a:pPr>
            <a:r>
              <a:rPr lang="en-US" sz="1030" dirty="0">
                <a:solidFill>
                  <a:srgbClr val="E8E6E0"/>
                </a:solidFill>
                <a:latin typeface="Arial" pitchFamily="34" charset="0"/>
                <a:ea typeface="Arial" pitchFamily="34" charset="-122"/>
                <a:cs typeface="Arial" pitchFamily="34" charset="-120"/>
              </a:rPr>
              <a:t>complex responses • orchestration • summary</a:t>
            </a:r>
            <a:endParaRPr lang="en-US" sz="1030" dirty="0"/>
          </a:p>
        </p:txBody>
      </p:sp>
      <p:sp>
        <p:nvSpPr>
          <p:cNvPr id="17" name="Text 15"/>
          <p:cNvSpPr txBox="1"/>
          <p:nvPr/>
        </p:nvSpPr>
        <p:spPr>
          <a:xfrm>
            <a:off x="978408" y="4681728"/>
            <a:ext cx="3136392" cy="173736"/>
          </a:xfrm>
          <a:prstGeom prst="rect">
            <a:avLst/>
          </a:prstGeom>
          <a:noFill/>
          <a:ln/>
        </p:spPr>
        <p:txBody>
          <a:bodyPr wrap="square" lIns="0" tIns="0" rIns="0" bIns="0" rtlCol="0" anchor="t">
            <a:normAutofit/>
          </a:bodyPr>
          <a:lstStyle/>
          <a:p>
            <a:pPr algn="l" indent="0" marL="0">
              <a:buNone/>
            </a:pPr>
            <a:r>
              <a:rPr lang="en-US" sz="830" b="1" spc="70" kern="0" dirty="0">
                <a:solidFill>
                  <a:srgbClr val="7CC7A5"/>
                </a:solidFill>
                <a:latin typeface="Courier New" pitchFamily="34" charset="0"/>
                <a:ea typeface="Courier New" pitchFamily="34" charset="-122"/>
                <a:cs typeface="Courier New" pitchFamily="34" charset="-120"/>
              </a:rPr>
              <a:t>RETRIEVAL</a:t>
            </a:r>
            <a:endParaRPr lang="en-US" sz="830" dirty="0"/>
          </a:p>
        </p:txBody>
      </p:sp>
      <p:sp>
        <p:nvSpPr>
          <p:cNvPr id="18" name="Text 16"/>
          <p:cNvSpPr txBox="1"/>
          <p:nvPr/>
        </p:nvSpPr>
        <p:spPr>
          <a:xfrm>
            <a:off x="978408" y="4919472"/>
            <a:ext cx="3136392" cy="329184"/>
          </a:xfrm>
          <a:prstGeom prst="rect">
            <a:avLst/>
          </a:prstGeom>
          <a:noFill/>
          <a:ln/>
        </p:spPr>
        <p:txBody>
          <a:bodyPr wrap="square" lIns="0" tIns="0" rIns="0" bIns="0" rtlCol="0" anchor="ctr">
            <a:normAutofit/>
          </a:bodyPr>
          <a:lstStyle/>
          <a:p>
            <a:pPr algn="l" indent="0" marL="0">
              <a:buNone/>
            </a:pPr>
            <a:r>
              <a:rPr lang="en-US" sz="1030" dirty="0">
                <a:solidFill>
                  <a:srgbClr val="E8E6E0"/>
                </a:solidFill>
                <a:latin typeface="Arial" pitchFamily="34" charset="0"/>
                <a:ea typeface="Arial" pitchFamily="34" charset="-122"/>
                <a:cs typeface="Arial" pitchFamily="34" charset="-120"/>
              </a:rPr>
              <a:t>embeddings • reranking • permission-aware citations</a:t>
            </a:r>
            <a:endParaRPr lang="en-US" sz="1030" dirty="0"/>
          </a:p>
        </p:txBody>
      </p:sp>
      <p:sp>
        <p:nvSpPr>
          <p:cNvPr id="19" name="Shape 17"/>
          <p:cNvSpPr/>
          <p:nvPr/>
        </p:nvSpPr>
        <p:spPr>
          <a:xfrm>
            <a:off x="4645152" y="3017520"/>
            <a:ext cx="987552" cy="1225296"/>
          </a:xfrm>
          <a:prstGeom prst="rightArrow">
            <a:avLst/>
          </a:prstGeom>
          <a:solidFill>
            <a:srgbClr val="3D3320"/>
          </a:solidFill>
          <a:ln w="12700">
            <a:solidFill>
              <a:srgbClr val="E8A33D"/>
            </a:solidFill>
            <a:prstDash val="solid"/>
          </a:ln>
        </p:spPr>
      </p:sp>
      <p:sp>
        <p:nvSpPr>
          <p:cNvPr id="20" name="Text 18"/>
          <p:cNvSpPr txBox="1"/>
          <p:nvPr/>
        </p:nvSpPr>
        <p:spPr>
          <a:xfrm>
            <a:off x="4791456" y="3364992"/>
            <a:ext cx="658368" cy="182880"/>
          </a:xfrm>
          <a:prstGeom prst="rect">
            <a:avLst/>
          </a:prstGeom>
          <a:noFill/>
          <a:ln/>
        </p:spPr>
        <p:txBody>
          <a:bodyPr wrap="square" lIns="0" tIns="0" rIns="0" bIns="0" rtlCol="0" anchor="t">
            <a:normAutofit/>
          </a:bodyPr>
          <a:lstStyle/>
          <a:p>
            <a:pPr algn="ctr" indent="0" marL="0">
              <a:buNone/>
            </a:pPr>
            <a:r>
              <a:rPr lang="en-US" sz="900" b="1" dirty="0">
                <a:solidFill>
                  <a:srgbClr val="E8A33D"/>
                </a:solidFill>
                <a:latin typeface="Courier New" pitchFamily="34" charset="0"/>
                <a:ea typeface="Courier New" pitchFamily="34" charset="-122"/>
                <a:cs typeface="Courier New" pitchFamily="34" charset="-120"/>
              </a:rPr>
              <a:t>POLICY</a:t>
            </a:r>
            <a:endParaRPr lang="en-US" sz="900" dirty="0"/>
          </a:p>
        </p:txBody>
      </p:sp>
      <p:sp>
        <p:nvSpPr>
          <p:cNvPr id="21" name="Text 19"/>
          <p:cNvSpPr txBox="1"/>
          <p:nvPr/>
        </p:nvSpPr>
        <p:spPr>
          <a:xfrm>
            <a:off x="4837176" y="3621024"/>
            <a:ext cx="557784" cy="438912"/>
          </a:xfrm>
          <a:prstGeom prst="rect">
            <a:avLst/>
          </a:prstGeom>
          <a:noFill/>
          <a:ln/>
        </p:spPr>
        <p:txBody>
          <a:bodyPr wrap="square" lIns="0" tIns="0" rIns="0" bIns="0" rtlCol="0" anchor="t">
            <a:normAutofit/>
          </a:bodyPr>
          <a:lstStyle/>
          <a:p>
            <a:pPr algn="ctr" indent="0" marL="0">
              <a:buNone/>
            </a:pPr>
            <a:r>
              <a:rPr lang="en-US" sz="680" dirty="0">
                <a:solidFill>
                  <a:srgbClr val="E8E6E0"/>
                </a:solidFill>
                <a:latin typeface="Courier New" pitchFamily="34" charset="0"/>
                <a:ea typeface="Courier New" pitchFamily="34" charset="-122"/>
                <a:cs typeface="Courier New" pitchFamily="34" charset="-120"/>
              </a:rPr>
              <a:t>allow</a:t>
            </a:r>
            <a:endParaRPr lang="en-US" sz="680" dirty="0"/>
          </a:p>
          <a:p>
            <a:pPr algn="ctr" indent="0" marL="0">
              <a:buNone/>
            </a:pPr>
            <a:r>
              <a:rPr lang="en-US" sz="680" dirty="0">
                <a:solidFill>
                  <a:srgbClr val="E8E6E0"/>
                </a:solidFill>
                <a:latin typeface="Courier New" pitchFamily="34" charset="0"/>
                <a:ea typeface="Courier New" pitchFamily="34" charset="-122"/>
                <a:cs typeface="Courier New" pitchFamily="34" charset="-120"/>
              </a:rPr>
              <a:t>confirm</a:t>
            </a:r>
            <a:endParaRPr lang="en-US" sz="680" dirty="0"/>
          </a:p>
          <a:p>
            <a:pPr algn="ctr" indent="0" marL="0">
              <a:buNone/>
            </a:pPr>
            <a:r>
              <a:rPr lang="en-US" sz="680" dirty="0">
                <a:solidFill>
                  <a:srgbClr val="E8E6E0"/>
                </a:solidFill>
                <a:latin typeface="Courier New" pitchFamily="34" charset="0"/>
                <a:ea typeface="Courier New" pitchFamily="34" charset="-122"/>
                <a:cs typeface="Courier New" pitchFamily="34" charset="-120"/>
              </a:rPr>
              <a:t>approve</a:t>
            </a:r>
            <a:endParaRPr lang="en-US" sz="680" dirty="0"/>
          </a:p>
          <a:p>
            <a:pPr algn="ctr" indent="0" marL="0">
              <a:buNone/>
            </a:pPr>
            <a:r>
              <a:rPr lang="en-US" sz="680" dirty="0">
                <a:solidFill>
                  <a:srgbClr val="E8E6E0"/>
                </a:solidFill>
                <a:latin typeface="Courier New" pitchFamily="34" charset="0"/>
                <a:ea typeface="Courier New" pitchFamily="34" charset="-122"/>
                <a:cs typeface="Courier New" pitchFamily="34" charset="-120"/>
              </a:rPr>
              <a:t>block</a:t>
            </a:r>
            <a:endParaRPr lang="en-US" sz="680" dirty="0"/>
          </a:p>
        </p:txBody>
      </p:sp>
      <p:sp>
        <p:nvSpPr>
          <p:cNvPr id="22" name="Shape 20"/>
          <p:cNvSpPr/>
          <p:nvPr/>
        </p:nvSpPr>
        <p:spPr>
          <a:xfrm>
            <a:off x="5925312" y="1755648"/>
            <a:ext cx="5349240" cy="4160520"/>
          </a:xfrm>
          <a:prstGeom prst="roundRect">
            <a:avLst/>
          </a:prstGeom>
          <a:solidFill>
            <a:srgbClr val="3D3320"/>
          </a:solidFill>
          <a:ln w="13970">
            <a:solidFill>
              <a:srgbClr val="E8A33D"/>
            </a:solidFill>
            <a:prstDash val="solid"/>
          </a:ln>
        </p:spPr>
      </p:sp>
      <p:sp>
        <p:nvSpPr>
          <p:cNvPr id="23" name="Shape 21"/>
          <p:cNvSpPr/>
          <p:nvPr/>
        </p:nvSpPr>
        <p:spPr>
          <a:xfrm>
            <a:off x="6172200" y="1975104"/>
            <a:ext cx="1755648" cy="310896"/>
          </a:xfrm>
          <a:prstGeom prst="roundRect">
            <a:avLst/>
          </a:prstGeom>
          <a:solidFill>
            <a:srgbClr val="3D3320"/>
          </a:solidFill>
          <a:ln w="10160">
            <a:solidFill>
              <a:srgbClr val="E8A33D"/>
            </a:solidFill>
            <a:prstDash val="solid"/>
          </a:ln>
        </p:spPr>
      </p:sp>
      <p:sp>
        <p:nvSpPr>
          <p:cNvPr id="24" name="Text 22"/>
          <p:cNvSpPr txBox="1"/>
          <p:nvPr/>
        </p:nvSpPr>
        <p:spPr>
          <a:xfrm>
            <a:off x="6217920" y="2011680"/>
            <a:ext cx="1664208" cy="246888"/>
          </a:xfrm>
          <a:prstGeom prst="rect">
            <a:avLst/>
          </a:prstGeom>
          <a:noFill/>
          <a:ln/>
        </p:spPr>
        <p:txBody>
          <a:bodyPr wrap="square" lIns="0" tIns="0" rIns="0" bIns="0" rtlCol="0" anchor="ctr">
            <a:normAutofit/>
          </a:bodyPr>
          <a:lstStyle/>
          <a:p>
            <a:pPr algn="ctr" indent="0" marL="0">
              <a:buNone/>
            </a:pPr>
            <a:r>
              <a:rPr lang="en-US" sz="850" b="1" spc="100" kern="0" dirty="0">
                <a:solidFill>
                  <a:srgbClr val="E8A33D"/>
                </a:solidFill>
                <a:latin typeface="Courier New" pitchFamily="34" charset="0"/>
                <a:ea typeface="Courier New" pitchFamily="34" charset="-122"/>
                <a:cs typeface="Courier New" pitchFamily="34" charset="-120"/>
              </a:rPr>
              <a:t>GOVERNED EXECUTION</a:t>
            </a:r>
            <a:endParaRPr lang="en-US" sz="850" dirty="0"/>
          </a:p>
        </p:txBody>
      </p:sp>
      <p:sp>
        <p:nvSpPr>
          <p:cNvPr id="25" name="Text 23"/>
          <p:cNvSpPr txBox="1"/>
          <p:nvPr/>
        </p:nvSpPr>
        <p:spPr>
          <a:xfrm>
            <a:off x="6190488" y="2542032"/>
            <a:ext cx="4800600" cy="173736"/>
          </a:xfrm>
          <a:prstGeom prst="rect">
            <a:avLst/>
          </a:prstGeom>
          <a:noFill/>
          <a:ln/>
        </p:spPr>
        <p:txBody>
          <a:bodyPr wrap="square" lIns="0" tIns="0" rIns="0" bIns="0" rtlCol="0" anchor="t">
            <a:normAutofit/>
          </a:bodyPr>
          <a:lstStyle/>
          <a:p>
            <a:pPr algn="l" indent="0" marL="0">
              <a:buNone/>
            </a:pPr>
            <a:r>
              <a:rPr lang="en-US" sz="830" b="1" spc="70" kern="0" dirty="0">
                <a:solidFill>
                  <a:srgbClr val="E8A33D"/>
                </a:solidFill>
                <a:latin typeface="Courier New" pitchFamily="34" charset="0"/>
                <a:ea typeface="Courier New" pitchFamily="34" charset="-122"/>
                <a:cs typeface="Courier New" pitchFamily="34" charset="-120"/>
              </a:rPr>
              <a:t>DETERMINISTIC RULES</a:t>
            </a:r>
            <a:endParaRPr lang="en-US" sz="830" dirty="0"/>
          </a:p>
        </p:txBody>
      </p:sp>
      <p:sp>
        <p:nvSpPr>
          <p:cNvPr id="26" name="Text 24"/>
          <p:cNvSpPr txBox="1"/>
          <p:nvPr/>
        </p:nvSpPr>
        <p:spPr>
          <a:xfrm>
            <a:off x="6190488" y="2779776"/>
            <a:ext cx="4800600" cy="329184"/>
          </a:xfrm>
          <a:prstGeom prst="rect">
            <a:avLst/>
          </a:prstGeom>
          <a:noFill/>
          <a:ln/>
        </p:spPr>
        <p:txBody>
          <a:bodyPr wrap="square" lIns="0" tIns="0" rIns="0" bIns="0" rtlCol="0" anchor="ctr">
            <a:normAutofit/>
          </a:bodyPr>
          <a:lstStyle/>
          <a:p>
            <a:pPr algn="l" indent="0" marL="0">
              <a:buNone/>
            </a:pPr>
            <a:r>
              <a:rPr lang="en-US" sz="1030" dirty="0">
                <a:solidFill>
                  <a:srgbClr val="E8E6E0"/>
                </a:solidFill>
                <a:latin typeface="Arial" pitchFamily="34" charset="0"/>
                <a:ea typeface="Arial" pitchFamily="34" charset="-122"/>
                <a:cs typeface="Arial" pitchFamily="34" charset="-120"/>
              </a:rPr>
              <a:t>service area • eligibility • routing • action thresholds</a:t>
            </a:r>
            <a:endParaRPr lang="en-US" sz="1030" dirty="0"/>
          </a:p>
        </p:txBody>
      </p:sp>
      <p:sp>
        <p:nvSpPr>
          <p:cNvPr id="27" name="Text 25"/>
          <p:cNvSpPr txBox="1"/>
          <p:nvPr/>
        </p:nvSpPr>
        <p:spPr>
          <a:xfrm>
            <a:off x="6190488" y="3255264"/>
            <a:ext cx="4800600" cy="173736"/>
          </a:xfrm>
          <a:prstGeom prst="rect">
            <a:avLst/>
          </a:prstGeom>
          <a:noFill/>
          <a:ln/>
        </p:spPr>
        <p:txBody>
          <a:bodyPr wrap="square" lIns="0" tIns="0" rIns="0" bIns="0" rtlCol="0" anchor="t">
            <a:normAutofit/>
          </a:bodyPr>
          <a:lstStyle/>
          <a:p>
            <a:pPr algn="l" indent="0" marL="0">
              <a:buNone/>
            </a:pPr>
            <a:r>
              <a:rPr lang="en-US" sz="830" b="1" spc="70" kern="0" dirty="0">
                <a:solidFill>
                  <a:srgbClr val="E8A33D"/>
                </a:solidFill>
                <a:latin typeface="Courier New" pitchFamily="34" charset="0"/>
                <a:ea typeface="Courier New" pitchFamily="34" charset="-122"/>
                <a:cs typeface="Courier New" pitchFamily="34" charset="-120"/>
              </a:rPr>
              <a:t>VALIDATED TOOLS</a:t>
            </a:r>
            <a:endParaRPr lang="en-US" sz="830" dirty="0"/>
          </a:p>
        </p:txBody>
      </p:sp>
      <p:sp>
        <p:nvSpPr>
          <p:cNvPr id="28" name="Text 26"/>
          <p:cNvSpPr txBox="1"/>
          <p:nvPr/>
        </p:nvSpPr>
        <p:spPr>
          <a:xfrm>
            <a:off x="6190488" y="3493008"/>
            <a:ext cx="4800600" cy="329184"/>
          </a:xfrm>
          <a:prstGeom prst="rect">
            <a:avLst/>
          </a:prstGeom>
          <a:noFill/>
          <a:ln/>
        </p:spPr>
        <p:txBody>
          <a:bodyPr wrap="square" lIns="0" tIns="0" rIns="0" bIns="0" rtlCol="0" anchor="ctr">
            <a:normAutofit/>
          </a:bodyPr>
          <a:lstStyle/>
          <a:p>
            <a:pPr algn="l" indent="0" marL="0">
              <a:buNone/>
            </a:pPr>
            <a:r>
              <a:rPr lang="en-US" sz="1030" dirty="0">
                <a:solidFill>
                  <a:srgbClr val="E8E6E0"/>
                </a:solidFill>
                <a:latin typeface="Arial" pitchFamily="34" charset="0"/>
                <a:ea typeface="Arial" pitchFamily="34" charset="-122"/>
                <a:cs typeface="Arial" pitchFamily="34" charset="-120"/>
              </a:rPr>
              <a:t>tenant-scoped • least privilege • schema checked</a:t>
            </a:r>
            <a:endParaRPr lang="en-US" sz="1030" dirty="0"/>
          </a:p>
        </p:txBody>
      </p:sp>
      <p:sp>
        <p:nvSpPr>
          <p:cNvPr id="29" name="Text 27"/>
          <p:cNvSpPr txBox="1"/>
          <p:nvPr/>
        </p:nvSpPr>
        <p:spPr>
          <a:xfrm>
            <a:off x="6190488" y="3968496"/>
            <a:ext cx="4800600" cy="173736"/>
          </a:xfrm>
          <a:prstGeom prst="rect">
            <a:avLst/>
          </a:prstGeom>
          <a:noFill/>
          <a:ln/>
        </p:spPr>
        <p:txBody>
          <a:bodyPr wrap="square" lIns="0" tIns="0" rIns="0" bIns="0" rtlCol="0" anchor="t">
            <a:normAutofit/>
          </a:bodyPr>
          <a:lstStyle/>
          <a:p>
            <a:pPr algn="l" indent="0" marL="0">
              <a:buNone/>
            </a:pPr>
            <a:r>
              <a:rPr lang="en-US" sz="830" b="1" spc="70" kern="0" dirty="0">
                <a:solidFill>
                  <a:srgbClr val="E8A33D"/>
                </a:solidFill>
                <a:latin typeface="Courier New" pitchFamily="34" charset="0"/>
                <a:ea typeface="Courier New" pitchFamily="34" charset="-122"/>
                <a:cs typeface="Courier New" pitchFamily="34" charset="-120"/>
              </a:rPr>
              <a:t>DURABLE WORKFLOWS</a:t>
            </a:r>
            <a:endParaRPr lang="en-US" sz="830" dirty="0"/>
          </a:p>
        </p:txBody>
      </p:sp>
      <p:sp>
        <p:nvSpPr>
          <p:cNvPr id="30" name="Text 28"/>
          <p:cNvSpPr txBox="1"/>
          <p:nvPr/>
        </p:nvSpPr>
        <p:spPr>
          <a:xfrm>
            <a:off x="6190488" y="4206240"/>
            <a:ext cx="4800600" cy="329184"/>
          </a:xfrm>
          <a:prstGeom prst="rect">
            <a:avLst/>
          </a:prstGeom>
          <a:noFill/>
          <a:ln/>
        </p:spPr>
        <p:txBody>
          <a:bodyPr wrap="square" lIns="0" tIns="0" rIns="0" bIns="0" rtlCol="0" anchor="ctr">
            <a:normAutofit/>
          </a:bodyPr>
          <a:lstStyle/>
          <a:p>
            <a:pPr algn="l" indent="0" marL="0">
              <a:buNone/>
            </a:pPr>
            <a:r>
              <a:rPr lang="en-US" sz="1030" dirty="0">
                <a:solidFill>
                  <a:srgbClr val="E8E6E0"/>
                </a:solidFill>
                <a:latin typeface="Arial" pitchFamily="34" charset="0"/>
                <a:ea typeface="Arial" pitchFamily="34" charset="-122"/>
                <a:cs typeface="Arial" pitchFamily="34" charset="-120"/>
              </a:rPr>
              <a:t>idempotency • retries • timeouts • dead letters</a:t>
            </a:r>
            <a:endParaRPr lang="en-US" sz="1030" dirty="0"/>
          </a:p>
        </p:txBody>
      </p:sp>
      <p:sp>
        <p:nvSpPr>
          <p:cNvPr id="31" name="Text 29"/>
          <p:cNvSpPr txBox="1"/>
          <p:nvPr/>
        </p:nvSpPr>
        <p:spPr>
          <a:xfrm>
            <a:off x="6190488" y="4681728"/>
            <a:ext cx="4800600" cy="173736"/>
          </a:xfrm>
          <a:prstGeom prst="rect">
            <a:avLst/>
          </a:prstGeom>
          <a:noFill/>
          <a:ln/>
        </p:spPr>
        <p:txBody>
          <a:bodyPr wrap="square" lIns="0" tIns="0" rIns="0" bIns="0" rtlCol="0" anchor="t">
            <a:normAutofit/>
          </a:bodyPr>
          <a:lstStyle/>
          <a:p>
            <a:pPr algn="l" indent="0" marL="0">
              <a:buNone/>
            </a:pPr>
            <a:r>
              <a:rPr lang="en-US" sz="830" b="1" spc="70" kern="0" dirty="0">
                <a:solidFill>
                  <a:srgbClr val="E8A33D"/>
                </a:solidFill>
                <a:latin typeface="Courier New" pitchFamily="34" charset="0"/>
                <a:ea typeface="Courier New" pitchFamily="34" charset="-122"/>
                <a:cs typeface="Courier New" pitchFamily="34" charset="-120"/>
              </a:rPr>
              <a:t>AUDIT + RECOVERY</a:t>
            </a:r>
            <a:endParaRPr lang="en-US" sz="830" dirty="0"/>
          </a:p>
        </p:txBody>
      </p:sp>
      <p:sp>
        <p:nvSpPr>
          <p:cNvPr id="32" name="Text 30"/>
          <p:cNvSpPr txBox="1"/>
          <p:nvPr/>
        </p:nvSpPr>
        <p:spPr>
          <a:xfrm>
            <a:off x="6190488" y="4919472"/>
            <a:ext cx="4800600" cy="329184"/>
          </a:xfrm>
          <a:prstGeom prst="rect">
            <a:avLst/>
          </a:prstGeom>
          <a:noFill/>
          <a:ln/>
        </p:spPr>
        <p:txBody>
          <a:bodyPr wrap="square" lIns="0" tIns="0" rIns="0" bIns="0" rtlCol="0" anchor="ctr">
            <a:normAutofit/>
          </a:bodyPr>
          <a:lstStyle/>
          <a:p>
            <a:pPr algn="l" indent="0" marL="0">
              <a:buNone/>
            </a:pPr>
            <a:r>
              <a:rPr lang="en-US" sz="1030" dirty="0">
                <a:solidFill>
                  <a:srgbClr val="E8E6E0"/>
                </a:solidFill>
                <a:latin typeface="Arial" pitchFamily="34" charset="0"/>
                <a:ea typeface="Arial" pitchFamily="34" charset="-122"/>
                <a:cs typeface="Arial" pitchFamily="34" charset="-120"/>
              </a:rPr>
              <a:t>confirmation • approval • rollback • reconciliation</a:t>
            </a:r>
            <a:endParaRPr lang="en-US" sz="1030" dirty="0"/>
          </a:p>
        </p:txBody>
      </p:sp>
      <p:sp>
        <p:nvSpPr>
          <p:cNvPr id="33" name="Shape 31"/>
          <p:cNvSpPr/>
          <p:nvPr/>
        </p:nvSpPr>
        <p:spPr>
          <a:xfrm>
            <a:off x="1920240" y="6071616"/>
            <a:ext cx="8394192" cy="228600"/>
          </a:xfrm>
          <a:prstGeom prst="roundRect">
            <a:avLst/>
          </a:prstGeom>
          <a:solidFill>
            <a:srgbClr val="100F14"/>
          </a:solidFill>
          <a:ln w="6350">
            <a:solidFill>
              <a:srgbClr val="34323E"/>
            </a:solidFill>
            <a:prstDash val="solid"/>
          </a:ln>
        </p:spPr>
      </p:sp>
      <p:sp>
        <p:nvSpPr>
          <p:cNvPr id="34" name="Text 32"/>
          <p:cNvSpPr txBox="1"/>
          <p:nvPr/>
        </p:nvSpPr>
        <p:spPr>
          <a:xfrm>
            <a:off x="2084832" y="6126480"/>
            <a:ext cx="8065008" cy="109728"/>
          </a:xfrm>
          <a:prstGeom prst="rect">
            <a:avLst/>
          </a:prstGeom>
          <a:noFill/>
          <a:ln/>
        </p:spPr>
        <p:txBody>
          <a:bodyPr wrap="square" lIns="0" tIns="0" rIns="0" bIns="0" rtlCol="0" anchor="t">
            <a:normAutofit/>
          </a:bodyPr>
          <a:lstStyle/>
          <a:p>
            <a:pPr algn="ctr" indent="0" marL="0">
              <a:buNone/>
            </a:pPr>
            <a:r>
              <a:rPr lang="en-US" sz="820" i="1" dirty="0">
                <a:solidFill>
                  <a:srgbClr val="9A97A3"/>
                </a:solidFill>
                <a:latin typeface="Arial" pitchFamily="34" charset="0"/>
                <a:ea typeface="Arial" pitchFamily="34" charset="-122"/>
                <a:cs typeface="Arial" pitchFamily="34" charset="-120"/>
              </a:rPr>
              <a:t>“Continuous learning” = administrator-approved knowledge + evaluation-led change — not autonomous training from customer calls.</a:t>
            </a:r>
            <a:endParaRPr lang="en-US" sz="820" dirty="0"/>
          </a:p>
        </p:txBody>
      </p:sp>
      <p:sp>
        <p:nvSpPr>
          <p:cNvPr id="25" name="Slide Number Placeholder 0"/>
          <p:cNvSpPr>
            <a:spLocks noGrp="1"/>
          </p:cNvSpPr>
          <p:nvPr>
            <p:ph type="sldNum" sz="quarter" idx="4294967295"/>
          </p:nvPr>
        </p:nvSpPr>
        <p:spPr>
          <a:xfrm>
            <a:off x="11109960" y="6483096"/>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9A97A3"/>
                </a:solidFill>
                <a:latin typeface="Courier New"/>
                <a:ea typeface="Courier New"/>
                <a:cs typeface="Courier New"/>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161D"/>
        </a:solidFill>
      </p:bgPr>
    </p:bg>
    <p:spTree>
      <p:nvGrpSpPr>
        <p:cNvPr id="1" name=""/>
        <p:cNvGrpSpPr/>
        <p:nvPr/>
      </p:nvGrpSpPr>
      <p:grpSpPr>
        <a:xfrm>
          <a:off x="0" y="0"/>
          <a:ext cx="0" cy="0"/>
          <a:chOff x="0" y="0"/>
          <a:chExt cx="0" cy="0"/>
        </a:xfrm>
      </p:grpSpPr>
      <p:sp>
        <p:nvSpPr>
          <p:cNvPr id="2" name="Text 0"/>
          <p:cNvSpPr txBox="1"/>
          <p:nvPr/>
        </p:nvSpPr>
        <p:spPr>
          <a:xfrm>
            <a:off x="713232" y="384048"/>
            <a:ext cx="5120640" cy="219456"/>
          </a:xfrm>
          <a:prstGeom prst="rect">
            <a:avLst/>
          </a:prstGeom>
          <a:noFill/>
          <a:ln/>
        </p:spPr>
        <p:txBody>
          <a:bodyPr wrap="square" lIns="0" tIns="0" rIns="0" bIns="0" rtlCol="0" anchor="t">
            <a:normAutofit/>
          </a:bodyPr>
          <a:lstStyle/>
          <a:p>
            <a:pPr algn="l" indent="0" marL="0">
              <a:buNone/>
            </a:pPr>
            <a:r>
              <a:rPr lang="en-US" sz="900" b="1" spc="210" kern="0" dirty="0">
                <a:solidFill>
                  <a:srgbClr val="9A97A3"/>
                </a:solidFill>
                <a:latin typeface="Courier New" pitchFamily="34" charset="0"/>
                <a:ea typeface="Courier New" pitchFamily="34" charset="-122"/>
                <a:cs typeface="Courier New" pitchFamily="34" charset="-120"/>
              </a:rPr>
              <a:t>ENTERPRISE OPERATION</a:t>
            </a:r>
            <a:endParaRPr lang="en-US" sz="900" dirty="0"/>
          </a:p>
        </p:txBody>
      </p:sp>
      <p:sp>
        <p:nvSpPr>
          <p:cNvPr id="3" name="Text 1"/>
          <p:cNvSpPr txBox="1"/>
          <p:nvPr/>
        </p:nvSpPr>
        <p:spPr>
          <a:xfrm>
            <a:off x="10424160" y="347472"/>
            <a:ext cx="1051560" cy="228600"/>
          </a:xfrm>
          <a:prstGeom prst="rect">
            <a:avLst/>
          </a:prstGeom>
          <a:noFill/>
          <a:ln/>
        </p:spPr>
        <p:txBody>
          <a:bodyPr wrap="square" lIns="0" tIns="0" rIns="0" bIns="0" rtlCol="0" anchor="t">
            <a:normAutofit/>
          </a:bodyPr>
          <a:lstStyle/>
          <a:p>
            <a:pPr algn="r" indent="0" marL="0">
              <a:buNone/>
            </a:pPr>
            <a:r>
              <a:rPr lang="en-US" sz="1000" b="1" spc="240" kern="0" dirty="0">
                <a:solidFill>
                  <a:srgbClr val="E8E6E0"/>
                </a:solidFill>
                <a:latin typeface="Courier New" pitchFamily="34" charset="0"/>
                <a:ea typeface="Courier New" pitchFamily="34" charset="-122"/>
                <a:cs typeface="Courier New" pitchFamily="34" charset="-120"/>
              </a:rPr>
              <a:t>CYBIC</a:t>
            </a:r>
            <a:endParaRPr lang="en-US" sz="1000" dirty="0"/>
          </a:p>
        </p:txBody>
      </p:sp>
      <p:sp>
        <p:nvSpPr>
          <p:cNvPr id="4" name="Text 2"/>
          <p:cNvSpPr txBox="1"/>
          <p:nvPr/>
        </p:nvSpPr>
        <p:spPr>
          <a:xfrm>
            <a:off x="685800" y="713232"/>
            <a:ext cx="10744200" cy="566928"/>
          </a:xfrm>
          <a:prstGeom prst="rect">
            <a:avLst/>
          </a:prstGeom>
          <a:noFill/>
          <a:ln/>
        </p:spPr>
        <p:txBody>
          <a:bodyPr wrap="square" lIns="0" tIns="0" rIns="0" bIns="0" rtlCol="0" anchor="t">
            <a:normAutofit/>
          </a:bodyPr>
          <a:lstStyle/>
          <a:p>
            <a:pPr algn="l" indent="0" marL="0">
              <a:buNone/>
            </a:pPr>
            <a:r>
              <a:rPr lang="en-US" sz="2800" b="1" dirty="0">
                <a:solidFill>
                  <a:srgbClr val="7CC7A5"/>
                </a:solidFill>
                <a:latin typeface="Arial" pitchFamily="34" charset="0"/>
                <a:ea typeface="Arial" pitchFamily="34" charset="-122"/>
                <a:cs typeface="Arial" pitchFamily="34" charset="-120"/>
              </a:rPr>
              <a:t>Security, evaluation, and reliability are product features</a:t>
            </a:r>
            <a:endParaRPr lang="en-US" sz="2800" dirty="0"/>
          </a:p>
        </p:txBody>
      </p:sp>
      <p:sp>
        <p:nvSpPr>
          <p:cNvPr id="5" name="Text 3"/>
          <p:cNvSpPr txBox="1"/>
          <p:nvPr/>
        </p:nvSpPr>
        <p:spPr>
          <a:xfrm>
            <a:off x="713232" y="1298448"/>
            <a:ext cx="10607040" cy="411480"/>
          </a:xfrm>
          <a:prstGeom prst="rect">
            <a:avLst/>
          </a:prstGeom>
          <a:noFill/>
          <a:ln/>
        </p:spPr>
        <p:txBody>
          <a:bodyPr wrap="square" lIns="0" tIns="0" rIns="0" bIns="0" rtlCol="0" anchor="t">
            <a:normAutofit/>
          </a:bodyPr>
          <a:lstStyle/>
          <a:p>
            <a:pPr algn="l" indent="0" marL="0">
              <a:buNone/>
            </a:pPr>
            <a:r>
              <a:rPr lang="en-US" sz="1350" dirty="0">
                <a:solidFill>
                  <a:srgbClr val="9A97A3"/>
                </a:solidFill>
                <a:latin typeface="Arial" pitchFamily="34" charset="0"/>
                <a:ea typeface="Arial" pitchFamily="34" charset="-122"/>
                <a:cs typeface="Arial" pitchFamily="34" charset="-120"/>
              </a:rPr>
              <a:t>Autonomy expands only when evidence and controls support it.</a:t>
            </a:r>
            <a:endParaRPr lang="en-US" sz="1350" dirty="0"/>
          </a:p>
        </p:txBody>
      </p:sp>
      <p:sp>
        <p:nvSpPr>
          <p:cNvPr id="6" name="Shape 4"/>
          <p:cNvSpPr/>
          <p:nvPr/>
        </p:nvSpPr>
        <p:spPr>
          <a:xfrm>
            <a:off x="658368" y="6428232"/>
            <a:ext cx="10863072" cy="0"/>
          </a:xfrm>
          <a:prstGeom prst="line">
            <a:avLst/>
          </a:prstGeom>
          <a:noFill/>
          <a:ln w="8890">
            <a:solidFill>
              <a:srgbClr val="34323E"/>
            </a:solidFill>
            <a:prstDash val="solid"/>
          </a:ln>
        </p:spPr>
      </p:sp>
      <p:sp>
        <p:nvSpPr>
          <p:cNvPr id="7" name="Text 5"/>
          <p:cNvSpPr txBox="1"/>
          <p:nvPr/>
        </p:nvSpPr>
        <p:spPr>
          <a:xfrm>
            <a:off x="685800" y="6473952"/>
            <a:ext cx="2926080" cy="146304"/>
          </a:xfrm>
          <a:prstGeom prst="rect">
            <a:avLst/>
          </a:prstGeom>
          <a:noFill/>
          <a:ln/>
        </p:spPr>
        <p:txBody>
          <a:bodyPr wrap="square" lIns="0" tIns="0" rIns="0" bIns="0" rtlCol="0" anchor="t">
            <a:normAutofit/>
          </a:bodyPr>
          <a:lstStyle/>
          <a:p>
            <a:pPr algn="l" indent="0" marL="0">
              <a:buNone/>
            </a:pPr>
            <a:r>
              <a:rPr lang="en-US" sz="750" spc="120" kern="0" dirty="0">
                <a:solidFill>
                  <a:srgbClr val="9A97A3"/>
                </a:solidFill>
                <a:latin typeface="Courier New" pitchFamily="34" charset="0"/>
                <a:ea typeface="Courier New" pitchFamily="34" charset="-122"/>
                <a:cs typeface="Courier New" pitchFamily="34" charset="-120"/>
              </a:rPr>
              <a:t>CYBIC  •  CONFIDENTIAL</a:t>
            </a:r>
            <a:endParaRPr lang="en-US" sz="750" dirty="0"/>
          </a:p>
        </p:txBody>
      </p:sp>
      <p:sp>
        <p:nvSpPr>
          <p:cNvPr id="8" name="Shape 6"/>
          <p:cNvSpPr/>
          <p:nvPr/>
        </p:nvSpPr>
        <p:spPr>
          <a:xfrm>
            <a:off x="731520" y="1755648"/>
            <a:ext cx="5321808" cy="1773936"/>
          </a:xfrm>
          <a:prstGeom prst="roundRect">
            <a:avLst/>
          </a:prstGeom>
          <a:solidFill>
            <a:srgbClr val="20303D"/>
          </a:solidFill>
          <a:ln w="12700">
            <a:solidFill>
              <a:srgbClr val="6FB3E8"/>
            </a:solidFill>
            <a:prstDash val="solid"/>
          </a:ln>
        </p:spPr>
      </p:sp>
      <p:sp>
        <p:nvSpPr>
          <p:cNvPr id="9" name="Text 7"/>
          <p:cNvSpPr txBox="1"/>
          <p:nvPr/>
        </p:nvSpPr>
        <p:spPr>
          <a:xfrm>
            <a:off x="969264" y="1956816"/>
            <a:ext cx="4828032" cy="201168"/>
          </a:xfrm>
          <a:prstGeom prst="rect">
            <a:avLst/>
          </a:prstGeom>
          <a:noFill/>
          <a:ln/>
        </p:spPr>
        <p:txBody>
          <a:bodyPr wrap="square" lIns="0" tIns="0" rIns="0" bIns="0" rtlCol="0" anchor="t">
            <a:normAutofit/>
          </a:bodyPr>
          <a:lstStyle/>
          <a:p>
            <a:pPr algn="l" indent="0" marL="0">
              <a:buNone/>
            </a:pPr>
            <a:r>
              <a:rPr lang="en-US" sz="900" b="1" spc="70" kern="0" dirty="0">
                <a:solidFill>
                  <a:srgbClr val="6FB3E8"/>
                </a:solidFill>
                <a:latin typeface="Courier New" pitchFamily="34" charset="0"/>
                <a:ea typeface="Courier New" pitchFamily="34" charset="-122"/>
                <a:cs typeface="Courier New" pitchFamily="34" charset="-120"/>
              </a:rPr>
              <a:t>SECURITY + IDENTITY</a:t>
            </a:r>
            <a:endParaRPr lang="en-US" sz="900" dirty="0"/>
          </a:p>
        </p:txBody>
      </p:sp>
      <p:sp>
        <p:nvSpPr>
          <p:cNvPr id="10" name="Text 8"/>
          <p:cNvSpPr txBox="1"/>
          <p:nvPr/>
        </p:nvSpPr>
        <p:spPr>
          <a:xfrm>
            <a:off x="969264" y="2322576"/>
            <a:ext cx="4828032" cy="960120"/>
          </a:xfrm>
          <a:prstGeom prst="rect">
            <a:avLst/>
          </a:prstGeom>
          <a:noFill/>
          <a:ln/>
        </p:spPr>
        <p:txBody>
          <a:bodyPr wrap="square" lIns="0" tIns="0" rIns="0" bIns="0" rtlCol="0" anchor="t">
            <a:normAutofit/>
          </a:bodyPr>
          <a:lstStyle/>
          <a:p>
            <a:pPr algn="l" indent="0" marL="0">
              <a:buNone/>
            </a:pPr>
            <a:r>
              <a:rPr lang="en-US" sz="1110" dirty="0">
                <a:solidFill>
                  <a:srgbClr val="E8E6E0"/>
                </a:solidFill>
                <a:latin typeface="Arial" pitchFamily="34" charset="0"/>
                <a:ea typeface="Arial" pitchFamily="34" charset="-122"/>
                <a:cs typeface="Arial" pitchFamily="34" charset="-120"/>
              </a:rPr>
              <a:t>SSO / OIDC • MFA</a:t>
            </a:r>
            <a:endParaRPr lang="en-US" sz="1110" dirty="0"/>
          </a:p>
          <a:p>
            <a:pPr algn="l" indent="0" marL="0">
              <a:buNone/>
            </a:pPr>
            <a:r>
              <a:rPr lang="en-US" sz="1110" dirty="0">
                <a:solidFill>
                  <a:srgbClr val="E8E6E0"/>
                </a:solidFill>
                <a:latin typeface="Arial" pitchFamily="34" charset="0"/>
                <a:ea typeface="Arial" pitchFamily="34" charset="-122"/>
                <a:cs typeface="Arial" pitchFamily="34" charset="-120"/>
              </a:rPr>
              <a:t>RBAC + scoped attributes</a:t>
            </a:r>
            <a:endParaRPr lang="en-US" sz="1110" dirty="0"/>
          </a:p>
          <a:p>
            <a:pPr algn="l" indent="0" marL="0">
              <a:buNone/>
            </a:pPr>
            <a:r>
              <a:rPr lang="en-US" sz="1110" dirty="0">
                <a:solidFill>
                  <a:srgbClr val="E8E6E0"/>
                </a:solidFill>
                <a:latin typeface="Arial" pitchFamily="34" charset="0"/>
                <a:ea typeface="Arial" pitchFamily="34" charset="-122"/>
                <a:cs typeface="Arial" pitchFamily="34" charset="-120"/>
              </a:rPr>
              <a:t>Tenant isolation • encryption</a:t>
            </a:r>
            <a:endParaRPr lang="en-US" sz="1110" dirty="0"/>
          </a:p>
          <a:p>
            <a:pPr algn="l" indent="0" marL="0">
              <a:buNone/>
            </a:pPr>
            <a:r>
              <a:rPr lang="en-US" sz="1110" dirty="0">
                <a:solidFill>
                  <a:srgbClr val="E8E6E0"/>
                </a:solidFill>
                <a:latin typeface="Arial" pitchFamily="34" charset="0"/>
                <a:ea typeface="Arial" pitchFamily="34" charset="-122"/>
                <a:cs typeface="Arial" pitchFamily="34" charset="-120"/>
              </a:rPr>
              <a:t>Secrets / KMS • PII controls</a:t>
            </a:r>
            <a:endParaRPr lang="en-US" sz="1110" dirty="0"/>
          </a:p>
          <a:p>
            <a:pPr algn="l" indent="0" marL="0">
              <a:buNone/>
            </a:pPr>
            <a:r>
              <a:rPr lang="en-US" sz="1110" dirty="0">
                <a:solidFill>
                  <a:srgbClr val="E8E6E0"/>
                </a:solidFill>
                <a:latin typeface="Arial" pitchFamily="34" charset="0"/>
                <a:ea typeface="Arial" pitchFamily="34" charset="-122"/>
                <a:cs typeface="Arial" pitchFamily="34" charset="-120"/>
              </a:rPr>
              <a:t>Consent • retention • immutable audit</a:t>
            </a:r>
            <a:endParaRPr lang="en-US" sz="1110" dirty="0"/>
          </a:p>
        </p:txBody>
      </p:sp>
      <p:sp>
        <p:nvSpPr>
          <p:cNvPr id="11" name="Shape 9"/>
          <p:cNvSpPr/>
          <p:nvPr/>
        </p:nvSpPr>
        <p:spPr>
          <a:xfrm>
            <a:off x="6108192" y="1755648"/>
            <a:ext cx="5321808" cy="1773936"/>
          </a:xfrm>
          <a:prstGeom prst="roundRect">
            <a:avLst/>
          </a:prstGeom>
          <a:solidFill>
            <a:srgbClr val="20382F"/>
          </a:solidFill>
          <a:ln w="12700">
            <a:solidFill>
              <a:srgbClr val="7CC7A5"/>
            </a:solidFill>
            <a:prstDash val="solid"/>
          </a:ln>
        </p:spPr>
      </p:sp>
      <p:sp>
        <p:nvSpPr>
          <p:cNvPr id="12" name="Text 10"/>
          <p:cNvSpPr txBox="1"/>
          <p:nvPr/>
        </p:nvSpPr>
        <p:spPr>
          <a:xfrm>
            <a:off x="6345936" y="1956816"/>
            <a:ext cx="4828032" cy="201168"/>
          </a:xfrm>
          <a:prstGeom prst="rect">
            <a:avLst/>
          </a:prstGeom>
          <a:noFill/>
          <a:ln/>
        </p:spPr>
        <p:txBody>
          <a:bodyPr wrap="square" lIns="0" tIns="0" rIns="0" bIns="0" rtlCol="0" anchor="t">
            <a:normAutofit/>
          </a:bodyPr>
          <a:lstStyle/>
          <a:p>
            <a:pPr algn="l" indent="0" marL="0">
              <a:buNone/>
            </a:pPr>
            <a:r>
              <a:rPr lang="en-US" sz="900" b="1" spc="70" kern="0" dirty="0">
                <a:solidFill>
                  <a:srgbClr val="7CC7A5"/>
                </a:solidFill>
                <a:latin typeface="Courier New" pitchFamily="34" charset="0"/>
                <a:ea typeface="Courier New" pitchFamily="34" charset="-122"/>
                <a:cs typeface="Courier New" pitchFamily="34" charset="-120"/>
              </a:rPr>
              <a:t>EVALUATION + AI SAFETY</a:t>
            </a:r>
            <a:endParaRPr lang="en-US" sz="900" dirty="0"/>
          </a:p>
        </p:txBody>
      </p:sp>
      <p:sp>
        <p:nvSpPr>
          <p:cNvPr id="13" name="Text 11"/>
          <p:cNvSpPr txBox="1"/>
          <p:nvPr/>
        </p:nvSpPr>
        <p:spPr>
          <a:xfrm>
            <a:off x="6345936" y="2322576"/>
            <a:ext cx="4828032" cy="960120"/>
          </a:xfrm>
          <a:prstGeom prst="rect">
            <a:avLst/>
          </a:prstGeom>
          <a:noFill/>
          <a:ln/>
        </p:spPr>
        <p:txBody>
          <a:bodyPr wrap="square" lIns="0" tIns="0" rIns="0" bIns="0" rtlCol="0" anchor="t">
            <a:normAutofit/>
          </a:bodyPr>
          <a:lstStyle/>
          <a:p>
            <a:pPr algn="l" indent="0" marL="0">
              <a:buNone/>
            </a:pPr>
            <a:r>
              <a:rPr lang="en-US" sz="1110" dirty="0">
                <a:solidFill>
                  <a:srgbClr val="E8E6E0"/>
                </a:solidFill>
                <a:latin typeface="Arial" pitchFamily="34" charset="0"/>
                <a:ea typeface="Arial" pitchFamily="34" charset="-122"/>
                <a:cs typeface="Arial" pitchFamily="34" charset="-120"/>
              </a:rPr>
              <a:t>Intent • extraction • grounding</a:t>
            </a:r>
            <a:endParaRPr lang="en-US" sz="1110" dirty="0"/>
          </a:p>
          <a:p>
            <a:pPr algn="l" indent="0" marL="0">
              <a:buNone/>
            </a:pPr>
            <a:r>
              <a:rPr lang="en-US" sz="1110" dirty="0">
                <a:solidFill>
                  <a:srgbClr val="E8E6E0"/>
                </a:solidFill>
                <a:latin typeface="Arial" pitchFamily="34" charset="0"/>
                <a:ea typeface="Arial" pitchFamily="34" charset="-122"/>
                <a:cs typeface="Arial" pitchFamily="34" charset="-120"/>
              </a:rPr>
              <a:t>Qualification • scheduling • action correctness</a:t>
            </a:r>
            <a:endParaRPr lang="en-US" sz="1110" dirty="0"/>
          </a:p>
          <a:p>
            <a:pPr algn="l" indent="0" marL="0">
              <a:buNone/>
            </a:pPr>
            <a:r>
              <a:rPr lang="en-US" sz="1110" dirty="0">
                <a:solidFill>
                  <a:srgbClr val="E8E6E0"/>
                </a:solidFill>
                <a:latin typeface="Arial" pitchFamily="34" charset="0"/>
                <a:ea typeface="Arial" pitchFamily="34" charset="-122"/>
                <a:cs typeface="Arial" pitchFamily="34" charset="-120"/>
              </a:rPr>
              <a:t>Prompt-injection defenses</a:t>
            </a:r>
            <a:endParaRPr lang="en-US" sz="1110" dirty="0"/>
          </a:p>
          <a:p>
            <a:pPr algn="l" indent="0" marL="0">
              <a:buNone/>
            </a:pPr>
            <a:r>
              <a:rPr lang="en-US" sz="1110" dirty="0">
                <a:solidFill>
                  <a:srgbClr val="E8E6E0"/>
                </a:solidFill>
                <a:latin typeface="Arial" pitchFamily="34" charset="0"/>
                <a:ea typeface="Arial" pitchFamily="34" charset="-122"/>
                <a:cs typeface="Arial" pitchFamily="34" charset="-120"/>
              </a:rPr>
              <a:t>Stricter thresholds for autonomous actions</a:t>
            </a:r>
            <a:endParaRPr lang="en-US" sz="1110" dirty="0"/>
          </a:p>
          <a:p>
            <a:pPr algn="l" indent="0" marL="0">
              <a:buNone/>
            </a:pPr>
            <a:r>
              <a:rPr lang="en-US" sz="1110" dirty="0">
                <a:solidFill>
                  <a:srgbClr val="E8E6E0"/>
                </a:solidFill>
                <a:latin typeface="Arial" pitchFamily="34" charset="0"/>
                <a:ea typeface="Arial" pitchFamily="34" charset="-122"/>
                <a:cs typeface="Arial" pitchFamily="34" charset="-120"/>
              </a:rPr>
              <a:t>Versioned regression gates</a:t>
            </a:r>
            <a:endParaRPr lang="en-US" sz="1110" dirty="0"/>
          </a:p>
        </p:txBody>
      </p:sp>
      <p:sp>
        <p:nvSpPr>
          <p:cNvPr id="14" name="Shape 12"/>
          <p:cNvSpPr/>
          <p:nvPr/>
        </p:nvSpPr>
        <p:spPr>
          <a:xfrm>
            <a:off x="731520" y="3922776"/>
            <a:ext cx="5321808" cy="1773936"/>
          </a:xfrm>
          <a:prstGeom prst="roundRect">
            <a:avLst/>
          </a:prstGeom>
          <a:solidFill>
            <a:srgbClr val="3D3320"/>
          </a:solidFill>
          <a:ln w="12700">
            <a:solidFill>
              <a:srgbClr val="E8A33D"/>
            </a:solidFill>
            <a:prstDash val="solid"/>
          </a:ln>
        </p:spPr>
      </p:sp>
      <p:sp>
        <p:nvSpPr>
          <p:cNvPr id="15" name="Text 13"/>
          <p:cNvSpPr txBox="1"/>
          <p:nvPr/>
        </p:nvSpPr>
        <p:spPr>
          <a:xfrm>
            <a:off x="969264" y="4123944"/>
            <a:ext cx="4828032" cy="201168"/>
          </a:xfrm>
          <a:prstGeom prst="rect">
            <a:avLst/>
          </a:prstGeom>
          <a:noFill/>
          <a:ln/>
        </p:spPr>
        <p:txBody>
          <a:bodyPr wrap="square" lIns="0" tIns="0" rIns="0" bIns="0" rtlCol="0" anchor="t">
            <a:normAutofit/>
          </a:bodyPr>
          <a:lstStyle/>
          <a:p>
            <a:pPr algn="l" indent="0" marL="0">
              <a:buNone/>
            </a:pPr>
            <a:r>
              <a:rPr lang="en-US" sz="900" b="1" spc="70" kern="0" dirty="0">
                <a:solidFill>
                  <a:srgbClr val="E8A33D"/>
                </a:solidFill>
                <a:latin typeface="Courier New" pitchFamily="34" charset="0"/>
                <a:ea typeface="Courier New" pitchFamily="34" charset="-122"/>
                <a:cs typeface="Courier New" pitchFamily="34" charset="-120"/>
              </a:rPr>
              <a:t>RELIABILITY + OPERATIONS</a:t>
            </a:r>
            <a:endParaRPr lang="en-US" sz="900" dirty="0"/>
          </a:p>
        </p:txBody>
      </p:sp>
      <p:sp>
        <p:nvSpPr>
          <p:cNvPr id="16" name="Text 14"/>
          <p:cNvSpPr txBox="1"/>
          <p:nvPr/>
        </p:nvSpPr>
        <p:spPr>
          <a:xfrm>
            <a:off x="969264" y="4489704"/>
            <a:ext cx="4828032" cy="960120"/>
          </a:xfrm>
          <a:prstGeom prst="rect">
            <a:avLst/>
          </a:prstGeom>
          <a:noFill/>
          <a:ln/>
        </p:spPr>
        <p:txBody>
          <a:bodyPr wrap="square" lIns="0" tIns="0" rIns="0" bIns="0" rtlCol="0" anchor="t">
            <a:normAutofit/>
          </a:bodyPr>
          <a:lstStyle/>
          <a:p>
            <a:pPr algn="l" indent="0" marL="0">
              <a:buNone/>
            </a:pPr>
            <a:r>
              <a:rPr lang="en-US" sz="1110" dirty="0">
                <a:solidFill>
                  <a:srgbClr val="E8E6E0"/>
                </a:solidFill>
                <a:latin typeface="Arial" pitchFamily="34" charset="0"/>
                <a:ea typeface="Arial" pitchFamily="34" charset="-122"/>
                <a:cs typeface="Arial" pitchFamily="34" charset="-120"/>
              </a:rPr>
              <a:t>Durable queues • retries • dead letters</a:t>
            </a:r>
            <a:endParaRPr lang="en-US" sz="1110" dirty="0"/>
          </a:p>
          <a:p>
            <a:pPr algn="l" indent="0" marL="0">
              <a:buNone/>
            </a:pPr>
            <a:r>
              <a:rPr lang="en-US" sz="1110" dirty="0">
                <a:solidFill>
                  <a:srgbClr val="E8E6E0"/>
                </a:solidFill>
                <a:latin typeface="Arial" pitchFamily="34" charset="0"/>
                <a:ea typeface="Arial" pitchFamily="34" charset="-122"/>
                <a:cs typeface="Arial" pitchFamily="34" charset="-120"/>
              </a:rPr>
              <a:t>Quotas • rate limits • health checks</a:t>
            </a:r>
            <a:endParaRPr lang="en-US" sz="1110" dirty="0"/>
          </a:p>
          <a:p>
            <a:pPr algn="l" indent="0" marL="0">
              <a:buNone/>
            </a:pPr>
            <a:r>
              <a:rPr lang="en-US" sz="1110" dirty="0">
                <a:solidFill>
                  <a:srgbClr val="E8E6E0"/>
                </a:solidFill>
                <a:latin typeface="Arial" pitchFamily="34" charset="0"/>
                <a:ea typeface="Arial" pitchFamily="34" charset="-122"/>
                <a:cs typeface="Arial" pitchFamily="34" charset="-120"/>
              </a:rPr>
              <a:t>Logs • metrics • traces • alerts</a:t>
            </a:r>
            <a:endParaRPr lang="en-US" sz="1110" dirty="0"/>
          </a:p>
          <a:p>
            <a:pPr algn="l" indent="0" marL="0">
              <a:buNone/>
            </a:pPr>
            <a:r>
              <a:rPr lang="en-US" sz="1110" dirty="0">
                <a:solidFill>
                  <a:srgbClr val="E8E6E0"/>
                </a:solidFill>
                <a:latin typeface="Arial" pitchFamily="34" charset="0"/>
                <a:ea typeface="Arial" pitchFamily="34" charset="-122"/>
                <a:cs typeface="Arial" pitchFamily="34" charset="-120"/>
              </a:rPr>
              <a:t>Backups • restore drills • incident response</a:t>
            </a:r>
            <a:endParaRPr lang="en-US" sz="1110" dirty="0"/>
          </a:p>
          <a:p>
            <a:pPr algn="l" indent="0" marL="0">
              <a:buNone/>
            </a:pPr>
            <a:r>
              <a:rPr lang="en-US" sz="1110" dirty="0">
                <a:solidFill>
                  <a:srgbClr val="E8E6E0"/>
                </a:solidFill>
                <a:latin typeface="Arial" pitchFamily="34" charset="0"/>
                <a:ea typeface="Arial" pitchFamily="34" charset="-122"/>
                <a:cs typeface="Arial" pitchFamily="34" charset="-120"/>
              </a:rPr>
              <a:t>Agreed SLO / RTO / RPO</a:t>
            </a:r>
            <a:endParaRPr lang="en-US" sz="1110" dirty="0"/>
          </a:p>
        </p:txBody>
      </p:sp>
      <p:sp>
        <p:nvSpPr>
          <p:cNvPr id="17" name="Shape 15"/>
          <p:cNvSpPr/>
          <p:nvPr/>
        </p:nvSpPr>
        <p:spPr>
          <a:xfrm>
            <a:off x="6108192" y="3922776"/>
            <a:ext cx="5321808" cy="1773936"/>
          </a:xfrm>
          <a:prstGeom prst="roundRect">
            <a:avLst/>
          </a:prstGeom>
          <a:solidFill>
            <a:srgbClr val="3D2020"/>
          </a:solidFill>
          <a:ln w="12700">
            <a:solidFill>
              <a:srgbClr val="E86F6F"/>
            </a:solidFill>
            <a:prstDash val="solid"/>
          </a:ln>
        </p:spPr>
      </p:sp>
      <p:sp>
        <p:nvSpPr>
          <p:cNvPr id="18" name="Text 16"/>
          <p:cNvSpPr txBox="1"/>
          <p:nvPr/>
        </p:nvSpPr>
        <p:spPr>
          <a:xfrm>
            <a:off x="6345936" y="4123944"/>
            <a:ext cx="4828032" cy="201168"/>
          </a:xfrm>
          <a:prstGeom prst="rect">
            <a:avLst/>
          </a:prstGeom>
          <a:noFill/>
          <a:ln/>
        </p:spPr>
        <p:txBody>
          <a:bodyPr wrap="square" lIns="0" tIns="0" rIns="0" bIns="0" rtlCol="0" anchor="t">
            <a:normAutofit/>
          </a:bodyPr>
          <a:lstStyle/>
          <a:p>
            <a:pPr algn="l" indent="0" marL="0">
              <a:buNone/>
            </a:pPr>
            <a:r>
              <a:rPr lang="en-US" sz="900" b="1" spc="70" kern="0" dirty="0">
                <a:solidFill>
                  <a:srgbClr val="E86F6F"/>
                </a:solidFill>
                <a:latin typeface="Courier New" pitchFamily="34" charset="0"/>
                <a:ea typeface="Courier New" pitchFamily="34" charset="-122"/>
                <a:cs typeface="Courier New" pitchFamily="34" charset="-120"/>
              </a:rPr>
              <a:t>COMMUNICATION COMPLIANCE</a:t>
            </a:r>
            <a:endParaRPr lang="en-US" sz="900" dirty="0"/>
          </a:p>
        </p:txBody>
      </p:sp>
      <p:sp>
        <p:nvSpPr>
          <p:cNvPr id="19" name="Text 17"/>
          <p:cNvSpPr txBox="1"/>
          <p:nvPr/>
        </p:nvSpPr>
        <p:spPr>
          <a:xfrm>
            <a:off x="6345936" y="4489704"/>
            <a:ext cx="4828032" cy="960120"/>
          </a:xfrm>
          <a:prstGeom prst="rect">
            <a:avLst/>
          </a:prstGeom>
          <a:noFill/>
          <a:ln/>
        </p:spPr>
        <p:txBody>
          <a:bodyPr wrap="square" lIns="0" tIns="0" rIns="0" bIns="0" rtlCol="0" anchor="t">
            <a:normAutofit/>
          </a:bodyPr>
          <a:lstStyle/>
          <a:p>
            <a:pPr algn="l" indent="0" marL="0">
              <a:buNone/>
            </a:pPr>
            <a:r>
              <a:rPr lang="en-US" sz="1110" dirty="0">
                <a:solidFill>
                  <a:srgbClr val="E8E6E0"/>
                </a:solidFill>
                <a:latin typeface="Arial" pitchFamily="34" charset="0"/>
                <a:ea typeface="Arial" pitchFamily="34" charset="-122"/>
                <a:cs typeface="Arial" pitchFamily="34" charset="-120"/>
              </a:rPr>
              <a:t>AI + recording disclosure</a:t>
            </a:r>
            <a:endParaRPr lang="en-US" sz="1110" dirty="0"/>
          </a:p>
          <a:p>
            <a:pPr algn="l" indent="0" marL="0">
              <a:buNone/>
            </a:pPr>
            <a:r>
              <a:rPr lang="en-US" sz="1110" dirty="0">
                <a:solidFill>
                  <a:srgbClr val="E8E6E0"/>
                </a:solidFill>
                <a:latin typeface="Arial" pitchFamily="34" charset="0"/>
                <a:ea typeface="Arial" pitchFamily="34" charset="-122"/>
                <a:cs typeface="Arial" pitchFamily="34" charset="-120"/>
              </a:rPr>
              <a:t>Outreach consent • do-not-call</a:t>
            </a:r>
            <a:endParaRPr lang="en-US" sz="1110" dirty="0"/>
          </a:p>
          <a:p>
            <a:pPr algn="l" indent="0" marL="0">
              <a:buNone/>
            </a:pPr>
            <a:r>
              <a:rPr lang="en-US" sz="1110" dirty="0">
                <a:solidFill>
                  <a:srgbClr val="E8E6E0"/>
                </a:solidFill>
                <a:latin typeface="Arial" pitchFamily="34" charset="0"/>
                <a:ea typeface="Arial" pitchFamily="34" charset="-122"/>
                <a:cs typeface="Arial" pitchFamily="34" charset="-120"/>
              </a:rPr>
              <a:t>Calling windows • opt-out</a:t>
            </a:r>
            <a:endParaRPr lang="en-US" sz="1110" dirty="0"/>
          </a:p>
          <a:p>
            <a:pPr algn="l" indent="0" marL="0">
              <a:buNone/>
            </a:pPr>
            <a:r>
              <a:rPr lang="en-US" sz="1110" dirty="0">
                <a:solidFill>
                  <a:srgbClr val="E8E6E0"/>
                </a:solidFill>
                <a:latin typeface="Arial" pitchFamily="34" charset="0"/>
                <a:ea typeface="Arial" pitchFamily="34" charset="-122"/>
                <a:cs typeface="Arial" pitchFamily="34" charset="-120"/>
              </a:rPr>
              <a:t>Template approval • retention by region</a:t>
            </a:r>
            <a:endParaRPr lang="en-US" sz="1110" dirty="0"/>
          </a:p>
          <a:p>
            <a:pPr algn="l" indent="0" marL="0">
              <a:buNone/>
            </a:pPr>
            <a:r>
              <a:rPr lang="en-US" sz="1110" dirty="0">
                <a:solidFill>
                  <a:srgbClr val="E8E6E0"/>
                </a:solidFill>
                <a:latin typeface="Arial" pitchFamily="34" charset="0"/>
                <a:ea typeface="Arial" pitchFamily="34" charset="-122"/>
                <a:cs typeface="Arial" pitchFamily="34" charset="-120"/>
              </a:rPr>
              <a:t>Legal review of jurisdictional rules</a:t>
            </a:r>
            <a:endParaRPr lang="en-US" sz="1110" dirty="0"/>
          </a:p>
        </p:txBody>
      </p:sp>
      <p:sp>
        <p:nvSpPr>
          <p:cNvPr id="20" name="Shape 18"/>
          <p:cNvSpPr/>
          <p:nvPr/>
        </p:nvSpPr>
        <p:spPr>
          <a:xfrm>
            <a:off x="1874520" y="5961888"/>
            <a:ext cx="8449056" cy="310896"/>
          </a:xfrm>
          <a:prstGeom prst="roundRect">
            <a:avLst/>
          </a:prstGeom>
          <a:solidFill>
            <a:srgbClr val="100F14"/>
          </a:solidFill>
          <a:ln w="7620">
            <a:solidFill>
              <a:srgbClr val="34323E"/>
            </a:solidFill>
            <a:prstDash val="solid"/>
          </a:ln>
        </p:spPr>
      </p:sp>
      <p:sp>
        <p:nvSpPr>
          <p:cNvPr id="21" name="Text 19"/>
          <p:cNvSpPr txBox="1"/>
          <p:nvPr/>
        </p:nvSpPr>
        <p:spPr>
          <a:xfrm>
            <a:off x="2057400" y="6044184"/>
            <a:ext cx="8083296" cy="137160"/>
          </a:xfrm>
          <a:prstGeom prst="rect">
            <a:avLst/>
          </a:prstGeom>
          <a:noFill/>
          <a:ln/>
        </p:spPr>
        <p:txBody>
          <a:bodyPr wrap="square" lIns="0" tIns="0" rIns="0" bIns="0" rtlCol="0" anchor="t">
            <a:normAutofit/>
          </a:bodyPr>
          <a:lstStyle/>
          <a:p>
            <a:pPr algn="ctr" indent="0" marL="0">
              <a:buNone/>
            </a:pPr>
            <a:r>
              <a:rPr lang="en-US" sz="840" dirty="0">
                <a:solidFill>
                  <a:srgbClr val="9A97A3"/>
                </a:solidFill>
                <a:latin typeface="Arial" pitchFamily="34" charset="0"/>
                <a:ea typeface="Arial" pitchFamily="34" charset="-122"/>
                <a:cs typeface="Arial" pitchFamily="34" charset="-120"/>
              </a:rPr>
              <a:t>Current boundary: raw audio + STT + first gate local; accepted text + bounded context may reach the configured answer model. Current JSONL logs are plaintext.</a:t>
            </a:r>
            <a:endParaRPr lang="en-US" sz="840" dirty="0"/>
          </a:p>
        </p:txBody>
      </p:sp>
      <p:sp>
        <p:nvSpPr>
          <p:cNvPr id="25" name="Slide Number Placeholder 0"/>
          <p:cNvSpPr>
            <a:spLocks noGrp="1"/>
          </p:cNvSpPr>
          <p:nvPr>
            <p:ph type="sldNum" sz="quarter" idx="4294967295"/>
          </p:nvPr>
        </p:nvSpPr>
        <p:spPr>
          <a:xfrm>
            <a:off x="11109960" y="6483096"/>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9A97A3"/>
                </a:solidFill>
                <a:latin typeface="Courier New"/>
                <a:ea typeface="Courier New"/>
                <a:cs typeface="Courier New"/>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161D"/>
        </a:solidFill>
      </p:bgPr>
    </p:bg>
    <p:spTree>
      <p:nvGrpSpPr>
        <p:cNvPr id="1" name=""/>
        <p:cNvGrpSpPr/>
        <p:nvPr/>
      </p:nvGrpSpPr>
      <p:grpSpPr>
        <a:xfrm>
          <a:off x="0" y="0"/>
          <a:ext cx="0" cy="0"/>
          <a:chOff x="0" y="0"/>
          <a:chExt cx="0" cy="0"/>
        </a:xfrm>
      </p:grpSpPr>
      <p:sp>
        <p:nvSpPr>
          <p:cNvPr id="2" name="Text 0"/>
          <p:cNvSpPr txBox="1"/>
          <p:nvPr/>
        </p:nvSpPr>
        <p:spPr>
          <a:xfrm>
            <a:off x="713232" y="384048"/>
            <a:ext cx="5120640" cy="219456"/>
          </a:xfrm>
          <a:prstGeom prst="rect">
            <a:avLst/>
          </a:prstGeom>
          <a:noFill/>
          <a:ln/>
        </p:spPr>
        <p:txBody>
          <a:bodyPr wrap="square" lIns="0" tIns="0" rIns="0" bIns="0" rtlCol="0" anchor="t">
            <a:normAutofit/>
          </a:bodyPr>
          <a:lstStyle/>
          <a:p>
            <a:pPr algn="l" indent="0" marL="0">
              <a:buNone/>
            </a:pPr>
            <a:r>
              <a:rPr lang="en-US" sz="900" b="1" spc="210" kern="0" dirty="0">
                <a:solidFill>
                  <a:srgbClr val="9A97A3"/>
                </a:solidFill>
                <a:latin typeface="Courier New" pitchFamily="34" charset="0"/>
                <a:ea typeface="Courier New" pitchFamily="34" charset="-122"/>
                <a:cs typeface="Courier New" pitchFamily="34" charset="-120"/>
              </a:rPr>
              <a:t>TARGET OPERATING MODEL</a:t>
            </a:r>
            <a:endParaRPr lang="en-US" sz="900" dirty="0"/>
          </a:p>
        </p:txBody>
      </p:sp>
      <p:sp>
        <p:nvSpPr>
          <p:cNvPr id="3" name="Text 1"/>
          <p:cNvSpPr txBox="1"/>
          <p:nvPr/>
        </p:nvSpPr>
        <p:spPr>
          <a:xfrm>
            <a:off x="10424160" y="347472"/>
            <a:ext cx="1051560" cy="228600"/>
          </a:xfrm>
          <a:prstGeom prst="rect">
            <a:avLst/>
          </a:prstGeom>
          <a:noFill/>
          <a:ln/>
        </p:spPr>
        <p:txBody>
          <a:bodyPr wrap="square" lIns="0" tIns="0" rIns="0" bIns="0" rtlCol="0" anchor="t">
            <a:normAutofit/>
          </a:bodyPr>
          <a:lstStyle/>
          <a:p>
            <a:pPr algn="r" indent="0" marL="0">
              <a:buNone/>
            </a:pPr>
            <a:r>
              <a:rPr lang="en-US" sz="1000" b="1" spc="240" kern="0" dirty="0">
                <a:solidFill>
                  <a:srgbClr val="E8E6E0"/>
                </a:solidFill>
                <a:latin typeface="Courier New" pitchFamily="34" charset="0"/>
                <a:ea typeface="Courier New" pitchFamily="34" charset="-122"/>
                <a:cs typeface="Courier New" pitchFamily="34" charset="-120"/>
              </a:rPr>
              <a:t>CYBIC</a:t>
            </a:r>
            <a:endParaRPr lang="en-US" sz="1000" dirty="0"/>
          </a:p>
        </p:txBody>
      </p:sp>
      <p:sp>
        <p:nvSpPr>
          <p:cNvPr id="4" name="Text 2"/>
          <p:cNvSpPr txBox="1"/>
          <p:nvPr/>
        </p:nvSpPr>
        <p:spPr>
          <a:xfrm>
            <a:off x="685800" y="713232"/>
            <a:ext cx="10744200" cy="566928"/>
          </a:xfrm>
          <a:prstGeom prst="rect">
            <a:avLst/>
          </a:prstGeom>
          <a:noFill/>
          <a:ln/>
        </p:spPr>
        <p:txBody>
          <a:bodyPr wrap="square" lIns="0" tIns="0" rIns="0" bIns="0" rtlCol="0" anchor="t">
            <a:normAutofit/>
          </a:bodyPr>
          <a:lstStyle/>
          <a:p>
            <a:pPr algn="l" indent="0" marL="0">
              <a:buNone/>
            </a:pPr>
            <a:r>
              <a:rPr lang="en-US" sz="2800" b="1" dirty="0">
                <a:solidFill>
                  <a:srgbClr val="6FB3E8"/>
                </a:solidFill>
                <a:latin typeface="Arial" pitchFamily="34" charset="0"/>
                <a:ea typeface="Arial" pitchFamily="34" charset="-122"/>
                <a:cs typeface="Arial" pitchFamily="34" charset="-120"/>
              </a:rPr>
              <a:t>Administration, analytics, and automation close the loop</a:t>
            </a:r>
            <a:endParaRPr lang="en-US" sz="2800" dirty="0"/>
          </a:p>
        </p:txBody>
      </p:sp>
      <p:sp>
        <p:nvSpPr>
          <p:cNvPr id="5" name="Text 3"/>
          <p:cNvSpPr txBox="1"/>
          <p:nvPr/>
        </p:nvSpPr>
        <p:spPr>
          <a:xfrm>
            <a:off x="713232" y="1298448"/>
            <a:ext cx="10607040" cy="411480"/>
          </a:xfrm>
          <a:prstGeom prst="rect">
            <a:avLst/>
          </a:prstGeom>
          <a:noFill/>
          <a:ln/>
        </p:spPr>
        <p:txBody>
          <a:bodyPr wrap="square" lIns="0" tIns="0" rIns="0" bIns="0" rtlCol="0" anchor="t">
            <a:normAutofit/>
          </a:bodyPr>
          <a:lstStyle/>
          <a:p>
            <a:pPr algn="l" indent="0" marL="0">
              <a:buNone/>
            </a:pPr>
            <a:r>
              <a:rPr lang="en-US" sz="1350" dirty="0">
                <a:solidFill>
                  <a:srgbClr val="9A97A3"/>
                </a:solidFill>
                <a:latin typeface="Arial" pitchFamily="34" charset="0"/>
                <a:ea typeface="Arial" pitchFamily="34" charset="-122"/>
                <a:cs typeface="Arial" pitchFamily="34" charset="-120"/>
              </a:rPr>
              <a:t>Instrument the customer journey once; govern and measure every outcome.</a:t>
            </a:r>
            <a:endParaRPr lang="en-US" sz="1350" dirty="0"/>
          </a:p>
        </p:txBody>
      </p:sp>
      <p:sp>
        <p:nvSpPr>
          <p:cNvPr id="6" name="Shape 4"/>
          <p:cNvSpPr/>
          <p:nvPr/>
        </p:nvSpPr>
        <p:spPr>
          <a:xfrm>
            <a:off x="658368" y="6428232"/>
            <a:ext cx="10863072" cy="0"/>
          </a:xfrm>
          <a:prstGeom prst="line">
            <a:avLst/>
          </a:prstGeom>
          <a:noFill/>
          <a:ln w="8890">
            <a:solidFill>
              <a:srgbClr val="34323E"/>
            </a:solidFill>
            <a:prstDash val="solid"/>
          </a:ln>
        </p:spPr>
      </p:sp>
      <p:sp>
        <p:nvSpPr>
          <p:cNvPr id="7" name="Text 5"/>
          <p:cNvSpPr txBox="1"/>
          <p:nvPr/>
        </p:nvSpPr>
        <p:spPr>
          <a:xfrm>
            <a:off x="685800" y="6473952"/>
            <a:ext cx="2926080" cy="146304"/>
          </a:xfrm>
          <a:prstGeom prst="rect">
            <a:avLst/>
          </a:prstGeom>
          <a:noFill/>
          <a:ln/>
        </p:spPr>
        <p:txBody>
          <a:bodyPr wrap="square" lIns="0" tIns="0" rIns="0" bIns="0" rtlCol="0" anchor="t">
            <a:normAutofit/>
          </a:bodyPr>
          <a:lstStyle/>
          <a:p>
            <a:pPr algn="l" indent="0" marL="0">
              <a:buNone/>
            </a:pPr>
            <a:r>
              <a:rPr lang="en-US" sz="750" spc="120" kern="0" dirty="0">
                <a:solidFill>
                  <a:srgbClr val="9A97A3"/>
                </a:solidFill>
                <a:latin typeface="Courier New" pitchFamily="34" charset="0"/>
                <a:ea typeface="Courier New" pitchFamily="34" charset="-122"/>
                <a:cs typeface="Courier New" pitchFamily="34" charset="-120"/>
              </a:rPr>
              <a:t>CYBIC  •  CONFIDENTIAL</a:t>
            </a:r>
            <a:endParaRPr lang="en-US" sz="750" dirty="0"/>
          </a:p>
        </p:txBody>
      </p:sp>
      <p:sp>
        <p:nvSpPr>
          <p:cNvPr id="8" name="Shape 6"/>
          <p:cNvSpPr/>
          <p:nvPr/>
        </p:nvSpPr>
        <p:spPr>
          <a:xfrm>
            <a:off x="713232" y="1773936"/>
            <a:ext cx="3401568" cy="4187952"/>
          </a:xfrm>
          <a:prstGeom prst="roundRect">
            <a:avLst/>
          </a:prstGeom>
          <a:solidFill>
            <a:srgbClr val="20303D"/>
          </a:solidFill>
          <a:ln w="12700">
            <a:solidFill>
              <a:srgbClr val="6FB3E8"/>
            </a:solidFill>
            <a:prstDash val="solid"/>
          </a:ln>
        </p:spPr>
      </p:sp>
      <p:sp>
        <p:nvSpPr>
          <p:cNvPr id="9" name="Shape 7"/>
          <p:cNvSpPr/>
          <p:nvPr/>
        </p:nvSpPr>
        <p:spPr>
          <a:xfrm>
            <a:off x="914400" y="1938528"/>
            <a:ext cx="868680" cy="256032"/>
          </a:xfrm>
          <a:prstGeom prst="roundRect">
            <a:avLst/>
          </a:prstGeom>
          <a:solidFill>
            <a:srgbClr val="1E1E28"/>
          </a:solidFill>
          <a:ln w="10160">
            <a:solidFill>
              <a:srgbClr val="6FB3E8"/>
            </a:solidFill>
            <a:prstDash val="solid"/>
          </a:ln>
        </p:spPr>
      </p:sp>
      <p:sp>
        <p:nvSpPr>
          <p:cNvPr id="10" name="Text 8"/>
          <p:cNvSpPr txBox="1"/>
          <p:nvPr/>
        </p:nvSpPr>
        <p:spPr>
          <a:xfrm>
            <a:off x="960120" y="1975104"/>
            <a:ext cx="777240" cy="192024"/>
          </a:xfrm>
          <a:prstGeom prst="rect">
            <a:avLst/>
          </a:prstGeom>
          <a:noFill/>
          <a:ln/>
        </p:spPr>
        <p:txBody>
          <a:bodyPr wrap="square" lIns="0" tIns="0" rIns="0" bIns="0" rtlCol="0" anchor="ctr">
            <a:normAutofit/>
          </a:bodyPr>
          <a:lstStyle/>
          <a:p>
            <a:pPr algn="ctr" indent="0" marL="0">
              <a:buNone/>
            </a:pPr>
            <a:r>
              <a:rPr lang="en-US" sz="750" b="1" spc="100" kern="0" dirty="0">
                <a:solidFill>
                  <a:srgbClr val="6FB3E8"/>
                </a:solidFill>
                <a:latin typeface="Courier New" pitchFamily="34" charset="0"/>
                <a:ea typeface="Courier New" pitchFamily="34" charset="-122"/>
                <a:cs typeface="Courier New" pitchFamily="34" charset="-120"/>
              </a:rPr>
              <a:t>GOVERN</a:t>
            </a:r>
            <a:endParaRPr lang="en-US" sz="750" dirty="0"/>
          </a:p>
        </p:txBody>
      </p:sp>
      <p:sp>
        <p:nvSpPr>
          <p:cNvPr id="11" name="Text 9"/>
          <p:cNvSpPr txBox="1"/>
          <p:nvPr/>
        </p:nvSpPr>
        <p:spPr>
          <a:xfrm>
            <a:off x="932688" y="2304288"/>
            <a:ext cx="2962656" cy="384048"/>
          </a:xfrm>
          <a:prstGeom prst="rect">
            <a:avLst/>
          </a:prstGeom>
          <a:noFill/>
          <a:ln/>
        </p:spPr>
        <p:txBody>
          <a:bodyPr wrap="square" lIns="0" tIns="0" rIns="0" bIns="0" rtlCol="0" anchor="t">
            <a:normAutofit/>
          </a:bodyPr>
          <a:lstStyle/>
          <a:p>
            <a:pPr algn="l" indent="0" marL="0">
              <a:buNone/>
            </a:pPr>
            <a:r>
              <a:rPr lang="en-US" sz="1700" b="1" dirty="0">
                <a:solidFill>
                  <a:srgbClr val="6FB3E8"/>
                </a:solidFill>
                <a:latin typeface="Arial" pitchFamily="34" charset="0"/>
                <a:ea typeface="Arial" pitchFamily="34" charset="-122"/>
                <a:cs typeface="Arial" pitchFamily="34" charset="-120"/>
              </a:rPr>
              <a:t>Admin control plane</a:t>
            </a:r>
            <a:endParaRPr lang="en-US" sz="1700" dirty="0"/>
          </a:p>
        </p:txBody>
      </p:sp>
      <p:sp>
        <p:nvSpPr>
          <p:cNvPr id="12" name="Text 10"/>
          <p:cNvSpPr txBox="1"/>
          <p:nvPr/>
        </p:nvSpPr>
        <p:spPr>
          <a:xfrm>
            <a:off x="932688" y="2761488"/>
            <a:ext cx="2962656" cy="2999232"/>
          </a:xfrm>
          <a:prstGeom prst="rect">
            <a:avLst/>
          </a:prstGeom>
          <a:noFill/>
          <a:ln/>
        </p:spPr>
        <p:txBody>
          <a:bodyPr wrap="square" lIns="0" tIns="0" rIns="0" bIns="0" rtlCol="0" anchor="t">
            <a:normAutofit/>
          </a:bodyPr>
          <a:lstStyle/>
          <a:p>
            <a:pPr algn="l" indent="0" marL="0">
              <a:buNone/>
            </a:pPr>
            <a:r>
              <a:rPr lang="en-US" sz="1210" dirty="0">
                <a:solidFill>
                  <a:srgbClr val="E8E6E0"/>
                </a:solidFill>
                <a:latin typeface="Arial" pitchFamily="34" charset="0"/>
                <a:ea typeface="Arial" pitchFamily="34" charset="-122"/>
                <a:cs typeface="Arial" pitchFamily="34" charset="-120"/>
              </a:rPr>
              <a:t>Users + permissions</a:t>
            </a:r>
            <a:endParaRPr lang="en-US" sz="1210" dirty="0"/>
          </a:p>
          <a:p>
            <a:pPr algn="l" indent="0" marL="0">
              <a:buNone/>
            </a:pPr>
            <a:endParaRPr lang="en-US" sz="1210" dirty="0"/>
          </a:p>
          <a:p>
            <a:pPr algn="l" indent="0" marL="0">
              <a:buNone/>
            </a:pPr>
            <a:r>
              <a:rPr lang="en-US" sz="1210" dirty="0">
                <a:solidFill>
                  <a:srgbClr val="E8E6E0"/>
                </a:solidFill>
                <a:latin typeface="Arial" pitchFamily="34" charset="0"/>
                <a:ea typeface="Arial" pitchFamily="34" charset="-122"/>
                <a:cs typeface="Arial" pitchFamily="34" charset="-120"/>
              </a:rPr>
              <a:t>Knowledge approve / publish / rollback</a:t>
            </a:r>
            <a:endParaRPr lang="en-US" sz="1210" dirty="0"/>
          </a:p>
          <a:p>
            <a:pPr algn="l" indent="0" marL="0">
              <a:buNone/>
            </a:pPr>
            <a:endParaRPr lang="en-US" sz="1210" dirty="0"/>
          </a:p>
          <a:p>
            <a:pPr algn="l" indent="0" marL="0">
              <a:buNone/>
            </a:pPr>
            <a:r>
              <a:rPr lang="en-US" sz="1210" dirty="0">
                <a:solidFill>
                  <a:srgbClr val="E8E6E0"/>
                </a:solidFill>
                <a:latin typeface="Arial" pitchFamily="34" charset="0"/>
                <a:ea typeface="Arial" pitchFamily="34" charset="-122"/>
                <a:cs typeface="Arial" pitchFamily="34" charset="-120"/>
              </a:rPr>
              <a:t>Prompt + behavior versions</a:t>
            </a:r>
            <a:endParaRPr lang="en-US" sz="1210" dirty="0"/>
          </a:p>
          <a:p>
            <a:pPr algn="l" indent="0" marL="0">
              <a:buNone/>
            </a:pPr>
            <a:endParaRPr lang="en-US" sz="1210" dirty="0"/>
          </a:p>
          <a:p>
            <a:pPr algn="l" indent="0" marL="0">
              <a:buNone/>
            </a:pPr>
            <a:r>
              <a:rPr lang="en-US" sz="1210" dirty="0">
                <a:solidFill>
                  <a:srgbClr val="E8E6E0"/>
                </a:solidFill>
                <a:latin typeface="Arial" pitchFamily="34" charset="0"/>
                <a:ea typeface="Arial" pitchFamily="34" charset="-122"/>
                <a:cs typeface="Arial" pitchFamily="34" charset="-120"/>
              </a:rPr>
              <a:t>Workflow builder + rules</a:t>
            </a:r>
            <a:endParaRPr lang="en-US" sz="1210" dirty="0"/>
          </a:p>
          <a:p>
            <a:pPr algn="l" indent="0" marL="0">
              <a:buNone/>
            </a:pPr>
            <a:endParaRPr lang="en-US" sz="1210" dirty="0"/>
          </a:p>
          <a:p>
            <a:pPr algn="l" indent="0" marL="0">
              <a:buNone/>
            </a:pPr>
            <a:r>
              <a:rPr lang="en-US" sz="1210" dirty="0">
                <a:solidFill>
                  <a:srgbClr val="E8E6E0"/>
                </a:solidFill>
                <a:latin typeface="Arial" pitchFamily="34" charset="0"/>
                <a:ea typeface="Arial" pitchFamily="34" charset="-122"/>
                <a:cs typeface="Arial" pitchFamily="34" charset="-120"/>
              </a:rPr>
              <a:t>Integration credentials + health</a:t>
            </a:r>
            <a:endParaRPr lang="en-US" sz="1210" dirty="0"/>
          </a:p>
          <a:p>
            <a:pPr algn="l" indent="0" marL="0">
              <a:buNone/>
            </a:pPr>
            <a:endParaRPr lang="en-US" sz="1210" dirty="0"/>
          </a:p>
          <a:p>
            <a:pPr algn="l" indent="0" marL="0">
              <a:buNone/>
            </a:pPr>
            <a:r>
              <a:rPr lang="en-US" sz="1210" dirty="0">
                <a:solidFill>
                  <a:srgbClr val="E8E6E0"/>
                </a:solidFill>
                <a:latin typeface="Arial" pitchFamily="34" charset="0"/>
                <a:ea typeface="Arial" pitchFamily="34" charset="-122"/>
                <a:cs typeface="Arial" pitchFamily="34" charset="-120"/>
              </a:rPr>
              <a:t>Transcript / recording review</a:t>
            </a:r>
            <a:endParaRPr lang="en-US" sz="1210" dirty="0"/>
          </a:p>
          <a:p>
            <a:pPr algn="l" indent="0" marL="0">
              <a:buNone/>
            </a:pPr>
            <a:endParaRPr lang="en-US" sz="1210" dirty="0"/>
          </a:p>
          <a:p>
            <a:pPr algn="l" indent="0" marL="0">
              <a:buNone/>
            </a:pPr>
            <a:r>
              <a:rPr lang="en-US" sz="1210" dirty="0">
                <a:solidFill>
                  <a:srgbClr val="E8E6E0"/>
                </a:solidFill>
                <a:latin typeface="Arial" pitchFamily="34" charset="0"/>
                <a:ea typeface="Arial" pitchFamily="34" charset="-122"/>
                <a:cs typeface="Arial" pitchFamily="34" charset="-120"/>
              </a:rPr>
              <a:t>Templates + tenant settings</a:t>
            </a:r>
            <a:endParaRPr lang="en-US" sz="1210" dirty="0"/>
          </a:p>
        </p:txBody>
      </p:sp>
      <p:sp>
        <p:nvSpPr>
          <p:cNvPr id="13" name="Shape 11"/>
          <p:cNvSpPr/>
          <p:nvPr/>
        </p:nvSpPr>
        <p:spPr>
          <a:xfrm>
            <a:off x="4389120" y="1773936"/>
            <a:ext cx="3401568" cy="4187952"/>
          </a:xfrm>
          <a:prstGeom prst="roundRect">
            <a:avLst/>
          </a:prstGeom>
          <a:solidFill>
            <a:srgbClr val="20382F"/>
          </a:solidFill>
          <a:ln w="12700">
            <a:solidFill>
              <a:srgbClr val="7CC7A5"/>
            </a:solidFill>
            <a:prstDash val="solid"/>
          </a:ln>
        </p:spPr>
      </p:sp>
      <p:sp>
        <p:nvSpPr>
          <p:cNvPr id="14" name="Shape 12"/>
          <p:cNvSpPr/>
          <p:nvPr/>
        </p:nvSpPr>
        <p:spPr>
          <a:xfrm>
            <a:off x="4590288" y="1938528"/>
            <a:ext cx="932688" cy="256032"/>
          </a:xfrm>
          <a:prstGeom prst="roundRect">
            <a:avLst/>
          </a:prstGeom>
          <a:solidFill>
            <a:srgbClr val="1E1E28"/>
          </a:solidFill>
          <a:ln w="10160">
            <a:solidFill>
              <a:srgbClr val="7CC7A5"/>
            </a:solidFill>
            <a:prstDash val="solid"/>
          </a:ln>
        </p:spPr>
      </p:sp>
      <p:sp>
        <p:nvSpPr>
          <p:cNvPr id="15" name="Text 13"/>
          <p:cNvSpPr txBox="1"/>
          <p:nvPr/>
        </p:nvSpPr>
        <p:spPr>
          <a:xfrm>
            <a:off x="4636008" y="1975104"/>
            <a:ext cx="841248" cy="192024"/>
          </a:xfrm>
          <a:prstGeom prst="rect">
            <a:avLst/>
          </a:prstGeom>
          <a:noFill/>
          <a:ln/>
        </p:spPr>
        <p:txBody>
          <a:bodyPr wrap="square" lIns="0" tIns="0" rIns="0" bIns="0" rtlCol="0" anchor="ctr">
            <a:normAutofit/>
          </a:bodyPr>
          <a:lstStyle/>
          <a:p>
            <a:pPr algn="ctr" indent="0" marL="0">
              <a:buNone/>
            </a:pPr>
            <a:r>
              <a:rPr lang="en-US" sz="750" b="1" spc="100" kern="0" dirty="0">
                <a:solidFill>
                  <a:srgbClr val="7CC7A5"/>
                </a:solidFill>
                <a:latin typeface="Courier New" pitchFamily="34" charset="0"/>
                <a:ea typeface="Courier New" pitchFamily="34" charset="-122"/>
                <a:cs typeface="Courier New" pitchFamily="34" charset="-120"/>
              </a:rPr>
              <a:t>MEASURE</a:t>
            </a:r>
            <a:endParaRPr lang="en-US" sz="750" dirty="0"/>
          </a:p>
        </p:txBody>
      </p:sp>
      <p:sp>
        <p:nvSpPr>
          <p:cNvPr id="16" name="Text 14"/>
          <p:cNvSpPr txBox="1"/>
          <p:nvPr/>
        </p:nvSpPr>
        <p:spPr>
          <a:xfrm>
            <a:off x="4608576" y="2304288"/>
            <a:ext cx="2962656" cy="384048"/>
          </a:xfrm>
          <a:prstGeom prst="rect">
            <a:avLst/>
          </a:prstGeom>
          <a:noFill/>
          <a:ln/>
        </p:spPr>
        <p:txBody>
          <a:bodyPr wrap="square" lIns="0" tIns="0" rIns="0" bIns="0" rtlCol="0" anchor="t">
            <a:normAutofit/>
          </a:bodyPr>
          <a:lstStyle/>
          <a:p>
            <a:pPr algn="l" indent="0" marL="0">
              <a:buNone/>
            </a:pPr>
            <a:r>
              <a:rPr lang="en-US" sz="1700" b="1" dirty="0">
                <a:solidFill>
                  <a:srgbClr val="7CC7A5"/>
                </a:solidFill>
                <a:latin typeface="Arial" pitchFamily="34" charset="0"/>
                <a:ea typeface="Arial" pitchFamily="34" charset="-122"/>
                <a:cs typeface="Arial" pitchFamily="34" charset="-120"/>
              </a:rPr>
              <a:t>Executive analytics</a:t>
            </a:r>
            <a:endParaRPr lang="en-US" sz="1700" dirty="0"/>
          </a:p>
        </p:txBody>
      </p:sp>
      <p:sp>
        <p:nvSpPr>
          <p:cNvPr id="17" name="Text 15"/>
          <p:cNvSpPr txBox="1"/>
          <p:nvPr/>
        </p:nvSpPr>
        <p:spPr>
          <a:xfrm>
            <a:off x="4608576" y="2761488"/>
            <a:ext cx="2962656" cy="2999232"/>
          </a:xfrm>
          <a:prstGeom prst="rect">
            <a:avLst/>
          </a:prstGeom>
          <a:noFill/>
          <a:ln/>
        </p:spPr>
        <p:txBody>
          <a:bodyPr wrap="square" lIns="0" tIns="0" rIns="0" bIns="0" rtlCol="0" anchor="t">
            <a:normAutofit/>
          </a:bodyPr>
          <a:lstStyle/>
          <a:p>
            <a:pPr algn="l" indent="0" marL="0">
              <a:buNone/>
            </a:pPr>
            <a:r>
              <a:rPr lang="en-US" sz="950" dirty="0">
                <a:solidFill>
                  <a:srgbClr val="E8E6E0"/>
                </a:solidFill>
                <a:latin typeface="Arial" pitchFamily="34" charset="0"/>
                <a:ea typeface="Arial" pitchFamily="34" charset="-122"/>
                <a:cs typeface="Arial" pitchFamily="34" charset="-120"/>
              </a:rPr>
              <a:t>SALES</a:t>
            </a:r>
            <a:endParaRPr lang="en-US" sz="950" dirty="0"/>
          </a:p>
          <a:p>
            <a:pPr algn="l" indent="0" marL="0">
              <a:buNone/>
            </a:pPr>
            <a:r>
              <a:rPr lang="en-US" sz="950" dirty="0">
                <a:solidFill>
                  <a:srgbClr val="E8E6E0"/>
                </a:solidFill>
                <a:latin typeface="Arial" pitchFamily="34" charset="0"/>
                <a:ea typeface="Arial" pitchFamily="34" charset="-122"/>
                <a:cs typeface="Arial" pitchFamily="34" charset="-120"/>
              </a:rPr>
              <a:t>Lead • qualified • appointment • demo • close • revenue</a:t>
            </a:r>
            <a:endParaRPr lang="en-US" sz="950" dirty="0"/>
          </a:p>
          <a:p>
            <a:pPr algn="l" indent="0" marL="0">
              <a:buNone/>
            </a:pPr>
            <a:endParaRPr lang="en-US" sz="950" dirty="0"/>
          </a:p>
          <a:p>
            <a:pPr algn="l" indent="0" marL="0">
              <a:buNone/>
            </a:pPr>
            <a:r>
              <a:rPr lang="en-US" sz="950" dirty="0">
                <a:solidFill>
                  <a:srgbClr val="E8E6E0"/>
                </a:solidFill>
                <a:latin typeface="Arial" pitchFamily="34" charset="0"/>
                <a:ea typeface="Arial" pitchFamily="34" charset="-122"/>
                <a:cs typeface="Arial" pitchFamily="34" charset="-120"/>
              </a:rPr>
              <a:t>MARKETING</a:t>
            </a:r>
            <a:endParaRPr lang="en-US" sz="950" dirty="0"/>
          </a:p>
          <a:p>
            <a:pPr algn="l" indent="0" marL="0">
              <a:buNone/>
            </a:pPr>
            <a:r>
              <a:rPr lang="en-US" sz="950" dirty="0">
                <a:solidFill>
                  <a:srgbClr val="E8E6E0"/>
                </a:solidFill>
                <a:latin typeface="Arial" pitchFamily="34" charset="0"/>
                <a:ea typeface="Arial" pitchFamily="34" charset="-122"/>
                <a:cs typeface="Arial" pitchFamily="34" charset="-120"/>
              </a:rPr>
              <a:t>Source • CPL • CPA • cost/sale • ROI</a:t>
            </a:r>
            <a:endParaRPr lang="en-US" sz="950" dirty="0"/>
          </a:p>
          <a:p>
            <a:pPr algn="l" indent="0" marL="0">
              <a:buNone/>
            </a:pPr>
            <a:endParaRPr lang="en-US" sz="950" dirty="0"/>
          </a:p>
          <a:p>
            <a:pPr algn="l" indent="0" marL="0">
              <a:buNone/>
            </a:pPr>
            <a:r>
              <a:rPr lang="en-US" sz="950" dirty="0">
                <a:solidFill>
                  <a:srgbClr val="E8E6E0"/>
                </a:solidFill>
                <a:latin typeface="Arial" pitchFamily="34" charset="0"/>
                <a:ea typeface="Arial" pitchFamily="34" charset="-122"/>
                <a:cs typeface="Arial" pitchFamily="34" charset="-120"/>
              </a:rPr>
              <a:t>CONTACT CENTER</a:t>
            </a:r>
            <a:endParaRPr lang="en-US" sz="950" dirty="0"/>
          </a:p>
          <a:p>
            <a:pPr algn="l" indent="0" marL="0">
              <a:buNone/>
            </a:pPr>
            <a:r>
              <a:rPr lang="en-US" sz="950" dirty="0">
                <a:solidFill>
                  <a:srgbClr val="E8E6E0"/>
                </a:solidFill>
                <a:latin typeface="Arial" pitchFamily="34" charset="0"/>
                <a:ea typeface="Arial" pitchFamily="34" charset="-122"/>
                <a:cs typeface="Arial" pitchFamily="34" charset="-120"/>
              </a:rPr>
              <a:t>Service level • ASA • AHT • abandon • occupancy • FCR • CSAT • NPS</a:t>
            </a:r>
            <a:endParaRPr lang="en-US" sz="950" dirty="0"/>
          </a:p>
          <a:p>
            <a:pPr algn="l" indent="0" marL="0">
              <a:buNone/>
            </a:pPr>
            <a:endParaRPr lang="en-US" sz="950" dirty="0"/>
          </a:p>
          <a:p>
            <a:pPr algn="l" indent="0" marL="0">
              <a:buNone/>
            </a:pPr>
            <a:r>
              <a:rPr lang="en-US" sz="950" dirty="0">
                <a:solidFill>
                  <a:srgbClr val="E8E6E0"/>
                </a:solidFill>
                <a:latin typeface="Arial" pitchFamily="34" charset="0"/>
                <a:ea typeface="Arial" pitchFamily="34" charset="-122"/>
                <a:cs typeface="Arial" pitchFamily="34" charset="-120"/>
              </a:rPr>
              <a:t>AI</a:t>
            </a:r>
            <a:endParaRPr lang="en-US" sz="950" dirty="0"/>
          </a:p>
          <a:p>
            <a:pPr algn="l" indent="0" marL="0">
              <a:buNone/>
            </a:pPr>
            <a:r>
              <a:rPr lang="en-US" sz="950" dirty="0">
                <a:solidFill>
                  <a:srgbClr val="E8E6E0"/>
                </a:solidFill>
                <a:latin typeface="Arial" pitchFamily="34" charset="0"/>
                <a:ea typeface="Arial" pitchFamily="34" charset="-122"/>
                <a:cs typeface="Arial" pitchFamily="34" charset="-120"/>
              </a:rPr>
              <a:t>Resolution • escalation • booking • accuracy • duration • automation • savings</a:t>
            </a:r>
            <a:endParaRPr lang="en-US" sz="950" dirty="0"/>
          </a:p>
        </p:txBody>
      </p:sp>
      <p:sp>
        <p:nvSpPr>
          <p:cNvPr id="18" name="Shape 16"/>
          <p:cNvSpPr/>
          <p:nvPr/>
        </p:nvSpPr>
        <p:spPr>
          <a:xfrm>
            <a:off x="8065008" y="1773936"/>
            <a:ext cx="3200400" cy="4187952"/>
          </a:xfrm>
          <a:prstGeom prst="roundRect">
            <a:avLst/>
          </a:prstGeom>
          <a:solidFill>
            <a:srgbClr val="3D3320"/>
          </a:solidFill>
          <a:ln w="12700">
            <a:solidFill>
              <a:srgbClr val="E8A33D"/>
            </a:solidFill>
            <a:prstDash val="solid"/>
          </a:ln>
        </p:spPr>
      </p:sp>
      <p:sp>
        <p:nvSpPr>
          <p:cNvPr id="19" name="Shape 17"/>
          <p:cNvSpPr/>
          <p:nvPr/>
        </p:nvSpPr>
        <p:spPr>
          <a:xfrm>
            <a:off x="8266176" y="1938528"/>
            <a:ext cx="685800" cy="256032"/>
          </a:xfrm>
          <a:prstGeom prst="roundRect">
            <a:avLst/>
          </a:prstGeom>
          <a:solidFill>
            <a:srgbClr val="1E1E28"/>
          </a:solidFill>
          <a:ln w="10160">
            <a:solidFill>
              <a:srgbClr val="E8A33D"/>
            </a:solidFill>
            <a:prstDash val="solid"/>
          </a:ln>
        </p:spPr>
      </p:sp>
      <p:sp>
        <p:nvSpPr>
          <p:cNvPr id="20" name="Text 18"/>
          <p:cNvSpPr txBox="1"/>
          <p:nvPr/>
        </p:nvSpPr>
        <p:spPr>
          <a:xfrm>
            <a:off x="8311896" y="1975104"/>
            <a:ext cx="594360" cy="192024"/>
          </a:xfrm>
          <a:prstGeom prst="rect">
            <a:avLst/>
          </a:prstGeom>
          <a:noFill/>
          <a:ln/>
        </p:spPr>
        <p:txBody>
          <a:bodyPr wrap="square" lIns="0" tIns="0" rIns="0" bIns="0" rtlCol="0" anchor="ctr">
            <a:normAutofit/>
          </a:bodyPr>
          <a:lstStyle/>
          <a:p>
            <a:pPr algn="ctr" indent="0" marL="0">
              <a:buNone/>
            </a:pPr>
            <a:r>
              <a:rPr lang="en-US" sz="750" b="1" spc="100" kern="0" dirty="0">
                <a:solidFill>
                  <a:srgbClr val="E8A33D"/>
                </a:solidFill>
                <a:latin typeface="Courier New" pitchFamily="34" charset="0"/>
                <a:ea typeface="Courier New" pitchFamily="34" charset="-122"/>
                <a:cs typeface="Courier New" pitchFamily="34" charset="-120"/>
              </a:rPr>
              <a:t>ACT</a:t>
            </a:r>
            <a:endParaRPr lang="en-US" sz="750" dirty="0"/>
          </a:p>
        </p:txBody>
      </p:sp>
      <p:sp>
        <p:nvSpPr>
          <p:cNvPr id="21" name="Text 19"/>
          <p:cNvSpPr txBox="1"/>
          <p:nvPr/>
        </p:nvSpPr>
        <p:spPr>
          <a:xfrm>
            <a:off x="8284464" y="2304288"/>
            <a:ext cx="2761488" cy="384048"/>
          </a:xfrm>
          <a:prstGeom prst="rect">
            <a:avLst/>
          </a:prstGeom>
          <a:noFill/>
          <a:ln/>
        </p:spPr>
        <p:txBody>
          <a:bodyPr wrap="square" lIns="0" tIns="0" rIns="0" bIns="0" rtlCol="0" anchor="t">
            <a:normAutofit/>
          </a:bodyPr>
          <a:lstStyle/>
          <a:p>
            <a:pPr algn="l" indent="0" marL="0">
              <a:buNone/>
            </a:pPr>
            <a:r>
              <a:rPr lang="en-US" sz="1700" b="1" dirty="0">
                <a:solidFill>
                  <a:srgbClr val="E8A33D"/>
                </a:solidFill>
                <a:latin typeface="Arial" pitchFamily="34" charset="0"/>
                <a:ea typeface="Arial" pitchFamily="34" charset="-122"/>
                <a:cs typeface="Arial" pitchFamily="34" charset="-120"/>
              </a:rPr>
              <a:t>Durable automation</a:t>
            </a:r>
            <a:endParaRPr lang="en-US" sz="1700" dirty="0"/>
          </a:p>
        </p:txBody>
      </p:sp>
      <p:sp>
        <p:nvSpPr>
          <p:cNvPr id="22" name="Text 20"/>
          <p:cNvSpPr txBox="1"/>
          <p:nvPr/>
        </p:nvSpPr>
        <p:spPr>
          <a:xfrm>
            <a:off x="8284464" y="2761488"/>
            <a:ext cx="2761488" cy="2999232"/>
          </a:xfrm>
          <a:prstGeom prst="rect">
            <a:avLst/>
          </a:prstGeom>
          <a:noFill/>
          <a:ln/>
        </p:spPr>
        <p:txBody>
          <a:bodyPr wrap="square" lIns="0" tIns="0" rIns="0" bIns="0" rtlCol="0" anchor="t">
            <a:normAutofit/>
          </a:bodyPr>
          <a:lstStyle/>
          <a:p>
            <a:pPr algn="l" indent="0" marL="0">
              <a:buNone/>
            </a:pPr>
            <a:r>
              <a:rPr lang="en-US" sz="1180" dirty="0">
                <a:solidFill>
                  <a:srgbClr val="E8E6E0"/>
                </a:solidFill>
                <a:latin typeface="Arial" pitchFamily="34" charset="0"/>
                <a:ea typeface="Arial" pitchFamily="34" charset="-122"/>
                <a:cs typeface="Arial" pitchFamily="34" charset="-120"/>
              </a:rPr>
              <a:t>Lead routing</a:t>
            </a:r>
            <a:endParaRPr lang="en-US" sz="1180" dirty="0"/>
          </a:p>
          <a:p>
            <a:pPr algn="l" indent="0" marL="0">
              <a:buNone/>
            </a:pPr>
            <a:endParaRPr lang="en-US" sz="1180" dirty="0"/>
          </a:p>
          <a:p>
            <a:pPr algn="l" indent="0" marL="0">
              <a:buNone/>
            </a:pPr>
            <a:r>
              <a:rPr lang="en-US" sz="1180" dirty="0">
                <a:solidFill>
                  <a:srgbClr val="E8E6E0"/>
                </a:solidFill>
                <a:latin typeface="Arial" pitchFamily="34" charset="0"/>
                <a:ea typeface="Arial" pitchFamily="34" charset="-122"/>
                <a:cs typeface="Arial" pitchFamily="34" charset="-120"/>
              </a:rPr>
              <a:t>Appointment scheduling</a:t>
            </a:r>
            <a:endParaRPr lang="en-US" sz="1180" dirty="0"/>
          </a:p>
          <a:p>
            <a:pPr algn="l" indent="0" marL="0">
              <a:buNone/>
            </a:pPr>
            <a:endParaRPr lang="en-US" sz="1180" dirty="0"/>
          </a:p>
          <a:p>
            <a:pPr algn="l" indent="0" marL="0">
              <a:buNone/>
            </a:pPr>
            <a:r>
              <a:rPr lang="en-US" sz="1180" dirty="0">
                <a:solidFill>
                  <a:srgbClr val="E8E6E0"/>
                </a:solidFill>
                <a:latin typeface="Arial" pitchFamily="34" charset="0"/>
                <a:ea typeface="Arial" pitchFamily="34" charset="-122"/>
                <a:cs typeface="Arial" pitchFamily="34" charset="-120"/>
              </a:rPr>
              <a:t>CRM updates + tasks</a:t>
            </a:r>
            <a:endParaRPr lang="en-US" sz="1180" dirty="0"/>
          </a:p>
          <a:p>
            <a:pPr algn="l" indent="0" marL="0">
              <a:buNone/>
            </a:pPr>
            <a:endParaRPr lang="en-US" sz="1180" dirty="0"/>
          </a:p>
          <a:p>
            <a:pPr algn="l" indent="0" marL="0">
              <a:buNone/>
            </a:pPr>
            <a:r>
              <a:rPr lang="en-US" sz="1180" dirty="0">
                <a:solidFill>
                  <a:srgbClr val="E8E6E0"/>
                </a:solidFill>
                <a:latin typeface="Arial" pitchFamily="34" charset="0"/>
                <a:ea typeface="Arial" pitchFamily="34" charset="-122"/>
                <a:cs typeface="Arial" pitchFamily="34" charset="-120"/>
              </a:rPr>
              <a:t>Confirmations + reminders</a:t>
            </a:r>
            <a:endParaRPr lang="en-US" sz="1180" dirty="0"/>
          </a:p>
          <a:p>
            <a:pPr algn="l" indent="0" marL="0">
              <a:buNone/>
            </a:pPr>
            <a:endParaRPr lang="en-US" sz="1180" dirty="0"/>
          </a:p>
          <a:p>
            <a:pPr algn="l" indent="0" marL="0">
              <a:buNone/>
            </a:pPr>
            <a:r>
              <a:rPr lang="en-US" sz="1180" dirty="0">
                <a:solidFill>
                  <a:srgbClr val="E8E6E0"/>
                </a:solidFill>
                <a:latin typeface="Arial" pitchFamily="34" charset="0"/>
                <a:ea typeface="Arial" pitchFamily="34" charset="-122"/>
                <a:cs typeface="Arial" pitchFamily="34" charset="-120"/>
              </a:rPr>
              <a:t>Email / SMS campaigns</a:t>
            </a:r>
            <a:endParaRPr lang="en-US" sz="1180" dirty="0"/>
          </a:p>
          <a:p>
            <a:pPr algn="l" indent="0" marL="0">
              <a:buNone/>
            </a:pPr>
            <a:endParaRPr lang="en-US" sz="1180" dirty="0"/>
          </a:p>
          <a:p>
            <a:pPr algn="l" indent="0" marL="0">
              <a:buNone/>
            </a:pPr>
            <a:r>
              <a:rPr lang="en-US" sz="1180" dirty="0">
                <a:solidFill>
                  <a:srgbClr val="E8E6E0"/>
                </a:solidFill>
                <a:latin typeface="Arial" pitchFamily="34" charset="0"/>
                <a:ea typeface="Arial" pitchFamily="34" charset="-122"/>
                <a:cs typeface="Arial" pitchFamily="34" charset="-120"/>
              </a:rPr>
              <a:t>Review + re-engagement</a:t>
            </a:r>
            <a:endParaRPr lang="en-US" sz="1180" dirty="0"/>
          </a:p>
          <a:p>
            <a:pPr algn="l" indent="0" marL="0">
              <a:buNone/>
            </a:pPr>
            <a:endParaRPr lang="en-US" sz="1180" dirty="0"/>
          </a:p>
          <a:p>
            <a:pPr algn="l" indent="0" marL="0">
              <a:buNone/>
            </a:pPr>
            <a:r>
              <a:rPr lang="en-US" sz="1180" dirty="0">
                <a:solidFill>
                  <a:srgbClr val="E8E6E0"/>
                </a:solidFill>
                <a:latin typeface="Arial" pitchFamily="34" charset="0"/>
                <a:ea typeface="Arial" pitchFamily="34" charset="-122"/>
                <a:cs typeface="Arial" pitchFamily="34" charset="-120"/>
              </a:rPr>
              <a:t>Internal notifications</a:t>
            </a:r>
            <a:endParaRPr lang="en-US" sz="1180" dirty="0"/>
          </a:p>
          <a:p>
            <a:pPr algn="l" indent="0" marL="0">
              <a:buNone/>
            </a:pPr>
            <a:endParaRPr lang="en-US" sz="1180" dirty="0"/>
          </a:p>
          <a:p>
            <a:pPr algn="l" indent="0" marL="0">
              <a:buNone/>
            </a:pPr>
            <a:r>
              <a:rPr lang="en-US" sz="1180" dirty="0">
                <a:solidFill>
                  <a:srgbClr val="E8E6E0"/>
                </a:solidFill>
                <a:latin typeface="Arial" pitchFamily="34" charset="0"/>
                <a:ea typeface="Arial" pitchFamily="34" charset="-122"/>
                <a:cs typeface="Arial" pitchFamily="34" charset="-120"/>
              </a:rPr>
              <a:t>Manager alerts + recovery</a:t>
            </a:r>
            <a:endParaRPr lang="en-US" sz="1180" dirty="0"/>
          </a:p>
        </p:txBody>
      </p:sp>
      <p:sp>
        <p:nvSpPr>
          <p:cNvPr id="23" name="Text 21"/>
          <p:cNvSpPr txBox="1"/>
          <p:nvPr/>
        </p:nvSpPr>
        <p:spPr>
          <a:xfrm>
            <a:off x="1097280" y="6108192"/>
            <a:ext cx="9985248" cy="173736"/>
          </a:xfrm>
          <a:prstGeom prst="rect">
            <a:avLst/>
          </a:prstGeom>
          <a:noFill/>
          <a:ln/>
        </p:spPr>
        <p:txBody>
          <a:bodyPr wrap="square" lIns="0" tIns="0" rIns="0" bIns="0" rtlCol="0" anchor="t">
            <a:normAutofit/>
          </a:bodyPr>
          <a:lstStyle/>
          <a:p>
            <a:pPr algn="ctr" indent="0" marL="0">
              <a:buNone/>
            </a:pPr>
            <a:r>
              <a:rPr lang="en-US" sz="950" i="1" dirty="0">
                <a:solidFill>
                  <a:srgbClr val="9A97A3"/>
                </a:solidFill>
                <a:latin typeface="Arial" pitchFamily="34" charset="0"/>
                <a:ea typeface="Arial" pitchFamily="34" charset="-122"/>
                <a:cs typeface="Arial" pitchFamily="34" charset="-120"/>
              </a:rPr>
              <a:t>Define every metric's calculation, denominator, window, source system, owner, and tenant/location filters before launch.</a:t>
            </a:r>
            <a:endParaRPr lang="en-US" sz="950" dirty="0"/>
          </a:p>
        </p:txBody>
      </p:sp>
      <p:sp>
        <p:nvSpPr>
          <p:cNvPr id="25" name="Slide Number Placeholder 0"/>
          <p:cNvSpPr>
            <a:spLocks noGrp="1"/>
          </p:cNvSpPr>
          <p:nvPr>
            <p:ph type="sldNum" sz="quarter" idx="4294967295"/>
          </p:nvPr>
        </p:nvSpPr>
        <p:spPr>
          <a:xfrm>
            <a:off x="11109960" y="6483096"/>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9A97A3"/>
                </a:solidFill>
                <a:latin typeface="Courier New"/>
                <a:ea typeface="Courier New"/>
                <a:cs typeface="Courier New"/>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161D"/>
        </a:solidFill>
      </p:bgPr>
    </p:bg>
    <p:spTree>
      <p:nvGrpSpPr>
        <p:cNvPr id="1" name=""/>
        <p:cNvGrpSpPr/>
        <p:nvPr/>
      </p:nvGrpSpPr>
      <p:grpSpPr>
        <a:xfrm>
          <a:off x="0" y="0"/>
          <a:ext cx="0" cy="0"/>
          <a:chOff x="0" y="0"/>
          <a:chExt cx="0" cy="0"/>
        </a:xfrm>
      </p:grpSpPr>
      <p:sp>
        <p:nvSpPr>
          <p:cNvPr id="2" name="Text 0"/>
          <p:cNvSpPr txBox="1"/>
          <p:nvPr/>
        </p:nvSpPr>
        <p:spPr>
          <a:xfrm>
            <a:off x="713232" y="384048"/>
            <a:ext cx="5120640" cy="219456"/>
          </a:xfrm>
          <a:prstGeom prst="rect">
            <a:avLst/>
          </a:prstGeom>
          <a:noFill/>
          <a:ln/>
        </p:spPr>
        <p:txBody>
          <a:bodyPr wrap="square" lIns="0" tIns="0" rIns="0" bIns="0" rtlCol="0" anchor="t">
            <a:normAutofit/>
          </a:bodyPr>
          <a:lstStyle/>
          <a:p>
            <a:pPr algn="l" indent="0" marL="0">
              <a:buNone/>
            </a:pPr>
            <a:r>
              <a:rPr lang="en-US" sz="900" b="1" spc="210" kern="0" dirty="0">
                <a:solidFill>
                  <a:srgbClr val="9A97A3"/>
                </a:solidFill>
                <a:latin typeface="Courier New" pitchFamily="34" charset="0"/>
                <a:ea typeface="Courier New" pitchFamily="34" charset="-122"/>
                <a:cs typeface="Courier New" pitchFamily="34" charset="-120"/>
              </a:rPr>
              <a:t>TECHNOLOGY + HOSTING</a:t>
            </a:r>
            <a:endParaRPr lang="en-US" sz="900" dirty="0"/>
          </a:p>
        </p:txBody>
      </p:sp>
      <p:sp>
        <p:nvSpPr>
          <p:cNvPr id="3" name="Text 1"/>
          <p:cNvSpPr txBox="1"/>
          <p:nvPr/>
        </p:nvSpPr>
        <p:spPr>
          <a:xfrm>
            <a:off x="10424160" y="347472"/>
            <a:ext cx="1051560" cy="228600"/>
          </a:xfrm>
          <a:prstGeom prst="rect">
            <a:avLst/>
          </a:prstGeom>
          <a:noFill/>
          <a:ln/>
        </p:spPr>
        <p:txBody>
          <a:bodyPr wrap="square" lIns="0" tIns="0" rIns="0" bIns="0" rtlCol="0" anchor="t">
            <a:normAutofit/>
          </a:bodyPr>
          <a:lstStyle/>
          <a:p>
            <a:pPr algn="r" indent="0" marL="0">
              <a:buNone/>
            </a:pPr>
            <a:r>
              <a:rPr lang="en-US" sz="1000" b="1" spc="240" kern="0" dirty="0">
                <a:solidFill>
                  <a:srgbClr val="E8E6E0"/>
                </a:solidFill>
                <a:latin typeface="Courier New" pitchFamily="34" charset="0"/>
                <a:ea typeface="Courier New" pitchFamily="34" charset="-122"/>
                <a:cs typeface="Courier New" pitchFamily="34" charset="-120"/>
              </a:rPr>
              <a:t>CYBIC</a:t>
            </a:r>
            <a:endParaRPr lang="en-US" sz="1000" dirty="0"/>
          </a:p>
        </p:txBody>
      </p:sp>
      <p:sp>
        <p:nvSpPr>
          <p:cNvPr id="4" name="Text 2"/>
          <p:cNvSpPr txBox="1"/>
          <p:nvPr/>
        </p:nvSpPr>
        <p:spPr>
          <a:xfrm>
            <a:off x="685800" y="713232"/>
            <a:ext cx="10744200" cy="566928"/>
          </a:xfrm>
          <a:prstGeom prst="rect">
            <a:avLst/>
          </a:prstGeom>
          <a:noFill/>
          <a:ln/>
        </p:spPr>
        <p:txBody>
          <a:bodyPr wrap="square" lIns="0" tIns="0" rIns="0" bIns="0" rtlCol="0" anchor="t">
            <a:normAutofit/>
          </a:bodyPr>
          <a:lstStyle/>
          <a:p>
            <a:pPr algn="l" indent="0" marL="0">
              <a:buNone/>
            </a:pPr>
            <a:r>
              <a:rPr lang="en-US" sz="2800" b="1" dirty="0">
                <a:solidFill>
                  <a:srgbClr val="6FB3E8"/>
                </a:solidFill>
                <a:latin typeface="Arial" pitchFamily="34" charset="0"/>
                <a:ea typeface="Arial" pitchFamily="34" charset="-122"/>
                <a:cs typeface="Arial" pitchFamily="34" charset="-120"/>
              </a:rPr>
              <a:t>Provider-adaptable, horizontally scalable, observable</a:t>
            </a:r>
            <a:endParaRPr lang="en-US" sz="2800" dirty="0"/>
          </a:p>
        </p:txBody>
      </p:sp>
      <p:sp>
        <p:nvSpPr>
          <p:cNvPr id="5" name="Text 3"/>
          <p:cNvSpPr txBox="1"/>
          <p:nvPr/>
        </p:nvSpPr>
        <p:spPr>
          <a:xfrm>
            <a:off x="713232" y="1298448"/>
            <a:ext cx="10607040" cy="411480"/>
          </a:xfrm>
          <a:prstGeom prst="rect">
            <a:avLst/>
          </a:prstGeom>
          <a:noFill/>
          <a:ln/>
        </p:spPr>
        <p:txBody>
          <a:bodyPr wrap="square" lIns="0" tIns="0" rIns="0" bIns="0" rtlCol="0" anchor="t">
            <a:normAutofit/>
          </a:bodyPr>
          <a:lstStyle/>
          <a:p>
            <a:pPr algn="l" indent="0" marL="0">
              <a:buNone/>
            </a:pPr>
            <a:r>
              <a:rPr lang="en-US" sz="1350" dirty="0">
                <a:solidFill>
                  <a:srgbClr val="9A97A3"/>
                </a:solidFill>
                <a:latin typeface="Arial" pitchFamily="34" charset="0"/>
                <a:ea typeface="Arial" pitchFamily="34" charset="-122"/>
                <a:cs typeface="Arial" pitchFamily="34" charset="-120"/>
              </a:rPr>
              <a:t>Prototype assets inform the build; local desktop components are not the target architecture.</a:t>
            </a:r>
            <a:endParaRPr lang="en-US" sz="1350" dirty="0"/>
          </a:p>
        </p:txBody>
      </p:sp>
      <p:sp>
        <p:nvSpPr>
          <p:cNvPr id="6" name="Shape 4"/>
          <p:cNvSpPr/>
          <p:nvPr/>
        </p:nvSpPr>
        <p:spPr>
          <a:xfrm>
            <a:off x="658368" y="6428232"/>
            <a:ext cx="10863072" cy="0"/>
          </a:xfrm>
          <a:prstGeom prst="line">
            <a:avLst/>
          </a:prstGeom>
          <a:noFill/>
          <a:ln w="8890">
            <a:solidFill>
              <a:srgbClr val="34323E"/>
            </a:solidFill>
            <a:prstDash val="solid"/>
          </a:ln>
        </p:spPr>
      </p:sp>
      <p:sp>
        <p:nvSpPr>
          <p:cNvPr id="7" name="Text 5"/>
          <p:cNvSpPr txBox="1"/>
          <p:nvPr/>
        </p:nvSpPr>
        <p:spPr>
          <a:xfrm>
            <a:off x="685800" y="6473952"/>
            <a:ext cx="2926080" cy="146304"/>
          </a:xfrm>
          <a:prstGeom prst="rect">
            <a:avLst/>
          </a:prstGeom>
          <a:noFill/>
          <a:ln/>
        </p:spPr>
        <p:txBody>
          <a:bodyPr wrap="square" lIns="0" tIns="0" rIns="0" bIns="0" rtlCol="0" anchor="t">
            <a:normAutofit/>
          </a:bodyPr>
          <a:lstStyle/>
          <a:p>
            <a:pPr algn="l" indent="0" marL="0">
              <a:buNone/>
            </a:pPr>
            <a:r>
              <a:rPr lang="en-US" sz="750" spc="120" kern="0" dirty="0">
                <a:solidFill>
                  <a:srgbClr val="9A97A3"/>
                </a:solidFill>
                <a:latin typeface="Courier New" pitchFamily="34" charset="0"/>
                <a:ea typeface="Courier New" pitchFamily="34" charset="-122"/>
                <a:cs typeface="Courier New" pitchFamily="34" charset="-120"/>
              </a:rPr>
              <a:t>CYBIC  •  CONFIDENTIAL</a:t>
            </a:r>
            <a:endParaRPr lang="en-US" sz="750" dirty="0"/>
          </a:p>
        </p:txBody>
      </p:sp>
      <p:sp>
        <p:nvSpPr>
          <p:cNvPr id="8" name="Shape 6"/>
          <p:cNvSpPr/>
          <p:nvPr/>
        </p:nvSpPr>
        <p:spPr>
          <a:xfrm>
            <a:off x="749808" y="1828800"/>
            <a:ext cx="6858000" cy="658368"/>
          </a:xfrm>
          <a:prstGeom prst="roundRect">
            <a:avLst/>
          </a:prstGeom>
          <a:solidFill>
            <a:srgbClr val="20303D"/>
          </a:solidFill>
          <a:ln w="11430">
            <a:solidFill>
              <a:srgbClr val="6FB3E8"/>
            </a:solidFill>
            <a:prstDash val="solid"/>
          </a:ln>
        </p:spPr>
      </p:sp>
      <p:sp>
        <p:nvSpPr>
          <p:cNvPr id="9" name="Text 7"/>
          <p:cNvSpPr txBox="1"/>
          <p:nvPr/>
        </p:nvSpPr>
        <p:spPr>
          <a:xfrm>
            <a:off x="950976" y="1947672"/>
            <a:ext cx="1481328" cy="182880"/>
          </a:xfrm>
          <a:prstGeom prst="rect">
            <a:avLst/>
          </a:prstGeom>
          <a:noFill/>
          <a:ln/>
        </p:spPr>
        <p:txBody>
          <a:bodyPr wrap="square" lIns="0" tIns="0" rIns="0" bIns="0" rtlCol="0" anchor="t">
            <a:normAutofit/>
          </a:bodyPr>
          <a:lstStyle/>
          <a:p>
            <a:pPr algn="l" indent="0" marL="0">
              <a:buNone/>
            </a:pPr>
            <a:r>
              <a:rPr lang="en-US" sz="800" b="1" spc="70" kern="0" dirty="0">
                <a:solidFill>
                  <a:srgbClr val="6FB3E8"/>
                </a:solidFill>
                <a:latin typeface="Courier New" pitchFamily="34" charset="0"/>
                <a:ea typeface="Courier New" pitchFamily="34" charset="-122"/>
                <a:cs typeface="Courier New" pitchFamily="34" charset="-120"/>
              </a:rPr>
              <a:t>EXPERIENCES</a:t>
            </a:r>
            <a:endParaRPr lang="en-US" sz="800" dirty="0"/>
          </a:p>
        </p:txBody>
      </p:sp>
      <p:sp>
        <p:nvSpPr>
          <p:cNvPr id="10" name="Text 8"/>
          <p:cNvSpPr txBox="1"/>
          <p:nvPr/>
        </p:nvSpPr>
        <p:spPr>
          <a:xfrm>
            <a:off x="2505456" y="1911096"/>
            <a:ext cx="4882896" cy="329184"/>
          </a:xfrm>
          <a:prstGeom prst="rect">
            <a:avLst/>
          </a:prstGeom>
          <a:noFill/>
          <a:ln/>
        </p:spPr>
        <p:txBody>
          <a:bodyPr wrap="square" lIns="0" tIns="0" rIns="0" bIns="0" rtlCol="0" anchor="ctr">
            <a:normAutofit/>
          </a:bodyPr>
          <a:lstStyle/>
          <a:p>
            <a:pPr algn="r" indent="0" marL="0">
              <a:buNone/>
            </a:pPr>
            <a:r>
              <a:rPr lang="en-US" sz="890" dirty="0">
                <a:solidFill>
                  <a:srgbClr val="E8E6E0"/>
                </a:solidFill>
                <a:latin typeface="Arial" pitchFamily="34" charset="0"/>
                <a:ea typeface="Arial" pitchFamily="34" charset="-122"/>
                <a:cs typeface="Arial" pitchFamily="34" charset="-120"/>
              </a:rPr>
              <a:t>Customer web chat  •  live-agent workspace  •  admin portal</a:t>
            </a:r>
            <a:endParaRPr lang="en-US" sz="890" dirty="0"/>
          </a:p>
        </p:txBody>
      </p:sp>
      <p:sp>
        <p:nvSpPr>
          <p:cNvPr id="11" name="Shape 9"/>
          <p:cNvSpPr/>
          <p:nvPr/>
        </p:nvSpPr>
        <p:spPr>
          <a:xfrm>
            <a:off x="950976" y="2697480"/>
            <a:ext cx="6455664" cy="658368"/>
          </a:xfrm>
          <a:prstGeom prst="roundRect">
            <a:avLst/>
          </a:prstGeom>
          <a:solidFill>
            <a:srgbClr val="20382F"/>
          </a:solidFill>
          <a:ln w="11430">
            <a:solidFill>
              <a:srgbClr val="7CC7A5"/>
            </a:solidFill>
            <a:prstDash val="solid"/>
          </a:ln>
        </p:spPr>
      </p:sp>
      <p:sp>
        <p:nvSpPr>
          <p:cNvPr id="12" name="Text 10"/>
          <p:cNvSpPr txBox="1"/>
          <p:nvPr/>
        </p:nvSpPr>
        <p:spPr>
          <a:xfrm>
            <a:off x="1152144" y="2816352"/>
            <a:ext cx="1481328" cy="182880"/>
          </a:xfrm>
          <a:prstGeom prst="rect">
            <a:avLst/>
          </a:prstGeom>
          <a:noFill/>
          <a:ln/>
        </p:spPr>
        <p:txBody>
          <a:bodyPr wrap="square" lIns="0" tIns="0" rIns="0" bIns="0" rtlCol="0" anchor="t">
            <a:normAutofit/>
          </a:bodyPr>
          <a:lstStyle/>
          <a:p>
            <a:pPr algn="l" indent="0" marL="0">
              <a:buNone/>
            </a:pPr>
            <a:r>
              <a:rPr lang="en-US" sz="800" b="1" spc="70" kern="0" dirty="0">
                <a:solidFill>
                  <a:srgbClr val="7CC7A5"/>
                </a:solidFill>
                <a:latin typeface="Courier New" pitchFamily="34" charset="0"/>
                <a:ea typeface="Courier New" pitchFamily="34" charset="-122"/>
                <a:cs typeface="Courier New" pitchFamily="34" charset="-120"/>
              </a:rPr>
              <a:t>SERVICES</a:t>
            </a:r>
            <a:endParaRPr lang="en-US" sz="800" dirty="0"/>
          </a:p>
        </p:txBody>
      </p:sp>
      <p:sp>
        <p:nvSpPr>
          <p:cNvPr id="13" name="Text 11"/>
          <p:cNvSpPr txBox="1"/>
          <p:nvPr/>
        </p:nvSpPr>
        <p:spPr>
          <a:xfrm>
            <a:off x="2706624" y="2779776"/>
            <a:ext cx="4480560" cy="329184"/>
          </a:xfrm>
          <a:prstGeom prst="rect">
            <a:avLst/>
          </a:prstGeom>
          <a:noFill/>
          <a:ln/>
        </p:spPr>
        <p:txBody>
          <a:bodyPr wrap="square" lIns="0" tIns="0" rIns="0" bIns="0" rtlCol="0" anchor="ctr">
            <a:normAutofit/>
          </a:bodyPr>
          <a:lstStyle/>
          <a:p>
            <a:pPr algn="r" indent="0" marL="0">
              <a:buNone/>
            </a:pPr>
            <a:r>
              <a:rPr lang="en-US" sz="890" dirty="0">
                <a:solidFill>
                  <a:srgbClr val="E8E6E0"/>
                </a:solidFill>
                <a:latin typeface="Arial" pitchFamily="34" charset="0"/>
                <a:ea typeface="Arial" pitchFamily="34" charset="-122"/>
                <a:cs typeface="Arial" pitchFamily="34" charset="-120"/>
              </a:rPr>
              <a:t>Python/FastAPI  •  identity  •  conversation  •  orchestration  •  integrations</a:t>
            </a:r>
            <a:endParaRPr lang="en-US" sz="890" dirty="0"/>
          </a:p>
        </p:txBody>
      </p:sp>
      <p:sp>
        <p:nvSpPr>
          <p:cNvPr id="14" name="Shape 12"/>
          <p:cNvSpPr/>
          <p:nvPr/>
        </p:nvSpPr>
        <p:spPr>
          <a:xfrm>
            <a:off x="1152144" y="3566160"/>
            <a:ext cx="6053328" cy="658368"/>
          </a:xfrm>
          <a:prstGeom prst="roundRect">
            <a:avLst/>
          </a:prstGeom>
          <a:solidFill>
            <a:srgbClr val="3D3320"/>
          </a:solidFill>
          <a:ln w="11430">
            <a:solidFill>
              <a:srgbClr val="E8A33D"/>
            </a:solidFill>
            <a:prstDash val="solid"/>
          </a:ln>
        </p:spPr>
      </p:sp>
      <p:sp>
        <p:nvSpPr>
          <p:cNvPr id="15" name="Text 13"/>
          <p:cNvSpPr txBox="1"/>
          <p:nvPr/>
        </p:nvSpPr>
        <p:spPr>
          <a:xfrm>
            <a:off x="1353312" y="3685032"/>
            <a:ext cx="1481328" cy="182880"/>
          </a:xfrm>
          <a:prstGeom prst="rect">
            <a:avLst/>
          </a:prstGeom>
          <a:noFill/>
          <a:ln/>
        </p:spPr>
        <p:txBody>
          <a:bodyPr wrap="square" lIns="0" tIns="0" rIns="0" bIns="0" rtlCol="0" anchor="t">
            <a:normAutofit/>
          </a:bodyPr>
          <a:lstStyle/>
          <a:p>
            <a:pPr algn="l" indent="0" marL="0">
              <a:buNone/>
            </a:pPr>
            <a:r>
              <a:rPr lang="en-US" sz="800" b="1" spc="70" kern="0" dirty="0">
                <a:solidFill>
                  <a:srgbClr val="E8A33D"/>
                </a:solidFill>
                <a:latin typeface="Courier New" pitchFamily="34" charset="0"/>
                <a:ea typeface="Courier New" pitchFamily="34" charset="-122"/>
                <a:cs typeface="Courier New" pitchFamily="34" charset="-120"/>
              </a:rPr>
              <a:t>DATA + WORKFLOW</a:t>
            </a:r>
            <a:endParaRPr lang="en-US" sz="800" dirty="0"/>
          </a:p>
        </p:txBody>
      </p:sp>
      <p:sp>
        <p:nvSpPr>
          <p:cNvPr id="16" name="Text 14"/>
          <p:cNvSpPr txBox="1"/>
          <p:nvPr/>
        </p:nvSpPr>
        <p:spPr>
          <a:xfrm>
            <a:off x="2907792" y="3648456"/>
            <a:ext cx="4078224" cy="329184"/>
          </a:xfrm>
          <a:prstGeom prst="rect">
            <a:avLst/>
          </a:prstGeom>
          <a:noFill/>
          <a:ln/>
        </p:spPr>
        <p:txBody>
          <a:bodyPr wrap="square" lIns="0" tIns="0" rIns="0" bIns="0" rtlCol="0" anchor="ctr">
            <a:normAutofit/>
          </a:bodyPr>
          <a:lstStyle/>
          <a:p>
            <a:pPr algn="r" indent="0" marL="0">
              <a:buNone/>
            </a:pPr>
            <a:r>
              <a:rPr lang="en-US" sz="890" dirty="0">
                <a:solidFill>
                  <a:srgbClr val="E8E6E0"/>
                </a:solidFill>
                <a:latin typeface="Arial" pitchFamily="34" charset="0"/>
                <a:ea typeface="Arial" pitchFamily="34" charset="-122"/>
                <a:cs typeface="Arial" pitchFamily="34" charset="-120"/>
              </a:rPr>
              <a:t>PostgreSQL/pgvector  •  Redis  •  object storage  •  managed events  •  Temporal-equivalent</a:t>
            </a:r>
            <a:endParaRPr lang="en-US" sz="890" dirty="0"/>
          </a:p>
        </p:txBody>
      </p:sp>
      <p:sp>
        <p:nvSpPr>
          <p:cNvPr id="17" name="Shape 15"/>
          <p:cNvSpPr/>
          <p:nvPr/>
        </p:nvSpPr>
        <p:spPr>
          <a:xfrm>
            <a:off x="1353312" y="4434840"/>
            <a:ext cx="5650992" cy="658368"/>
          </a:xfrm>
          <a:prstGeom prst="roundRect">
            <a:avLst/>
          </a:prstGeom>
          <a:solidFill>
            <a:srgbClr val="20303D"/>
          </a:solidFill>
          <a:ln w="11430">
            <a:solidFill>
              <a:srgbClr val="6FB3E8"/>
            </a:solidFill>
            <a:prstDash val="solid"/>
          </a:ln>
        </p:spPr>
      </p:sp>
      <p:sp>
        <p:nvSpPr>
          <p:cNvPr id="18" name="Text 16"/>
          <p:cNvSpPr txBox="1"/>
          <p:nvPr/>
        </p:nvSpPr>
        <p:spPr>
          <a:xfrm>
            <a:off x="1554480" y="4553712"/>
            <a:ext cx="1481328" cy="182880"/>
          </a:xfrm>
          <a:prstGeom prst="rect">
            <a:avLst/>
          </a:prstGeom>
          <a:noFill/>
          <a:ln/>
        </p:spPr>
        <p:txBody>
          <a:bodyPr wrap="square" lIns="0" tIns="0" rIns="0" bIns="0" rtlCol="0" anchor="t">
            <a:normAutofit/>
          </a:bodyPr>
          <a:lstStyle/>
          <a:p>
            <a:pPr algn="l" indent="0" marL="0">
              <a:buNone/>
            </a:pPr>
            <a:r>
              <a:rPr lang="en-US" sz="800" b="1" spc="70" kern="0" dirty="0">
                <a:solidFill>
                  <a:srgbClr val="6FB3E8"/>
                </a:solidFill>
                <a:latin typeface="Courier New" pitchFamily="34" charset="0"/>
                <a:ea typeface="Courier New" pitchFamily="34" charset="-122"/>
                <a:cs typeface="Courier New" pitchFamily="34" charset="-120"/>
              </a:rPr>
              <a:t>CLOUD + OPERATIONS</a:t>
            </a:r>
            <a:endParaRPr lang="en-US" sz="800" dirty="0"/>
          </a:p>
        </p:txBody>
      </p:sp>
      <p:sp>
        <p:nvSpPr>
          <p:cNvPr id="19" name="Text 17"/>
          <p:cNvSpPr txBox="1"/>
          <p:nvPr/>
        </p:nvSpPr>
        <p:spPr>
          <a:xfrm>
            <a:off x="3108960" y="4517136"/>
            <a:ext cx="3675888" cy="329184"/>
          </a:xfrm>
          <a:prstGeom prst="rect">
            <a:avLst/>
          </a:prstGeom>
          <a:noFill/>
          <a:ln/>
        </p:spPr>
        <p:txBody>
          <a:bodyPr wrap="square" lIns="0" tIns="0" rIns="0" bIns="0" rtlCol="0" anchor="ctr">
            <a:normAutofit/>
          </a:bodyPr>
          <a:lstStyle/>
          <a:p>
            <a:pPr algn="r" indent="0" marL="0">
              <a:buNone/>
            </a:pPr>
            <a:r>
              <a:rPr lang="en-US" sz="890" dirty="0">
                <a:solidFill>
                  <a:srgbClr val="E8E6E0"/>
                </a:solidFill>
                <a:latin typeface="Arial" pitchFamily="34" charset="0"/>
                <a:ea typeface="Arial" pitchFamily="34" charset="-122"/>
                <a:cs typeface="Arial" pitchFamily="34" charset="-120"/>
              </a:rPr>
              <a:t>Containers  •  IaC  •  autoscaling  •  regional media workers  •  OpenTelemetry  •  backup/DR</a:t>
            </a:r>
            <a:endParaRPr lang="en-US" sz="890" dirty="0"/>
          </a:p>
        </p:txBody>
      </p:sp>
      <p:sp>
        <p:nvSpPr>
          <p:cNvPr id="20" name="Shape 18"/>
          <p:cNvSpPr/>
          <p:nvPr/>
        </p:nvSpPr>
        <p:spPr>
          <a:xfrm>
            <a:off x="8001000" y="1792224"/>
            <a:ext cx="3264408" cy="3858768"/>
          </a:xfrm>
          <a:prstGeom prst="roundRect">
            <a:avLst/>
          </a:prstGeom>
          <a:solidFill>
            <a:srgbClr val="1E1E28"/>
          </a:solidFill>
          <a:ln w="12700">
            <a:solidFill>
              <a:srgbClr val="34323E"/>
            </a:solidFill>
            <a:prstDash val="solid"/>
          </a:ln>
        </p:spPr>
      </p:sp>
      <p:sp>
        <p:nvSpPr>
          <p:cNvPr id="21" name="Shape 19"/>
          <p:cNvSpPr/>
          <p:nvPr/>
        </p:nvSpPr>
        <p:spPr>
          <a:xfrm>
            <a:off x="8247888" y="2011680"/>
            <a:ext cx="1188720" cy="310896"/>
          </a:xfrm>
          <a:prstGeom prst="roundRect">
            <a:avLst/>
          </a:prstGeom>
          <a:solidFill>
            <a:srgbClr val="1E1E28"/>
          </a:solidFill>
          <a:ln w="10160">
            <a:solidFill>
              <a:srgbClr val="6FB3E8"/>
            </a:solidFill>
            <a:prstDash val="solid"/>
          </a:ln>
        </p:spPr>
      </p:sp>
      <p:sp>
        <p:nvSpPr>
          <p:cNvPr id="22" name="Text 20"/>
          <p:cNvSpPr txBox="1"/>
          <p:nvPr/>
        </p:nvSpPr>
        <p:spPr>
          <a:xfrm>
            <a:off x="8293608" y="2048256"/>
            <a:ext cx="1097280" cy="246888"/>
          </a:xfrm>
          <a:prstGeom prst="rect">
            <a:avLst/>
          </a:prstGeom>
          <a:noFill/>
          <a:ln/>
        </p:spPr>
        <p:txBody>
          <a:bodyPr wrap="square" lIns="0" tIns="0" rIns="0" bIns="0" rtlCol="0" anchor="ctr">
            <a:normAutofit/>
          </a:bodyPr>
          <a:lstStyle/>
          <a:p>
            <a:pPr algn="ctr" indent="0" marL="0">
              <a:buNone/>
            </a:pPr>
            <a:r>
              <a:rPr lang="en-US" sz="850" b="1" spc="100" kern="0" dirty="0">
                <a:solidFill>
                  <a:srgbClr val="6FB3E8"/>
                </a:solidFill>
                <a:latin typeface="Courier New" pitchFamily="34" charset="0"/>
                <a:ea typeface="Courier New" pitchFamily="34" charset="-122"/>
                <a:cs typeface="Courier New" pitchFamily="34" charset="-120"/>
              </a:rPr>
              <a:t>SCALE TARGET</a:t>
            </a:r>
            <a:endParaRPr lang="en-US" sz="850" dirty="0"/>
          </a:p>
        </p:txBody>
      </p:sp>
      <p:sp>
        <p:nvSpPr>
          <p:cNvPr id="23" name="Shape 21"/>
          <p:cNvSpPr/>
          <p:nvPr/>
        </p:nvSpPr>
        <p:spPr>
          <a:xfrm>
            <a:off x="8229600" y="2633472"/>
            <a:ext cx="68580" cy="68580"/>
          </a:xfrm>
          <a:prstGeom prst="ellipse">
            <a:avLst/>
          </a:prstGeom>
          <a:solidFill>
            <a:srgbClr val="6FB3E8"/>
          </a:solidFill>
          <a:ln w="12700">
            <a:solidFill>
              <a:srgbClr val="6FB3E8"/>
            </a:solidFill>
            <a:prstDash val="solid"/>
          </a:ln>
        </p:spPr>
      </p:sp>
      <p:sp>
        <p:nvSpPr>
          <p:cNvPr id="24" name="Text 22"/>
          <p:cNvSpPr txBox="1"/>
          <p:nvPr/>
        </p:nvSpPr>
        <p:spPr>
          <a:xfrm>
            <a:off x="8394192" y="2523744"/>
            <a:ext cx="2615184" cy="347472"/>
          </a:xfrm>
          <a:prstGeom prst="rect">
            <a:avLst/>
          </a:prstGeom>
          <a:noFill/>
          <a:ln/>
        </p:spPr>
        <p:txBody>
          <a:bodyPr wrap="square" lIns="0" tIns="0" rIns="0" bIns="0" rtlCol="0" anchor="t">
            <a:normAutofit/>
          </a:bodyPr>
          <a:lstStyle/>
          <a:p>
            <a:pPr algn="l" indent="0" marL="0">
              <a:buNone/>
            </a:pPr>
            <a:r>
              <a:rPr lang="en-US" sz="1050" dirty="0">
                <a:solidFill>
                  <a:srgbClr val="E8E6E0"/>
                </a:solidFill>
                <a:latin typeface="Arial" pitchFamily="34" charset="0"/>
                <a:ea typeface="Arial" pitchFamily="34" charset="-122"/>
                <a:cs typeface="Arial" pitchFamily="34" charset="-120"/>
              </a:rPr>
              <a:t>Companies • brands • locations • business units</a:t>
            </a:r>
            <a:endParaRPr lang="en-US" sz="1050" dirty="0"/>
          </a:p>
        </p:txBody>
      </p:sp>
      <p:sp>
        <p:nvSpPr>
          <p:cNvPr id="25" name="Shape 23"/>
          <p:cNvSpPr/>
          <p:nvPr/>
        </p:nvSpPr>
        <p:spPr>
          <a:xfrm>
            <a:off x="8229600" y="3118104"/>
            <a:ext cx="68580" cy="68580"/>
          </a:xfrm>
          <a:prstGeom prst="ellipse">
            <a:avLst/>
          </a:prstGeom>
          <a:solidFill>
            <a:srgbClr val="6FB3E8"/>
          </a:solidFill>
          <a:ln w="12700">
            <a:solidFill>
              <a:srgbClr val="6FB3E8"/>
            </a:solidFill>
            <a:prstDash val="solid"/>
          </a:ln>
        </p:spPr>
      </p:sp>
      <p:sp>
        <p:nvSpPr>
          <p:cNvPr id="26" name="Text 24"/>
          <p:cNvSpPr txBox="1"/>
          <p:nvPr/>
        </p:nvSpPr>
        <p:spPr>
          <a:xfrm>
            <a:off x="8394192" y="3008376"/>
            <a:ext cx="2615184" cy="347472"/>
          </a:xfrm>
          <a:prstGeom prst="rect">
            <a:avLst/>
          </a:prstGeom>
          <a:noFill/>
          <a:ln/>
        </p:spPr>
        <p:txBody>
          <a:bodyPr wrap="square" lIns="0" tIns="0" rIns="0" bIns="0" rtlCol="0" anchor="t">
            <a:normAutofit/>
          </a:bodyPr>
          <a:lstStyle/>
          <a:p>
            <a:pPr algn="l" indent="0" marL="0">
              <a:buNone/>
            </a:pPr>
            <a:r>
              <a:rPr lang="en-US" sz="1050" dirty="0">
                <a:solidFill>
                  <a:srgbClr val="E8E6E0"/>
                </a:solidFill>
                <a:latin typeface="Arial" pitchFamily="34" charset="0"/>
                <a:ea typeface="Arial" pitchFamily="34" charset="-122"/>
                <a:cs typeface="Arial" pitchFamily="34" charset="-120"/>
              </a:rPr>
              <a:t>Thousands of simultaneous conversations — validate exact target</a:t>
            </a:r>
            <a:endParaRPr lang="en-US" sz="1050" dirty="0"/>
          </a:p>
        </p:txBody>
      </p:sp>
      <p:sp>
        <p:nvSpPr>
          <p:cNvPr id="27" name="Shape 25"/>
          <p:cNvSpPr/>
          <p:nvPr/>
        </p:nvSpPr>
        <p:spPr>
          <a:xfrm>
            <a:off x="8229600" y="3602736"/>
            <a:ext cx="68580" cy="68580"/>
          </a:xfrm>
          <a:prstGeom prst="ellipse">
            <a:avLst/>
          </a:prstGeom>
          <a:solidFill>
            <a:srgbClr val="6FB3E8"/>
          </a:solidFill>
          <a:ln w="12700">
            <a:solidFill>
              <a:srgbClr val="6FB3E8"/>
            </a:solidFill>
            <a:prstDash val="solid"/>
          </a:ln>
        </p:spPr>
      </p:sp>
      <p:sp>
        <p:nvSpPr>
          <p:cNvPr id="28" name="Text 26"/>
          <p:cNvSpPr txBox="1"/>
          <p:nvPr/>
        </p:nvSpPr>
        <p:spPr>
          <a:xfrm>
            <a:off x="8394192" y="3493008"/>
            <a:ext cx="2615184" cy="347472"/>
          </a:xfrm>
          <a:prstGeom prst="rect">
            <a:avLst/>
          </a:prstGeom>
          <a:noFill/>
          <a:ln/>
        </p:spPr>
        <p:txBody>
          <a:bodyPr wrap="square" lIns="0" tIns="0" rIns="0" bIns="0" rtlCol="0" anchor="t">
            <a:normAutofit/>
          </a:bodyPr>
          <a:lstStyle/>
          <a:p>
            <a:pPr algn="l" indent="0" marL="0">
              <a:buNone/>
            </a:pPr>
            <a:r>
              <a:rPr lang="en-US" sz="1050" dirty="0">
                <a:solidFill>
                  <a:srgbClr val="E8E6E0"/>
                </a:solidFill>
                <a:latin typeface="Arial" pitchFamily="34" charset="0"/>
                <a:ea typeface="Arial" pitchFamily="34" charset="-122"/>
                <a:cs typeface="Arial" pitchFamily="34" charset="-120"/>
              </a:rPr>
              <a:t>Stateless horizontal services + regional voice workers</a:t>
            </a:r>
            <a:endParaRPr lang="en-US" sz="1050" dirty="0"/>
          </a:p>
        </p:txBody>
      </p:sp>
      <p:sp>
        <p:nvSpPr>
          <p:cNvPr id="29" name="Shape 27"/>
          <p:cNvSpPr/>
          <p:nvPr/>
        </p:nvSpPr>
        <p:spPr>
          <a:xfrm>
            <a:off x="8229600" y="4087368"/>
            <a:ext cx="68580" cy="68580"/>
          </a:xfrm>
          <a:prstGeom prst="ellipse">
            <a:avLst/>
          </a:prstGeom>
          <a:solidFill>
            <a:srgbClr val="6FB3E8"/>
          </a:solidFill>
          <a:ln w="12700">
            <a:solidFill>
              <a:srgbClr val="6FB3E8"/>
            </a:solidFill>
            <a:prstDash val="solid"/>
          </a:ln>
        </p:spPr>
      </p:sp>
      <p:sp>
        <p:nvSpPr>
          <p:cNvPr id="30" name="Text 28"/>
          <p:cNvSpPr txBox="1"/>
          <p:nvPr/>
        </p:nvSpPr>
        <p:spPr>
          <a:xfrm>
            <a:off x="8394192" y="3977640"/>
            <a:ext cx="2615184" cy="347472"/>
          </a:xfrm>
          <a:prstGeom prst="rect">
            <a:avLst/>
          </a:prstGeom>
          <a:noFill/>
          <a:ln/>
        </p:spPr>
        <p:txBody>
          <a:bodyPr wrap="square" lIns="0" tIns="0" rIns="0" bIns="0" rtlCol="0" anchor="t">
            <a:normAutofit/>
          </a:bodyPr>
          <a:lstStyle/>
          <a:p>
            <a:pPr algn="l" indent="0" marL="0">
              <a:buNone/>
            </a:pPr>
            <a:r>
              <a:rPr lang="en-US" sz="1050" dirty="0">
                <a:solidFill>
                  <a:srgbClr val="E8E6E0"/>
                </a:solidFill>
                <a:latin typeface="Arial" pitchFamily="34" charset="0"/>
                <a:ea typeface="Arial" pitchFamily="34" charset="-122"/>
                <a:cs typeface="Arial" pitchFamily="34" charset="-120"/>
              </a:rPr>
              <a:t>Per-tenant quotas, backpressure, HA, and disaster recovery</a:t>
            </a:r>
            <a:endParaRPr lang="en-US" sz="1050" dirty="0"/>
          </a:p>
        </p:txBody>
      </p:sp>
      <p:sp>
        <p:nvSpPr>
          <p:cNvPr id="31" name="Shape 29"/>
          <p:cNvSpPr/>
          <p:nvPr/>
        </p:nvSpPr>
        <p:spPr>
          <a:xfrm>
            <a:off x="8229600" y="4572000"/>
            <a:ext cx="68580" cy="68580"/>
          </a:xfrm>
          <a:prstGeom prst="ellipse">
            <a:avLst/>
          </a:prstGeom>
          <a:solidFill>
            <a:srgbClr val="6FB3E8"/>
          </a:solidFill>
          <a:ln w="12700">
            <a:solidFill>
              <a:srgbClr val="6FB3E8"/>
            </a:solidFill>
            <a:prstDash val="solid"/>
          </a:ln>
        </p:spPr>
      </p:sp>
      <p:sp>
        <p:nvSpPr>
          <p:cNvPr id="32" name="Text 30"/>
          <p:cNvSpPr txBox="1"/>
          <p:nvPr/>
        </p:nvSpPr>
        <p:spPr>
          <a:xfrm>
            <a:off x="8394192" y="4462272"/>
            <a:ext cx="2615184" cy="347472"/>
          </a:xfrm>
          <a:prstGeom prst="rect">
            <a:avLst/>
          </a:prstGeom>
          <a:noFill/>
          <a:ln/>
        </p:spPr>
        <p:txBody>
          <a:bodyPr wrap="square" lIns="0" tIns="0" rIns="0" bIns="0" rtlCol="0" anchor="t">
            <a:normAutofit/>
          </a:bodyPr>
          <a:lstStyle/>
          <a:p>
            <a:pPr algn="l" indent="0" marL="0">
              <a:buNone/>
            </a:pPr>
            <a:r>
              <a:rPr lang="en-US" sz="1050" dirty="0">
                <a:solidFill>
                  <a:srgbClr val="E8E6E0"/>
                </a:solidFill>
                <a:latin typeface="Arial" pitchFamily="34" charset="0"/>
                <a:ea typeface="Arial" pitchFamily="34" charset="-122"/>
                <a:cs typeface="Arial" pitchFamily="34" charset="-120"/>
              </a:rPr>
              <a:t>Versioned tenant-scoped APIs + signed webhooks</a:t>
            </a:r>
            <a:endParaRPr lang="en-US" sz="1050" dirty="0"/>
          </a:p>
        </p:txBody>
      </p:sp>
      <p:sp>
        <p:nvSpPr>
          <p:cNvPr id="33" name="Shape 31"/>
          <p:cNvSpPr/>
          <p:nvPr/>
        </p:nvSpPr>
        <p:spPr>
          <a:xfrm>
            <a:off x="8229600" y="5056632"/>
            <a:ext cx="68580" cy="68580"/>
          </a:xfrm>
          <a:prstGeom prst="ellipse">
            <a:avLst/>
          </a:prstGeom>
          <a:solidFill>
            <a:srgbClr val="6FB3E8"/>
          </a:solidFill>
          <a:ln w="12700">
            <a:solidFill>
              <a:srgbClr val="6FB3E8"/>
            </a:solidFill>
            <a:prstDash val="solid"/>
          </a:ln>
        </p:spPr>
      </p:sp>
      <p:sp>
        <p:nvSpPr>
          <p:cNvPr id="34" name="Text 32"/>
          <p:cNvSpPr txBox="1"/>
          <p:nvPr/>
        </p:nvSpPr>
        <p:spPr>
          <a:xfrm>
            <a:off x="8394192" y="4946904"/>
            <a:ext cx="2615184" cy="347472"/>
          </a:xfrm>
          <a:prstGeom prst="rect">
            <a:avLst/>
          </a:prstGeom>
          <a:noFill/>
          <a:ln/>
        </p:spPr>
        <p:txBody>
          <a:bodyPr wrap="square" lIns="0" tIns="0" rIns="0" bIns="0" rtlCol="0" anchor="t">
            <a:normAutofit/>
          </a:bodyPr>
          <a:lstStyle/>
          <a:p>
            <a:pPr algn="l" indent="0" marL="0">
              <a:buNone/>
            </a:pPr>
            <a:r>
              <a:rPr lang="en-US" sz="1050" dirty="0">
                <a:solidFill>
                  <a:srgbClr val="E8E6E0"/>
                </a:solidFill>
                <a:latin typeface="Arial" pitchFamily="34" charset="0"/>
                <a:ea typeface="Arial" pitchFamily="34" charset="-122"/>
                <a:cs typeface="Arial" pitchFamily="34" charset="-120"/>
              </a:rPr>
              <a:t>Future channels, mobile apps, and additional AI agents</a:t>
            </a:r>
            <a:endParaRPr lang="en-US" sz="1050" dirty="0"/>
          </a:p>
        </p:txBody>
      </p:sp>
      <p:sp>
        <p:nvSpPr>
          <p:cNvPr id="35" name="Shape 33"/>
          <p:cNvSpPr/>
          <p:nvPr/>
        </p:nvSpPr>
        <p:spPr>
          <a:xfrm>
            <a:off x="1078992" y="5650992"/>
            <a:ext cx="6263640" cy="347472"/>
          </a:xfrm>
          <a:prstGeom prst="roundRect">
            <a:avLst/>
          </a:prstGeom>
          <a:solidFill>
            <a:srgbClr val="100F14"/>
          </a:solidFill>
          <a:ln w="7620">
            <a:solidFill>
              <a:srgbClr val="34323E"/>
            </a:solidFill>
            <a:prstDash val="solid"/>
          </a:ln>
        </p:spPr>
      </p:sp>
      <p:sp>
        <p:nvSpPr>
          <p:cNvPr id="36" name="Text 34"/>
          <p:cNvSpPr txBox="1"/>
          <p:nvPr/>
        </p:nvSpPr>
        <p:spPr>
          <a:xfrm>
            <a:off x="1280160" y="5751576"/>
            <a:ext cx="5861304" cy="137160"/>
          </a:xfrm>
          <a:prstGeom prst="rect">
            <a:avLst/>
          </a:prstGeom>
          <a:noFill/>
          <a:ln/>
        </p:spPr>
        <p:txBody>
          <a:bodyPr wrap="square" lIns="0" tIns="0" rIns="0" bIns="0" rtlCol="0" anchor="t">
            <a:normAutofit/>
          </a:bodyPr>
          <a:lstStyle/>
          <a:p>
            <a:pPr algn="ctr" indent="0" marL="0">
              <a:buNone/>
            </a:pPr>
            <a:r>
              <a:rPr lang="en-US" sz="780" dirty="0">
                <a:solidFill>
                  <a:srgbClr val="9A97A3"/>
                </a:solidFill>
                <a:latin typeface="Courier New" pitchFamily="34" charset="0"/>
                <a:ea typeface="Courier New" pitchFamily="34" charset="-122"/>
                <a:cs typeface="Courier New" pitchFamily="34" charset="-120"/>
              </a:rPr>
              <a:t>Provider adapters: models • embeddings • STT • TTS • telephony • messaging • email</a:t>
            </a:r>
            <a:endParaRPr lang="en-US" sz="780" dirty="0"/>
          </a:p>
        </p:txBody>
      </p:sp>
      <p:sp>
        <p:nvSpPr>
          <p:cNvPr id="25" name="Slide Number Placeholder 0"/>
          <p:cNvSpPr>
            <a:spLocks noGrp="1"/>
          </p:cNvSpPr>
          <p:nvPr>
            <p:ph type="sldNum" sz="quarter" idx="4294967295"/>
          </p:nvPr>
        </p:nvSpPr>
        <p:spPr>
          <a:xfrm>
            <a:off x="11109960" y="6483096"/>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9A97A3"/>
                </a:solidFill>
                <a:latin typeface="Courier New"/>
                <a:ea typeface="Courier New"/>
                <a:cs typeface="Courier New"/>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6161D"/>
        </a:solidFill>
      </p:bgPr>
    </p:bg>
    <p:spTree>
      <p:nvGrpSpPr>
        <p:cNvPr id="1" name=""/>
        <p:cNvGrpSpPr/>
        <p:nvPr/>
      </p:nvGrpSpPr>
      <p:grpSpPr>
        <a:xfrm>
          <a:off x="0" y="0"/>
          <a:ext cx="0" cy="0"/>
          <a:chOff x="0" y="0"/>
          <a:chExt cx="0" cy="0"/>
        </a:xfrm>
      </p:grpSpPr>
      <p:sp>
        <p:nvSpPr>
          <p:cNvPr id="2" name="Text 0"/>
          <p:cNvSpPr txBox="1"/>
          <p:nvPr/>
        </p:nvSpPr>
        <p:spPr>
          <a:xfrm>
            <a:off x="713232" y="384048"/>
            <a:ext cx="5120640" cy="219456"/>
          </a:xfrm>
          <a:prstGeom prst="rect">
            <a:avLst/>
          </a:prstGeom>
          <a:noFill/>
          <a:ln/>
        </p:spPr>
        <p:txBody>
          <a:bodyPr wrap="square" lIns="0" tIns="0" rIns="0" bIns="0" rtlCol="0" anchor="t">
            <a:normAutofit/>
          </a:bodyPr>
          <a:lstStyle/>
          <a:p>
            <a:pPr algn="l" indent="0" marL="0">
              <a:buNone/>
            </a:pPr>
            <a:r>
              <a:rPr lang="en-US" sz="900" b="1" spc="210" kern="0" dirty="0">
                <a:solidFill>
                  <a:srgbClr val="9A97A3"/>
                </a:solidFill>
                <a:latin typeface="Courier New" pitchFamily="34" charset="0"/>
                <a:ea typeface="Courier New" pitchFamily="34" charset="-122"/>
                <a:cs typeface="Courier New" pitchFamily="34" charset="-120"/>
              </a:rPr>
              <a:t>DISCOVERY INPUTS</a:t>
            </a:r>
            <a:endParaRPr lang="en-US" sz="900" dirty="0"/>
          </a:p>
        </p:txBody>
      </p:sp>
      <p:sp>
        <p:nvSpPr>
          <p:cNvPr id="3" name="Text 1"/>
          <p:cNvSpPr txBox="1"/>
          <p:nvPr/>
        </p:nvSpPr>
        <p:spPr>
          <a:xfrm>
            <a:off x="10424160" y="347472"/>
            <a:ext cx="1051560" cy="228600"/>
          </a:xfrm>
          <a:prstGeom prst="rect">
            <a:avLst/>
          </a:prstGeom>
          <a:noFill/>
          <a:ln/>
        </p:spPr>
        <p:txBody>
          <a:bodyPr wrap="square" lIns="0" tIns="0" rIns="0" bIns="0" rtlCol="0" anchor="t">
            <a:normAutofit/>
          </a:bodyPr>
          <a:lstStyle/>
          <a:p>
            <a:pPr algn="r" indent="0" marL="0">
              <a:buNone/>
            </a:pPr>
            <a:r>
              <a:rPr lang="en-US" sz="1000" b="1" spc="240" kern="0" dirty="0">
                <a:solidFill>
                  <a:srgbClr val="E8E6E0"/>
                </a:solidFill>
                <a:latin typeface="Courier New" pitchFamily="34" charset="0"/>
                <a:ea typeface="Courier New" pitchFamily="34" charset="-122"/>
                <a:cs typeface="Courier New" pitchFamily="34" charset="-120"/>
              </a:rPr>
              <a:t>CYBIC</a:t>
            </a:r>
            <a:endParaRPr lang="en-US" sz="1000" dirty="0"/>
          </a:p>
        </p:txBody>
      </p:sp>
      <p:sp>
        <p:nvSpPr>
          <p:cNvPr id="4" name="Text 2"/>
          <p:cNvSpPr txBox="1"/>
          <p:nvPr/>
        </p:nvSpPr>
        <p:spPr>
          <a:xfrm>
            <a:off x="685800" y="713232"/>
            <a:ext cx="10744200" cy="566928"/>
          </a:xfrm>
          <a:prstGeom prst="rect">
            <a:avLst/>
          </a:prstGeom>
          <a:noFill/>
          <a:ln/>
        </p:spPr>
        <p:txBody>
          <a:bodyPr wrap="square" lIns="0" tIns="0" rIns="0" bIns="0" rtlCol="0" anchor="t">
            <a:normAutofit/>
          </a:bodyPr>
          <a:lstStyle/>
          <a:p>
            <a:pPr algn="l" indent="0" marL="0">
              <a:buNone/>
            </a:pPr>
            <a:r>
              <a:rPr lang="en-US" sz="2800" b="1" dirty="0">
                <a:solidFill>
                  <a:srgbClr val="E8E6E0"/>
                </a:solidFill>
                <a:latin typeface="Arial" pitchFamily="34" charset="0"/>
                <a:ea typeface="Arial" pitchFamily="34" charset="-122"/>
                <a:cs typeface="Arial" pitchFamily="34" charset="-120"/>
              </a:rPr>
              <a:t>Timeline and cost depend on decisions — not slideware</a:t>
            </a:r>
            <a:endParaRPr lang="en-US" sz="2800" dirty="0"/>
          </a:p>
        </p:txBody>
      </p:sp>
      <p:sp>
        <p:nvSpPr>
          <p:cNvPr id="5" name="Text 3"/>
          <p:cNvSpPr txBox="1"/>
          <p:nvPr/>
        </p:nvSpPr>
        <p:spPr>
          <a:xfrm>
            <a:off x="713232" y="1298448"/>
            <a:ext cx="10607040" cy="411480"/>
          </a:xfrm>
          <a:prstGeom prst="rect">
            <a:avLst/>
          </a:prstGeom>
          <a:noFill/>
          <a:ln/>
        </p:spPr>
        <p:txBody>
          <a:bodyPr wrap="square" lIns="0" tIns="0" rIns="0" bIns="0" rtlCol="0" anchor="t">
            <a:normAutofit/>
          </a:bodyPr>
          <a:lstStyle/>
          <a:p>
            <a:pPr algn="l" indent="0" marL="0">
              <a:buNone/>
            </a:pPr>
            <a:r>
              <a:rPr lang="en-US" sz="1350" dirty="0">
                <a:solidFill>
                  <a:srgbClr val="9A97A3"/>
                </a:solidFill>
                <a:latin typeface="Arial" pitchFamily="34" charset="0"/>
                <a:ea typeface="Arial" pitchFamily="34" charset="-122"/>
                <a:cs typeface="Arial" pitchFamily="34" charset="-120"/>
              </a:rPr>
              <a:t>Resolve scope, systems, controls, operations, and ownership before committing a price.</a:t>
            </a:r>
            <a:endParaRPr lang="en-US" sz="1350" dirty="0"/>
          </a:p>
        </p:txBody>
      </p:sp>
      <p:sp>
        <p:nvSpPr>
          <p:cNvPr id="6" name="Shape 4"/>
          <p:cNvSpPr/>
          <p:nvPr/>
        </p:nvSpPr>
        <p:spPr>
          <a:xfrm>
            <a:off x="658368" y="6428232"/>
            <a:ext cx="10863072" cy="0"/>
          </a:xfrm>
          <a:prstGeom prst="line">
            <a:avLst/>
          </a:prstGeom>
          <a:noFill/>
          <a:ln w="8890">
            <a:solidFill>
              <a:srgbClr val="34323E"/>
            </a:solidFill>
            <a:prstDash val="solid"/>
          </a:ln>
        </p:spPr>
      </p:sp>
      <p:sp>
        <p:nvSpPr>
          <p:cNvPr id="7" name="Text 5"/>
          <p:cNvSpPr txBox="1"/>
          <p:nvPr/>
        </p:nvSpPr>
        <p:spPr>
          <a:xfrm>
            <a:off x="685800" y="6473952"/>
            <a:ext cx="2926080" cy="146304"/>
          </a:xfrm>
          <a:prstGeom prst="rect">
            <a:avLst/>
          </a:prstGeom>
          <a:noFill/>
          <a:ln/>
        </p:spPr>
        <p:txBody>
          <a:bodyPr wrap="square" lIns="0" tIns="0" rIns="0" bIns="0" rtlCol="0" anchor="t">
            <a:normAutofit/>
          </a:bodyPr>
          <a:lstStyle/>
          <a:p>
            <a:pPr algn="l" indent="0" marL="0">
              <a:buNone/>
            </a:pPr>
            <a:r>
              <a:rPr lang="en-US" sz="750" spc="120" kern="0" dirty="0">
                <a:solidFill>
                  <a:srgbClr val="9A97A3"/>
                </a:solidFill>
                <a:latin typeface="Courier New" pitchFamily="34" charset="0"/>
                <a:ea typeface="Courier New" pitchFamily="34" charset="-122"/>
                <a:cs typeface="Courier New" pitchFamily="34" charset="-120"/>
              </a:rPr>
              <a:t>CYBIC  •  CONFIDENTIAL</a:t>
            </a:r>
            <a:endParaRPr lang="en-US" sz="750" dirty="0"/>
          </a:p>
        </p:txBody>
      </p:sp>
      <p:sp>
        <p:nvSpPr>
          <p:cNvPr id="8" name="Shape 6"/>
          <p:cNvSpPr/>
          <p:nvPr/>
        </p:nvSpPr>
        <p:spPr>
          <a:xfrm>
            <a:off x="731520" y="1764792"/>
            <a:ext cx="6784848" cy="557784"/>
          </a:xfrm>
          <a:prstGeom prst="roundRect">
            <a:avLst/>
          </a:prstGeom>
          <a:solidFill>
            <a:srgbClr val="1E1E28"/>
          </a:solidFill>
          <a:ln w="8890">
            <a:solidFill>
              <a:srgbClr val="6FB3E8"/>
            </a:solidFill>
            <a:prstDash val="solid"/>
          </a:ln>
        </p:spPr>
      </p:sp>
      <p:sp>
        <p:nvSpPr>
          <p:cNvPr id="9" name="Text 7"/>
          <p:cNvSpPr txBox="1"/>
          <p:nvPr/>
        </p:nvSpPr>
        <p:spPr>
          <a:xfrm>
            <a:off x="932688" y="1920240"/>
            <a:ext cx="1490472" cy="164592"/>
          </a:xfrm>
          <a:prstGeom prst="rect">
            <a:avLst/>
          </a:prstGeom>
          <a:noFill/>
          <a:ln/>
        </p:spPr>
        <p:txBody>
          <a:bodyPr wrap="square" lIns="0" tIns="0" rIns="0" bIns="0" rtlCol="0" anchor="t">
            <a:normAutofit/>
          </a:bodyPr>
          <a:lstStyle/>
          <a:p>
            <a:pPr algn="l" indent="0" marL="0">
              <a:buNone/>
            </a:pPr>
            <a:r>
              <a:rPr lang="en-US" sz="800" b="1" spc="70" kern="0" dirty="0">
                <a:solidFill>
                  <a:srgbClr val="6FB3E8"/>
                </a:solidFill>
                <a:latin typeface="Courier New" pitchFamily="34" charset="0"/>
                <a:ea typeface="Courier New" pitchFamily="34" charset="-122"/>
                <a:cs typeface="Courier New" pitchFamily="34" charset="-120"/>
              </a:rPr>
              <a:t>LAUNCH SCOPE</a:t>
            </a:r>
            <a:endParaRPr lang="en-US" sz="800" dirty="0"/>
          </a:p>
        </p:txBody>
      </p:sp>
      <p:sp>
        <p:nvSpPr>
          <p:cNvPr id="10" name="Text 8"/>
          <p:cNvSpPr txBox="1"/>
          <p:nvPr/>
        </p:nvSpPr>
        <p:spPr>
          <a:xfrm>
            <a:off x="2505456" y="1856232"/>
            <a:ext cx="4754880" cy="329184"/>
          </a:xfrm>
          <a:prstGeom prst="rect">
            <a:avLst/>
          </a:prstGeom>
          <a:noFill/>
          <a:ln/>
        </p:spPr>
        <p:txBody>
          <a:bodyPr wrap="square" lIns="0" tIns="0" rIns="0" bIns="0" rtlCol="0" anchor="ctr">
            <a:normAutofit/>
          </a:bodyPr>
          <a:lstStyle/>
          <a:p>
            <a:pPr algn="l" indent="0" marL="0">
              <a:buNone/>
            </a:pPr>
            <a:r>
              <a:rPr lang="en-US" sz="920" dirty="0">
                <a:solidFill>
                  <a:srgbClr val="E8E6E0"/>
                </a:solidFill>
                <a:latin typeface="Arial" pitchFamily="34" charset="0"/>
                <a:ea typeface="Arial" pitchFamily="34" charset="-122"/>
                <a:cs typeface="Arial" pitchFamily="34" charset="-120"/>
              </a:rPr>
              <a:t>Journeys • intents • channels • brands • locations • outbound definition</a:t>
            </a:r>
            <a:endParaRPr lang="en-US" sz="920" dirty="0"/>
          </a:p>
        </p:txBody>
      </p:sp>
      <p:sp>
        <p:nvSpPr>
          <p:cNvPr id="11" name="Shape 9"/>
          <p:cNvSpPr/>
          <p:nvPr/>
        </p:nvSpPr>
        <p:spPr>
          <a:xfrm>
            <a:off x="731520" y="2487168"/>
            <a:ext cx="6784848" cy="557784"/>
          </a:xfrm>
          <a:prstGeom prst="roundRect">
            <a:avLst/>
          </a:prstGeom>
          <a:solidFill>
            <a:srgbClr val="1E1E28"/>
          </a:solidFill>
          <a:ln w="8890">
            <a:solidFill>
              <a:srgbClr val="7CC7A5"/>
            </a:solidFill>
            <a:prstDash val="solid"/>
          </a:ln>
        </p:spPr>
      </p:sp>
      <p:sp>
        <p:nvSpPr>
          <p:cNvPr id="12" name="Text 10"/>
          <p:cNvSpPr txBox="1"/>
          <p:nvPr/>
        </p:nvSpPr>
        <p:spPr>
          <a:xfrm>
            <a:off x="932688" y="2642616"/>
            <a:ext cx="1490472" cy="164592"/>
          </a:xfrm>
          <a:prstGeom prst="rect">
            <a:avLst/>
          </a:prstGeom>
          <a:noFill/>
          <a:ln/>
        </p:spPr>
        <p:txBody>
          <a:bodyPr wrap="square" lIns="0" tIns="0" rIns="0" bIns="0" rtlCol="0" anchor="t">
            <a:normAutofit/>
          </a:bodyPr>
          <a:lstStyle/>
          <a:p>
            <a:pPr algn="l" indent="0" marL="0">
              <a:buNone/>
            </a:pPr>
            <a:r>
              <a:rPr lang="en-US" sz="800" b="1" spc="70" kern="0" dirty="0">
                <a:solidFill>
                  <a:srgbClr val="7CC7A5"/>
                </a:solidFill>
                <a:latin typeface="Courier New" pitchFamily="34" charset="0"/>
                <a:ea typeface="Courier New" pitchFamily="34" charset="-122"/>
                <a:cs typeface="Courier New" pitchFamily="34" charset="-120"/>
              </a:rPr>
              <a:t>SYSTEMS OF RECORD</a:t>
            </a:r>
            <a:endParaRPr lang="en-US" sz="800" dirty="0"/>
          </a:p>
        </p:txBody>
      </p:sp>
      <p:sp>
        <p:nvSpPr>
          <p:cNvPr id="13" name="Text 11"/>
          <p:cNvSpPr txBox="1"/>
          <p:nvPr/>
        </p:nvSpPr>
        <p:spPr>
          <a:xfrm>
            <a:off x="2505456" y="2578608"/>
            <a:ext cx="4754880" cy="329184"/>
          </a:xfrm>
          <a:prstGeom prst="rect">
            <a:avLst/>
          </a:prstGeom>
          <a:noFill/>
          <a:ln/>
        </p:spPr>
        <p:txBody>
          <a:bodyPr wrap="square" lIns="0" tIns="0" rIns="0" bIns="0" rtlCol="0" anchor="ctr">
            <a:normAutofit/>
          </a:bodyPr>
          <a:lstStyle/>
          <a:p>
            <a:pPr algn="l" indent="0" marL="0">
              <a:buNone/>
            </a:pPr>
            <a:r>
              <a:rPr lang="en-US" sz="920" dirty="0">
                <a:solidFill>
                  <a:srgbClr val="E8E6E0"/>
                </a:solidFill>
                <a:latin typeface="Arial" pitchFamily="34" charset="0"/>
                <a:ea typeface="Arial" pitchFamily="34" charset="-122"/>
                <a:cs typeface="Arial" pitchFamily="34" charset="-120"/>
              </a:rPr>
              <a:t>First CRM • calendar • telephony • messaging • identity • sandbox access</a:t>
            </a:r>
            <a:endParaRPr lang="en-US" sz="920" dirty="0"/>
          </a:p>
        </p:txBody>
      </p:sp>
      <p:sp>
        <p:nvSpPr>
          <p:cNvPr id="14" name="Shape 12"/>
          <p:cNvSpPr/>
          <p:nvPr/>
        </p:nvSpPr>
        <p:spPr>
          <a:xfrm>
            <a:off x="731520" y="3209544"/>
            <a:ext cx="6784848" cy="557784"/>
          </a:xfrm>
          <a:prstGeom prst="roundRect">
            <a:avLst/>
          </a:prstGeom>
          <a:solidFill>
            <a:srgbClr val="1E1E28"/>
          </a:solidFill>
          <a:ln w="8890">
            <a:solidFill>
              <a:srgbClr val="E8A33D"/>
            </a:solidFill>
            <a:prstDash val="solid"/>
          </a:ln>
        </p:spPr>
      </p:sp>
      <p:sp>
        <p:nvSpPr>
          <p:cNvPr id="15" name="Text 13"/>
          <p:cNvSpPr txBox="1"/>
          <p:nvPr/>
        </p:nvSpPr>
        <p:spPr>
          <a:xfrm>
            <a:off x="932688" y="3364992"/>
            <a:ext cx="1490472" cy="164592"/>
          </a:xfrm>
          <a:prstGeom prst="rect">
            <a:avLst/>
          </a:prstGeom>
          <a:noFill/>
          <a:ln/>
        </p:spPr>
        <p:txBody>
          <a:bodyPr wrap="square" lIns="0" tIns="0" rIns="0" bIns="0" rtlCol="0" anchor="t">
            <a:normAutofit/>
          </a:bodyPr>
          <a:lstStyle/>
          <a:p>
            <a:pPr algn="l" indent="0" marL="0">
              <a:buNone/>
            </a:pPr>
            <a:r>
              <a:rPr lang="en-US" sz="800" b="1" spc="70" kern="0" dirty="0">
                <a:solidFill>
                  <a:srgbClr val="E8A33D"/>
                </a:solidFill>
                <a:latin typeface="Courier New" pitchFamily="34" charset="0"/>
                <a:ea typeface="Courier New" pitchFamily="34" charset="-122"/>
                <a:cs typeface="Courier New" pitchFamily="34" charset="-120"/>
              </a:rPr>
              <a:t>POLICY + COMPLIANCE</a:t>
            </a:r>
            <a:endParaRPr lang="en-US" sz="800" dirty="0"/>
          </a:p>
        </p:txBody>
      </p:sp>
      <p:sp>
        <p:nvSpPr>
          <p:cNvPr id="16" name="Text 14"/>
          <p:cNvSpPr txBox="1"/>
          <p:nvPr/>
        </p:nvSpPr>
        <p:spPr>
          <a:xfrm>
            <a:off x="2505456" y="3300984"/>
            <a:ext cx="4754880" cy="329184"/>
          </a:xfrm>
          <a:prstGeom prst="rect">
            <a:avLst/>
          </a:prstGeom>
          <a:noFill/>
          <a:ln/>
        </p:spPr>
        <p:txBody>
          <a:bodyPr wrap="square" lIns="0" tIns="0" rIns="0" bIns="0" rtlCol="0" anchor="ctr">
            <a:normAutofit/>
          </a:bodyPr>
          <a:lstStyle/>
          <a:p>
            <a:pPr algn="l" indent="0" marL="0">
              <a:buNone/>
            </a:pPr>
            <a:r>
              <a:rPr lang="en-US" sz="920" dirty="0">
                <a:solidFill>
                  <a:srgbClr val="E8E6E0"/>
                </a:solidFill>
                <a:latin typeface="Arial" pitchFamily="34" charset="0"/>
                <a:ea typeface="Arial" pitchFamily="34" charset="-122"/>
                <a:cs typeface="Arial" pitchFamily="34" charset="-120"/>
              </a:rPr>
              <a:t>Autonomy approvals • recording • outreach • retention • residency • accessibility</a:t>
            </a:r>
            <a:endParaRPr lang="en-US" sz="920" dirty="0"/>
          </a:p>
        </p:txBody>
      </p:sp>
      <p:sp>
        <p:nvSpPr>
          <p:cNvPr id="17" name="Shape 15"/>
          <p:cNvSpPr/>
          <p:nvPr/>
        </p:nvSpPr>
        <p:spPr>
          <a:xfrm>
            <a:off x="731520" y="3931920"/>
            <a:ext cx="6784848" cy="557784"/>
          </a:xfrm>
          <a:prstGeom prst="roundRect">
            <a:avLst/>
          </a:prstGeom>
          <a:solidFill>
            <a:srgbClr val="1E1E28"/>
          </a:solidFill>
          <a:ln w="8890">
            <a:solidFill>
              <a:srgbClr val="6FB3E8"/>
            </a:solidFill>
            <a:prstDash val="solid"/>
          </a:ln>
        </p:spPr>
      </p:sp>
      <p:sp>
        <p:nvSpPr>
          <p:cNvPr id="18" name="Text 16"/>
          <p:cNvSpPr txBox="1"/>
          <p:nvPr/>
        </p:nvSpPr>
        <p:spPr>
          <a:xfrm>
            <a:off x="932688" y="4087368"/>
            <a:ext cx="1490472" cy="164592"/>
          </a:xfrm>
          <a:prstGeom prst="rect">
            <a:avLst/>
          </a:prstGeom>
          <a:noFill/>
          <a:ln/>
        </p:spPr>
        <p:txBody>
          <a:bodyPr wrap="square" lIns="0" tIns="0" rIns="0" bIns="0" rtlCol="0" anchor="t">
            <a:normAutofit/>
          </a:bodyPr>
          <a:lstStyle/>
          <a:p>
            <a:pPr algn="l" indent="0" marL="0">
              <a:buNone/>
            </a:pPr>
            <a:r>
              <a:rPr lang="en-US" sz="800" b="1" spc="70" kern="0" dirty="0">
                <a:solidFill>
                  <a:srgbClr val="6FB3E8"/>
                </a:solidFill>
                <a:latin typeface="Courier New" pitchFamily="34" charset="0"/>
                <a:ea typeface="Courier New" pitchFamily="34" charset="-122"/>
                <a:cs typeface="Courier New" pitchFamily="34" charset="-120"/>
              </a:rPr>
              <a:t>NONFUNCTIONAL TARGETS</a:t>
            </a:r>
            <a:endParaRPr lang="en-US" sz="800" dirty="0"/>
          </a:p>
        </p:txBody>
      </p:sp>
      <p:sp>
        <p:nvSpPr>
          <p:cNvPr id="19" name="Text 17"/>
          <p:cNvSpPr txBox="1"/>
          <p:nvPr/>
        </p:nvSpPr>
        <p:spPr>
          <a:xfrm>
            <a:off x="2505456" y="4023360"/>
            <a:ext cx="4754880" cy="329184"/>
          </a:xfrm>
          <a:prstGeom prst="rect">
            <a:avLst/>
          </a:prstGeom>
          <a:noFill/>
          <a:ln/>
        </p:spPr>
        <p:txBody>
          <a:bodyPr wrap="square" lIns="0" tIns="0" rIns="0" bIns="0" rtlCol="0" anchor="ctr">
            <a:normAutofit/>
          </a:bodyPr>
          <a:lstStyle/>
          <a:p>
            <a:pPr algn="l" indent="0" marL="0">
              <a:buNone/>
            </a:pPr>
            <a:r>
              <a:rPr lang="en-US" sz="920" dirty="0">
                <a:solidFill>
                  <a:srgbClr val="E8E6E0"/>
                </a:solidFill>
                <a:latin typeface="Arial" pitchFamily="34" charset="0"/>
                <a:ea typeface="Arial" pitchFamily="34" charset="-122"/>
                <a:cs typeface="Arial" pitchFamily="34" charset="-120"/>
              </a:rPr>
              <a:t>Concurrency • latency • uptime • support • migration • RTO/RPO</a:t>
            </a:r>
            <a:endParaRPr lang="en-US" sz="920" dirty="0"/>
          </a:p>
        </p:txBody>
      </p:sp>
      <p:sp>
        <p:nvSpPr>
          <p:cNvPr id="20" name="Shape 18"/>
          <p:cNvSpPr/>
          <p:nvPr/>
        </p:nvSpPr>
        <p:spPr>
          <a:xfrm>
            <a:off x="731520" y="4654296"/>
            <a:ext cx="6784848" cy="557784"/>
          </a:xfrm>
          <a:prstGeom prst="roundRect">
            <a:avLst/>
          </a:prstGeom>
          <a:solidFill>
            <a:srgbClr val="1E1E28"/>
          </a:solidFill>
          <a:ln w="8890">
            <a:solidFill>
              <a:srgbClr val="7CC7A5"/>
            </a:solidFill>
            <a:prstDash val="solid"/>
          </a:ln>
        </p:spPr>
      </p:sp>
      <p:sp>
        <p:nvSpPr>
          <p:cNvPr id="21" name="Text 19"/>
          <p:cNvSpPr txBox="1"/>
          <p:nvPr/>
        </p:nvSpPr>
        <p:spPr>
          <a:xfrm>
            <a:off x="932688" y="4809744"/>
            <a:ext cx="1490472" cy="164592"/>
          </a:xfrm>
          <a:prstGeom prst="rect">
            <a:avLst/>
          </a:prstGeom>
          <a:noFill/>
          <a:ln/>
        </p:spPr>
        <p:txBody>
          <a:bodyPr wrap="square" lIns="0" tIns="0" rIns="0" bIns="0" rtlCol="0" anchor="t">
            <a:normAutofit/>
          </a:bodyPr>
          <a:lstStyle/>
          <a:p>
            <a:pPr algn="l" indent="0" marL="0">
              <a:buNone/>
            </a:pPr>
            <a:r>
              <a:rPr lang="en-US" sz="800" b="1" spc="70" kern="0" dirty="0">
                <a:solidFill>
                  <a:srgbClr val="7CC7A5"/>
                </a:solidFill>
                <a:latin typeface="Courier New" pitchFamily="34" charset="0"/>
                <a:ea typeface="Courier New" pitchFamily="34" charset="-122"/>
                <a:cs typeface="Courier New" pitchFamily="34" charset="-120"/>
              </a:rPr>
              <a:t>COMMERCIAL + IP</a:t>
            </a:r>
            <a:endParaRPr lang="en-US" sz="800" dirty="0"/>
          </a:p>
        </p:txBody>
      </p:sp>
      <p:sp>
        <p:nvSpPr>
          <p:cNvPr id="22" name="Text 20"/>
          <p:cNvSpPr txBox="1"/>
          <p:nvPr/>
        </p:nvSpPr>
        <p:spPr>
          <a:xfrm>
            <a:off x="2505456" y="4745736"/>
            <a:ext cx="4754880" cy="329184"/>
          </a:xfrm>
          <a:prstGeom prst="rect">
            <a:avLst/>
          </a:prstGeom>
          <a:noFill/>
          <a:ln/>
        </p:spPr>
        <p:txBody>
          <a:bodyPr wrap="square" lIns="0" tIns="0" rIns="0" bIns="0" rtlCol="0" anchor="ctr">
            <a:normAutofit/>
          </a:bodyPr>
          <a:lstStyle/>
          <a:p>
            <a:pPr algn="l" indent="0" marL="0">
              <a:buNone/>
            </a:pPr>
            <a:r>
              <a:rPr lang="en-US" sz="920" dirty="0">
                <a:solidFill>
                  <a:srgbClr val="E8E6E0"/>
                </a:solidFill>
                <a:latin typeface="Arial" pitchFamily="34" charset="0"/>
                <a:ea typeface="Arial" pitchFamily="34" charset="-122"/>
                <a:cs typeface="Arial" pitchFamily="34" charset="-120"/>
              </a:rPr>
              <a:t>Hosting • SLA • source ownership • Cybic pre-existing IP • bespoke client IP • model/data rights</a:t>
            </a:r>
            <a:endParaRPr lang="en-US" sz="920" dirty="0"/>
          </a:p>
        </p:txBody>
      </p:sp>
      <p:sp>
        <p:nvSpPr>
          <p:cNvPr id="23" name="Shape 21"/>
          <p:cNvSpPr/>
          <p:nvPr/>
        </p:nvSpPr>
        <p:spPr>
          <a:xfrm>
            <a:off x="7790688" y="1764792"/>
            <a:ext cx="3456432" cy="1883664"/>
          </a:xfrm>
          <a:prstGeom prst="roundRect">
            <a:avLst/>
          </a:prstGeom>
          <a:solidFill>
            <a:srgbClr val="20303D"/>
          </a:solidFill>
          <a:ln w="12700">
            <a:solidFill>
              <a:srgbClr val="6FB3E8"/>
            </a:solidFill>
            <a:prstDash val="solid"/>
          </a:ln>
        </p:spPr>
      </p:sp>
      <p:sp>
        <p:nvSpPr>
          <p:cNvPr id="24" name="Text 22"/>
          <p:cNvSpPr txBox="1"/>
          <p:nvPr/>
        </p:nvSpPr>
        <p:spPr>
          <a:xfrm>
            <a:off x="8028432" y="1993392"/>
            <a:ext cx="2980944" cy="219456"/>
          </a:xfrm>
          <a:prstGeom prst="rect">
            <a:avLst/>
          </a:prstGeom>
          <a:noFill/>
          <a:ln/>
        </p:spPr>
        <p:txBody>
          <a:bodyPr wrap="square" lIns="0" tIns="0" rIns="0" bIns="0" rtlCol="0" anchor="t">
            <a:normAutofit/>
          </a:bodyPr>
          <a:lstStyle/>
          <a:p>
            <a:pPr algn="ctr" indent="0" marL="0">
              <a:buNone/>
            </a:pPr>
            <a:r>
              <a:rPr lang="en-US" sz="900" b="1" spc="70" kern="0" dirty="0">
                <a:solidFill>
                  <a:srgbClr val="6FB3E8"/>
                </a:solidFill>
                <a:latin typeface="Courier New" pitchFamily="34" charset="0"/>
                <a:ea typeface="Courier New" pitchFamily="34" charset="-122"/>
                <a:cs typeface="Courier New" pitchFamily="34" charset="-120"/>
              </a:rPr>
              <a:t>COST MODEL AFTER DISCOVERY</a:t>
            </a:r>
            <a:endParaRPr lang="en-US" sz="900" dirty="0"/>
          </a:p>
        </p:txBody>
      </p:sp>
      <p:sp>
        <p:nvSpPr>
          <p:cNvPr id="25" name="Text 23"/>
          <p:cNvSpPr txBox="1"/>
          <p:nvPr/>
        </p:nvSpPr>
        <p:spPr>
          <a:xfrm>
            <a:off x="8083296" y="2404872"/>
            <a:ext cx="2871216" cy="969264"/>
          </a:xfrm>
          <a:prstGeom prst="rect">
            <a:avLst/>
          </a:prstGeom>
          <a:noFill/>
          <a:ln/>
        </p:spPr>
        <p:txBody>
          <a:bodyPr wrap="square" lIns="0" tIns="0" rIns="0" bIns="0" rtlCol="0" anchor="t">
            <a:normAutofit/>
          </a:bodyPr>
          <a:lstStyle/>
          <a:p>
            <a:pPr algn="ctr" indent="0" marL="0">
              <a:buNone/>
            </a:pPr>
            <a:r>
              <a:rPr lang="en-US" sz="980" dirty="0">
                <a:solidFill>
                  <a:srgbClr val="E8E6E0"/>
                </a:solidFill>
                <a:latin typeface="Arial" pitchFamily="34" charset="0"/>
                <a:ea typeface="Arial" pitchFamily="34" charset="-122"/>
                <a:cs typeface="Arial" pitchFamily="34" charset="-120"/>
              </a:rPr>
              <a:t>ONE-TIME</a:t>
            </a:r>
            <a:endParaRPr lang="en-US" sz="980" dirty="0"/>
          </a:p>
          <a:p>
            <a:pPr algn="ctr" indent="0" marL="0">
              <a:buNone/>
            </a:pPr>
            <a:r>
              <a:rPr lang="en-US" sz="980" dirty="0">
                <a:solidFill>
                  <a:srgbClr val="E8E6E0"/>
                </a:solidFill>
                <a:latin typeface="Arial" pitchFamily="34" charset="0"/>
                <a:ea typeface="Arial" pitchFamily="34" charset="-122"/>
                <a:cs typeface="Arial" pitchFamily="34" charset="-120"/>
              </a:rPr>
              <a:t>product • integration • security • data/migration • testing</a:t>
            </a:r>
            <a:endParaRPr lang="en-US" sz="980" dirty="0"/>
          </a:p>
          <a:p>
            <a:pPr algn="ctr" indent="0" marL="0">
              <a:buNone/>
            </a:pPr>
            <a:endParaRPr lang="en-US" sz="980" dirty="0"/>
          </a:p>
          <a:p>
            <a:pPr algn="ctr" indent="0" marL="0">
              <a:buNone/>
            </a:pPr>
            <a:r>
              <a:rPr lang="en-US" sz="980" dirty="0">
                <a:solidFill>
                  <a:srgbClr val="E8E6E0"/>
                </a:solidFill>
                <a:latin typeface="Arial" pitchFamily="34" charset="0"/>
                <a:ea typeface="Arial" pitchFamily="34" charset="-122"/>
                <a:cs typeface="Arial" pitchFamily="34" charset="-120"/>
              </a:rPr>
              <a:t>RECURRING</a:t>
            </a:r>
            <a:endParaRPr lang="en-US" sz="980" dirty="0"/>
          </a:p>
          <a:p>
            <a:pPr algn="ctr" indent="0" marL="0">
              <a:buNone/>
            </a:pPr>
            <a:r>
              <a:rPr lang="en-US" sz="980" dirty="0">
                <a:solidFill>
                  <a:srgbClr val="E8E6E0"/>
                </a:solidFill>
                <a:latin typeface="Arial" pitchFamily="34" charset="0"/>
                <a:ea typeface="Arial" pitchFamily="34" charset="-122"/>
                <a:cs typeface="Arial" pitchFamily="34" charset="-120"/>
              </a:rPr>
              <a:t>telephony • messages • models/speech • compute/storage • observability • support</a:t>
            </a:r>
            <a:endParaRPr lang="en-US" sz="980" dirty="0"/>
          </a:p>
        </p:txBody>
      </p:sp>
      <p:sp>
        <p:nvSpPr>
          <p:cNvPr id="26" name="Shape 24"/>
          <p:cNvSpPr/>
          <p:nvPr/>
        </p:nvSpPr>
        <p:spPr>
          <a:xfrm>
            <a:off x="7790688" y="3858768"/>
            <a:ext cx="3456432" cy="1938528"/>
          </a:xfrm>
          <a:prstGeom prst="roundRect">
            <a:avLst/>
          </a:prstGeom>
          <a:solidFill>
            <a:srgbClr val="20382F"/>
          </a:solidFill>
          <a:ln w="12700">
            <a:solidFill>
              <a:srgbClr val="7CC7A5"/>
            </a:solidFill>
            <a:prstDash val="solid"/>
          </a:ln>
        </p:spPr>
      </p:sp>
      <p:sp>
        <p:nvSpPr>
          <p:cNvPr id="27" name="Text 25"/>
          <p:cNvSpPr txBox="1"/>
          <p:nvPr/>
        </p:nvSpPr>
        <p:spPr>
          <a:xfrm>
            <a:off x="8028432" y="4087368"/>
            <a:ext cx="2980944" cy="219456"/>
          </a:xfrm>
          <a:prstGeom prst="rect">
            <a:avLst/>
          </a:prstGeom>
          <a:noFill/>
          <a:ln/>
        </p:spPr>
        <p:txBody>
          <a:bodyPr wrap="square" lIns="0" tIns="0" rIns="0" bIns="0" rtlCol="0" anchor="t">
            <a:normAutofit/>
          </a:bodyPr>
          <a:lstStyle/>
          <a:p>
            <a:pPr algn="ctr" indent="0" marL="0">
              <a:buNone/>
            </a:pPr>
            <a:r>
              <a:rPr lang="en-US" sz="900" b="1" spc="70" kern="0" dirty="0">
                <a:solidFill>
                  <a:srgbClr val="7CC7A5"/>
                </a:solidFill>
                <a:latin typeface="Courier New" pitchFamily="34" charset="0"/>
                <a:ea typeface="Courier New" pitchFamily="34" charset="-122"/>
                <a:cs typeface="Courier New" pitchFamily="34" charset="-120"/>
              </a:rPr>
              <a:t>ONGOING MAINTENANCE</a:t>
            </a:r>
            <a:endParaRPr lang="en-US" sz="900" dirty="0"/>
          </a:p>
        </p:txBody>
      </p:sp>
      <p:sp>
        <p:nvSpPr>
          <p:cNvPr id="28" name="Text 26"/>
          <p:cNvSpPr txBox="1"/>
          <p:nvPr/>
        </p:nvSpPr>
        <p:spPr>
          <a:xfrm>
            <a:off x="8083296" y="4480560"/>
            <a:ext cx="2871216" cy="987552"/>
          </a:xfrm>
          <a:prstGeom prst="rect">
            <a:avLst/>
          </a:prstGeom>
          <a:noFill/>
          <a:ln/>
        </p:spPr>
        <p:txBody>
          <a:bodyPr wrap="square" lIns="0" tIns="0" rIns="0" bIns="0" rtlCol="0" anchor="t">
            <a:normAutofit/>
          </a:bodyPr>
          <a:lstStyle/>
          <a:p>
            <a:pPr algn="ctr" indent="0" marL="0">
              <a:buNone/>
            </a:pPr>
            <a:r>
              <a:rPr lang="en-US" sz="1020" dirty="0">
                <a:solidFill>
                  <a:srgbClr val="E8E6E0"/>
                </a:solidFill>
                <a:latin typeface="Arial" pitchFamily="34" charset="0"/>
                <a:ea typeface="Arial" pitchFamily="34" charset="-122"/>
                <a:cs typeface="Arial" pitchFamily="34" charset="-120"/>
              </a:rPr>
              <a:t>Connector/API upkeep</a:t>
            </a:r>
            <a:endParaRPr lang="en-US" sz="1020" dirty="0"/>
          </a:p>
          <a:p>
            <a:pPr algn="ctr" indent="0" marL="0">
              <a:buNone/>
            </a:pPr>
            <a:r>
              <a:rPr lang="en-US" sz="1020" dirty="0">
                <a:solidFill>
                  <a:srgbClr val="E8E6E0"/>
                </a:solidFill>
                <a:latin typeface="Arial" pitchFamily="34" charset="0"/>
                <a:ea typeface="Arial" pitchFamily="34" charset="-122"/>
                <a:cs typeface="Arial" pitchFamily="34" charset="-120"/>
              </a:rPr>
              <a:t>Knowledge operations</a:t>
            </a:r>
            <a:endParaRPr lang="en-US" sz="1020" dirty="0"/>
          </a:p>
          <a:p>
            <a:pPr algn="ctr" indent="0" marL="0">
              <a:buNone/>
            </a:pPr>
            <a:r>
              <a:rPr lang="en-US" sz="1020" dirty="0">
                <a:solidFill>
                  <a:srgbClr val="E8E6E0"/>
                </a:solidFill>
                <a:latin typeface="Arial" pitchFamily="34" charset="0"/>
                <a:ea typeface="Arial" pitchFamily="34" charset="-122"/>
                <a:cs typeface="Arial" pitchFamily="34" charset="-120"/>
              </a:rPr>
              <a:t>Model + prompt + eval regression</a:t>
            </a:r>
            <a:endParaRPr lang="en-US" sz="1020" dirty="0"/>
          </a:p>
          <a:p>
            <a:pPr algn="ctr" indent="0" marL="0">
              <a:buNone/>
            </a:pPr>
            <a:r>
              <a:rPr lang="en-US" sz="1020" dirty="0">
                <a:solidFill>
                  <a:srgbClr val="E8E6E0"/>
                </a:solidFill>
                <a:latin typeface="Arial" pitchFamily="34" charset="0"/>
                <a:ea typeface="Arial" pitchFamily="34" charset="-122"/>
                <a:cs typeface="Arial" pitchFamily="34" charset="-120"/>
              </a:rPr>
              <a:t>Security patching + incident response</a:t>
            </a:r>
            <a:endParaRPr lang="en-US" sz="1020" dirty="0"/>
          </a:p>
          <a:p>
            <a:pPr algn="ctr" indent="0" marL="0">
              <a:buNone/>
            </a:pPr>
            <a:r>
              <a:rPr lang="en-US" sz="1020" dirty="0">
                <a:solidFill>
                  <a:srgbClr val="E8E6E0"/>
                </a:solidFill>
                <a:latin typeface="Arial" pitchFamily="34" charset="0"/>
                <a:ea typeface="Arial" pitchFamily="34" charset="-122"/>
                <a:cs typeface="Arial" pitchFamily="34" charset="-120"/>
              </a:rPr>
              <a:t>Observability/on-call + backup/DR drills</a:t>
            </a:r>
            <a:endParaRPr lang="en-US" sz="1020" dirty="0"/>
          </a:p>
          <a:p>
            <a:pPr algn="ctr" indent="0" marL="0">
              <a:buNone/>
            </a:pPr>
            <a:r>
              <a:rPr lang="en-US" sz="1020" dirty="0">
                <a:solidFill>
                  <a:srgbClr val="E8E6E0"/>
                </a:solidFill>
                <a:latin typeface="Arial" pitchFamily="34" charset="0"/>
                <a:ea typeface="Arial" pitchFamily="34" charset="-122"/>
                <a:cs typeface="Arial" pitchFamily="34" charset="-120"/>
              </a:rPr>
              <a:t>Cost, latency, and capacity tuning</a:t>
            </a:r>
            <a:endParaRPr lang="en-US" sz="1020" dirty="0"/>
          </a:p>
        </p:txBody>
      </p:sp>
      <p:sp>
        <p:nvSpPr>
          <p:cNvPr id="29" name="Text 27"/>
          <p:cNvSpPr txBox="1"/>
          <p:nvPr/>
        </p:nvSpPr>
        <p:spPr>
          <a:xfrm>
            <a:off x="914400" y="5989320"/>
            <a:ext cx="10332720" cy="256032"/>
          </a:xfrm>
          <a:prstGeom prst="rect">
            <a:avLst/>
          </a:prstGeom>
          <a:noFill/>
          <a:ln/>
        </p:spPr>
        <p:txBody>
          <a:bodyPr wrap="square" lIns="0" tIns="0" rIns="0" bIns="0" rtlCol="0" anchor="t">
            <a:normAutofit/>
          </a:bodyPr>
          <a:lstStyle/>
          <a:p>
            <a:pPr algn="ctr" indent="0" marL="0">
              <a:buNone/>
            </a:pPr>
            <a:r>
              <a:rPr lang="en-US" sz="1020" i="1" dirty="0">
                <a:solidFill>
                  <a:srgbClr val="9A97A3"/>
                </a:solidFill>
                <a:latin typeface="Arial" pitchFamily="34" charset="0"/>
                <a:ea typeface="Arial" pitchFamily="34" charset="-122"/>
                <a:cs typeface="Arial" pitchFamily="34" charset="-120"/>
              </a:rPr>
              <a:t>No responsible point estimate exists until volume, vendors, regions, compliance, migration, tenant count, SLA, and ownership terms are known.</a:t>
            </a:r>
            <a:endParaRPr lang="en-US" sz="1020" dirty="0"/>
          </a:p>
        </p:txBody>
      </p:sp>
      <p:sp>
        <p:nvSpPr>
          <p:cNvPr id="25" name="Slide Number Placeholder 0"/>
          <p:cNvSpPr>
            <a:spLocks noGrp="1"/>
          </p:cNvSpPr>
          <p:nvPr>
            <p:ph type="sldNum" sz="quarter" idx="4294967295"/>
          </p:nvPr>
        </p:nvSpPr>
        <p:spPr>
          <a:xfrm>
            <a:off x="11109960" y="6483096"/>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9A97A3"/>
                </a:solidFill>
                <a:latin typeface="Courier New"/>
                <a:ea typeface="Courier New"/>
                <a:cs typeface="Courier New"/>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6161D"/>
        </a:solidFill>
      </p:bgPr>
    </p:bg>
    <p:spTree>
      <p:nvGrpSpPr>
        <p:cNvPr id="1" name=""/>
        <p:cNvGrpSpPr/>
        <p:nvPr/>
      </p:nvGrpSpPr>
      <p:grpSpPr>
        <a:xfrm>
          <a:off x="0" y="0"/>
          <a:ext cx="0" cy="0"/>
          <a:chOff x="0" y="0"/>
          <a:chExt cx="0" cy="0"/>
        </a:xfrm>
      </p:grpSpPr>
      <p:sp>
        <p:nvSpPr>
          <p:cNvPr id="2" name="Text 0"/>
          <p:cNvSpPr txBox="1"/>
          <p:nvPr/>
        </p:nvSpPr>
        <p:spPr>
          <a:xfrm>
            <a:off x="713232" y="384048"/>
            <a:ext cx="5120640" cy="219456"/>
          </a:xfrm>
          <a:prstGeom prst="rect">
            <a:avLst/>
          </a:prstGeom>
          <a:noFill/>
          <a:ln/>
        </p:spPr>
        <p:txBody>
          <a:bodyPr wrap="square" lIns="0" tIns="0" rIns="0" bIns="0" rtlCol="0" anchor="t">
            <a:normAutofit/>
          </a:bodyPr>
          <a:lstStyle/>
          <a:p>
            <a:pPr algn="l" indent="0" marL="0">
              <a:buNone/>
            </a:pPr>
            <a:r>
              <a:rPr lang="en-US" sz="900" b="1" spc="210" kern="0" dirty="0">
                <a:solidFill>
                  <a:srgbClr val="9A97A3"/>
                </a:solidFill>
                <a:latin typeface="Courier New" pitchFamily="34" charset="0"/>
                <a:ea typeface="Courier New" pitchFamily="34" charset="-122"/>
                <a:cs typeface="Courier New" pitchFamily="34" charset="-120"/>
              </a:rPr>
              <a:t>RECOMMENDED NEXT STEP</a:t>
            </a:r>
            <a:endParaRPr lang="en-US" sz="900" dirty="0"/>
          </a:p>
        </p:txBody>
      </p:sp>
      <p:sp>
        <p:nvSpPr>
          <p:cNvPr id="3" name="Text 1"/>
          <p:cNvSpPr txBox="1"/>
          <p:nvPr/>
        </p:nvSpPr>
        <p:spPr>
          <a:xfrm>
            <a:off x="10424160" y="347472"/>
            <a:ext cx="1051560" cy="228600"/>
          </a:xfrm>
          <a:prstGeom prst="rect">
            <a:avLst/>
          </a:prstGeom>
          <a:noFill/>
          <a:ln/>
        </p:spPr>
        <p:txBody>
          <a:bodyPr wrap="square" lIns="0" tIns="0" rIns="0" bIns="0" rtlCol="0" anchor="t">
            <a:normAutofit/>
          </a:bodyPr>
          <a:lstStyle/>
          <a:p>
            <a:pPr algn="r" indent="0" marL="0">
              <a:buNone/>
            </a:pPr>
            <a:r>
              <a:rPr lang="en-US" sz="1000" b="1" spc="240" kern="0" dirty="0">
                <a:solidFill>
                  <a:srgbClr val="E8E6E0"/>
                </a:solidFill>
                <a:latin typeface="Courier New" pitchFamily="34" charset="0"/>
                <a:ea typeface="Courier New" pitchFamily="34" charset="-122"/>
                <a:cs typeface="Courier New" pitchFamily="34" charset="-120"/>
              </a:rPr>
              <a:t>CYBIC</a:t>
            </a:r>
            <a:endParaRPr lang="en-US" sz="1000" dirty="0"/>
          </a:p>
        </p:txBody>
      </p:sp>
      <p:sp>
        <p:nvSpPr>
          <p:cNvPr id="4" name="Text 2"/>
          <p:cNvSpPr txBox="1"/>
          <p:nvPr/>
        </p:nvSpPr>
        <p:spPr>
          <a:xfrm>
            <a:off x="685800" y="713232"/>
            <a:ext cx="10744200" cy="640080"/>
          </a:xfrm>
          <a:prstGeom prst="rect">
            <a:avLst/>
          </a:prstGeom>
          <a:noFill/>
          <a:ln/>
        </p:spPr>
        <p:txBody>
          <a:bodyPr wrap="square" lIns="0" tIns="0" rIns="0" bIns="0" rtlCol="0" anchor="t">
            <a:normAutofit/>
          </a:bodyPr>
          <a:lstStyle/>
          <a:p>
            <a:pPr algn="l" indent="0" marL="0">
              <a:buNone/>
            </a:pPr>
            <a:r>
              <a:rPr lang="en-US" sz="2800" b="1" dirty="0">
                <a:solidFill>
                  <a:srgbClr val="E8A33D"/>
                </a:solidFill>
                <a:latin typeface="Arial" pitchFamily="34" charset="0"/>
                <a:ea typeface="Arial" pitchFamily="34" charset="-122"/>
                <a:cs typeface="Arial" pitchFamily="34" charset="-120"/>
              </a:rPr>
              <a:t>Prove the journey, then scale the platform</a:t>
            </a:r>
            <a:endParaRPr lang="en-US" sz="2800" dirty="0"/>
          </a:p>
        </p:txBody>
      </p:sp>
      <p:sp>
        <p:nvSpPr>
          <p:cNvPr id="5" name="Shape 3"/>
          <p:cNvSpPr/>
          <p:nvPr/>
        </p:nvSpPr>
        <p:spPr>
          <a:xfrm>
            <a:off x="658368" y="6428232"/>
            <a:ext cx="10863072" cy="0"/>
          </a:xfrm>
          <a:prstGeom prst="line">
            <a:avLst/>
          </a:prstGeom>
          <a:noFill/>
          <a:ln w="8890">
            <a:solidFill>
              <a:srgbClr val="34323E"/>
            </a:solidFill>
            <a:prstDash val="solid"/>
          </a:ln>
        </p:spPr>
      </p:sp>
      <p:sp>
        <p:nvSpPr>
          <p:cNvPr id="6" name="Text 4"/>
          <p:cNvSpPr txBox="1"/>
          <p:nvPr/>
        </p:nvSpPr>
        <p:spPr>
          <a:xfrm>
            <a:off x="685800" y="6473952"/>
            <a:ext cx="2926080" cy="146304"/>
          </a:xfrm>
          <a:prstGeom prst="rect">
            <a:avLst/>
          </a:prstGeom>
          <a:noFill/>
          <a:ln/>
        </p:spPr>
        <p:txBody>
          <a:bodyPr wrap="square" lIns="0" tIns="0" rIns="0" bIns="0" rtlCol="0" anchor="t">
            <a:normAutofit/>
          </a:bodyPr>
          <a:lstStyle/>
          <a:p>
            <a:pPr algn="l" indent="0" marL="0">
              <a:buNone/>
            </a:pPr>
            <a:r>
              <a:rPr lang="en-US" sz="750" spc="120" kern="0" dirty="0">
                <a:solidFill>
                  <a:srgbClr val="9A97A3"/>
                </a:solidFill>
                <a:latin typeface="Courier New" pitchFamily="34" charset="0"/>
                <a:ea typeface="Courier New" pitchFamily="34" charset="-122"/>
                <a:cs typeface="Courier New" pitchFamily="34" charset="-120"/>
              </a:rPr>
              <a:t>CYBIC  •  CONFIDENTIAL</a:t>
            </a:r>
            <a:endParaRPr lang="en-US" sz="750" dirty="0"/>
          </a:p>
        </p:txBody>
      </p:sp>
      <p:sp>
        <p:nvSpPr>
          <p:cNvPr id="7" name="Shape 5"/>
          <p:cNvSpPr/>
          <p:nvPr/>
        </p:nvSpPr>
        <p:spPr>
          <a:xfrm>
            <a:off x="758952" y="1874520"/>
            <a:ext cx="3273552" cy="2084832"/>
          </a:xfrm>
          <a:prstGeom prst="roundRect">
            <a:avLst/>
          </a:prstGeom>
          <a:solidFill>
            <a:srgbClr val="3D3320"/>
          </a:solidFill>
          <a:ln w="16510">
            <a:solidFill>
              <a:srgbClr val="E8A33D"/>
            </a:solidFill>
            <a:prstDash val="solid"/>
          </a:ln>
        </p:spPr>
      </p:sp>
      <p:sp>
        <p:nvSpPr>
          <p:cNvPr id="8" name="Text 6"/>
          <p:cNvSpPr txBox="1"/>
          <p:nvPr/>
        </p:nvSpPr>
        <p:spPr>
          <a:xfrm>
            <a:off x="987552" y="2103120"/>
            <a:ext cx="411480" cy="182880"/>
          </a:xfrm>
          <a:prstGeom prst="rect">
            <a:avLst/>
          </a:prstGeom>
          <a:noFill/>
          <a:ln/>
        </p:spPr>
        <p:txBody>
          <a:bodyPr wrap="square" lIns="0" tIns="0" rIns="0" bIns="0" rtlCol="0" anchor="t">
            <a:normAutofit/>
          </a:bodyPr>
          <a:lstStyle/>
          <a:p>
            <a:pPr algn="l" indent="0" marL="0">
              <a:buNone/>
            </a:pPr>
            <a:r>
              <a:rPr lang="en-US" sz="800" b="1" dirty="0">
                <a:solidFill>
                  <a:srgbClr val="E8A33D"/>
                </a:solidFill>
                <a:latin typeface="Courier New" pitchFamily="34" charset="0"/>
                <a:ea typeface="Courier New" pitchFamily="34" charset="-122"/>
                <a:cs typeface="Courier New" pitchFamily="34" charset="-120"/>
              </a:rPr>
              <a:t>01</a:t>
            </a:r>
            <a:endParaRPr lang="en-US" sz="800" dirty="0"/>
          </a:p>
        </p:txBody>
      </p:sp>
      <p:sp>
        <p:nvSpPr>
          <p:cNvPr id="9" name="Text 7"/>
          <p:cNvSpPr txBox="1"/>
          <p:nvPr/>
        </p:nvSpPr>
        <p:spPr>
          <a:xfrm>
            <a:off x="1078992" y="2578608"/>
            <a:ext cx="2633472" cy="566928"/>
          </a:xfrm>
          <a:prstGeom prst="rect">
            <a:avLst/>
          </a:prstGeom>
          <a:noFill/>
          <a:ln/>
        </p:spPr>
        <p:txBody>
          <a:bodyPr wrap="square" lIns="0" tIns="0" rIns="0" bIns="0" rtlCol="0" anchor="ctr">
            <a:normAutofit/>
          </a:bodyPr>
          <a:lstStyle/>
          <a:p>
            <a:pPr algn="ctr" indent="0" marL="0">
              <a:buNone/>
            </a:pPr>
            <a:r>
              <a:rPr lang="en-US" sz="1300" b="1" spc="60" kern="0" dirty="0">
                <a:solidFill>
                  <a:srgbClr val="E8A33D"/>
                </a:solidFill>
                <a:latin typeface="Courier New" pitchFamily="34" charset="0"/>
                <a:ea typeface="Courier New" pitchFamily="34" charset="-122"/>
                <a:cs typeface="Courier New" pitchFamily="34" charset="-120"/>
              </a:rPr>
              <a:t>WORKING VOICE</a:t>
            </a:r>
            <a:endParaRPr lang="en-US" sz="1300" dirty="0"/>
          </a:p>
          <a:p>
            <a:pPr algn="ctr" indent="0" marL="0">
              <a:buNone/>
            </a:pPr>
            <a:r>
              <a:rPr lang="en-US" sz="1300" b="1" spc="60" kern="0" dirty="0">
                <a:solidFill>
                  <a:srgbClr val="E8A33D"/>
                </a:solidFill>
                <a:latin typeface="Courier New" pitchFamily="34" charset="0"/>
                <a:ea typeface="Courier New" pitchFamily="34" charset="-122"/>
                <a:cs typeface="Courier New" pitchFamily="34" charset="-120"/>
              </a:rPr>
              <a:t>INTELLIGENCE</a:t>
            </a:r>
            <a:endParaRPr lang="en-US" sz="1300" dirty="0"/>
          </a:p>
        </p:txBody>
      </p:sp>
      <p:sp>
        <p:nvSpPr>
          <p:cNvPr id="10" name="Text 8"/>
          <p:cNvSpPr txBox="1"/>
          <p:nvPr/>
        </p:nvSpPr>
        <p:spPr>
          <a:xfrm>
            <a:off x="1088136" y="3310128"/>
            <a:ext cx="2615184" cy="420624"/>
          </a:xfrm>
          <a:prstGeom prst="rect">
            <a:avLst/>
          </a:prstGeom>
          <a:noFill/>
          <a:ln/>
        </p:spPr>
        <p:txBody>
          <a:bodyPr wrap="square" lIns="0" tIns="0" rIns="0" bIns="0" rtlCol="0" anchor="t">
            <a:normAutofit/>
          </a:bodyPr>
          <a:lstStyle/>
          <a:p>
            <a:pPr algn="ctr" indent="0" marL="0">
              <a:buNone/>
            </a:pPr>
            <a:r>
              <a:rPr lang="en-US" sz="1100" dirty="0">
                <a:solidFill>
                  <a:srgbClr val="E8E6E0"/>
                </a:solidFill>
                <a:latin typeface="Arial" pitchFamily="34" charset="0"/>
                <a:ea typeface="Arial" pitchFamily="34" charset="-122"/>
                <a:cs typeface="Arial" pitchFamily="34" charset="-120"/>
              </a:rPr>
              <a:t>Demonstrates reusable</a:t>
            </a:r>
            <a:endParaRPr lang="en-US" sz="1100" dirty="0"/>
          </a:p>
          <a:p>
            <a:pPr algn="ctr" indent="0" marL="0">
              <a:buNone/>
            </a:pPr>
            <a:r>
              <a:rPr lang="en-US" sz="1100" dirty="0">
                <a:solidFill>
                  <a:srgbClr val="E8E6E0"/>
                </a:solidFill>
                <a:latin typeface="Arial" pitchFamily="34" charset="0"/>
                <a:ea typeface="Arial" pitchFamily="34" charset="-122"/>
                <a:cs typeface="Arial" pitchFamily="34" charset="-120"/>
              </a:rPr>
              <a:t>conversation components</a:t>
            </a:r>
            <a:endParaRPr lang="en-US" sz="1100" dirty="0"/>
          </a:p>
        </p:txBody>
      </p:sp>
      <p:sp>
        <p:nvSpPr>
          <p:cNvPr id="11" name="Shape 9"/>
          <p:cNvSpPr/>
          <p:nvPr/>
        </p:nvSpPr>
        <p:spPr>
          <a:xfrm>
            <a:off x="4160520" y="2743200"/>
            <a:ext cx="274320" cy="292608"/>
          </a:xfrm>
          <a:prstGeom prst="chevron">
            <a:avLst/>
          </a:prstGeom>
          <a:solidFill>
            <a:srgbClr val="34323E"/>
          </a:solidFill>
          <a:ln w="12700">
            <a:solidFill>
              <a:srgbClr val="34323E"/>
            </a:solidFill>
            <a:prstDash val="solid"/>
          </a:ln>
        </p:spPr>
      </p:sp>
      <p:sp>
        <p:nvSpPr>
          <p:cNvPr id="12" name="Shape 10"/>
          <p:cNvSpPr/>
          <p:nvPr/>
        </p:nvSpPr>
        <p:spPr>
          <a:xfrm>
            <a:off x="4562856" y="1874520"/>
            <a:ext cx="3273552" cy="2084832"/>
          </a:xfrm>
          <a:prstGeom prst="roundRect">
            <a:avLst/>
          </a:prstGeom>
          <a:solidFill>
            <a:srgbClr val="20303D"/>
          </a:solidFill>
          <a:ln w="16510">
            <a:solidFill>
              <a:srgbClr val="6FB3E8"/>
            </a:solidFill>
            <a:prstDash val="solid"/>
          </a:ln>
        </p:spPr>
      </p:sp>
      <p:sp>
        <p:nvSpPr>
          <p:cNvPr id="13" name="Text 11"/>
          <p:cNvSpPr txBox="1"/>
          <p:nvPr/>
        </p:nvSpPr>
        <p:spPr>
          <a:xfrm>
            <a:off x="4791456" y="2103120"/>
            <a:ext cx="411480" cy="182880"/>
          </a:xfrm>
          <a:prstGeom prst="rect">
            <a:avLst/>
          </a:prstGeom>
          <a:noFill/>
          <a:ln/>
        </p:spPr>
        <p:txBody>
          <a:bodyPr wrap="square" lIns="0" tIns="0" rIns="0" bIns="0" rtlCol="0" anchor="t">
            <a:normAutofit/>
          </a:bodyPr>
          <a:lstStyle/>
          <a:p>
            <a:pPr algn="l" indent="0" marL="0">
              <a:buNone/>
            </a:pPr>
            <a:r>
              <a:rPr lang="en-US" sz="800" b="1" dirty="0">
                <a:solidFill>
                  <a:srgbClr val="6FB3E8"/>
                </a:solidFill>
                <a:latin typeface="Courier New" pitchFamily="34" charset="0"/>
                <a:ea typeface="Courier New" pitchFamily="34" charset="-122"/>
                <a:cs typeface="Courier New" pitchFamily="34" charset="-120"/>
              </a:rPr>
              <a:t>02</a:t>
            </a:r>
            <a:endParaRPr lang="en-US" sz="800" dirty="0"/>
          </a:p>
        </p:txBody>
      </p:sp>
      <p:sp>
        <p:nvSpPr>
          <p:cNvPr id="14" name="Text 12"/>
          <p:cNvSpPr txBox="1"/>
          <p:nvPr/>
        </p:nvSpPr>
        <p:spPr>
          <a:xfrm>
            <a:off x="4882896" y="2578608"/>
            <a:ext cx="2633472" cy="566928"/>
          </a:xfrm>
          <a:prstGeom prst="rect">
            <a:avLst/>
          </a:prstGeom>
          <a:noFill/>
          <a:ln/>
        </p:spPr>
        <p:txBody>
          <a:bodyPr wrap="square" lIns="0" tIns="0" rIns="0" bIns="0" rtlCol="0" anchor="ctr">
            <a:normAutofit/>
          </a:bodyPr>
          <a:lstStyle/>
          <a:p>
            <a:pPr algn="ctr" indent="0" marL="0">
              <a:buNone/>
            </a:pPr>
            <a:r>
              <a:rPr lang="en-US" sz="1300" b="1" spc="60" kern="0" dirty="0">
                <a:solidFill>
                  <a:srgbClr val="6FB3E8"/>
                </a:solidFill>
                <a:latin typeface="Courier New" pitchFamily="34" charset="0"/>
                <a:ea typeface="Courier New" pitchFamily="34" charset="-122"/>
                <a:cs typeface="Courier New" pitchFamily="34" charset="-120"/>
              </a:rPr>
              <a:t>CROSS-CHANNEL</a:t>
            </a:r>
            <a:endParaRPr lang="en-US" sz="1300" dirty="0"/>
          </a:p>
          <a:p>
            <a:pPr algn="ctr" indent="0" marL="0">
              <a:buNone/>
            </a:pPr>
            <a:r>
              <a:rPr lang="en-US" sz="1300" b="1" spc="60" kern="0" dirty="0">
                <a:solidFill>
                  <a:srgbClr val="6FB3E8"/>
                </a:solidFill>
                <a:latin typeface="Courier New" pitchFamily="34" charset="0"/>
                <a:ea typeface="Courier New" pitchFamily="34" charset="-122"/>
                <a:cs typeface="Courier New" pitchFamily="34" charset="-120"/>
              </a:rPr>
              <a:t>MVP</a:t>
            </a:r>
            <a:endParaRPr lang="en-US" sz="1300" dirty="0"/>
          </a:p>
        </p:txBody>
      </p:sp>
      <p:sp>
        <p:nvSpPr>
          <p:cNvPr id="15" name="Text 13"/>
          <p:cNvSpPr txBox="1"/>
          <p:nvPr/>
        </p:nvSpPr>
        <p:spPr>
          <a:xfrm>
            <a:off x="4892040" y="3310128"/>
            <a:ext cx="2615184" cy="420624"/>
          </a:xfrm>
          <a:prstGeom prst="rect">
            <a:avLst/>
          </a:prstGeom>
          <a:noFill/>
          <a:ln/>
        </p:spPr>
        <p:txBody>
          <a:bodyPr wrap="square" lIns="0" tIns="0" rIns="0" bIns="0" rtlCol="0" anchor="t">
            <a:normAutofit/>
          </a:bodyPr>
          <a:lstStyle/>
          <a:p>
            <a:pPr algn="ctr" indent="0" marL="0">
              <a:buNone/>
            </a:pPr>
            <a:r>
              <a:rPr lang="en-US" sz="1100" dirty="0">
                <a:solidFill>
                  <a:srgbClr val="E8E6E0"/>
                </a:solidFill>
                <a:latin typeface="Arial" pitchFamily="34" charset="0"/>
                <a:ea typeface="Arial" pitchFamily="34" charset="-122"/>
                <a:cs typeface="Arial" pitchFamily="34" charset="-120"/>
              </a:rPr>
              <a:t>Proves identity, continuity,</a:t>
            </a:r>
            <a:endParaRPr lang="en-US" sz="1100" dirty="0"/>
          </a:p>
          <a:p>
            <a:pPr algn="ctr" indent="0" marL="0">
              <a:buNone/>
            </a:pPr>
            <a:r>
              <a:rPr lang="en-US" sz="1100" dirty="0">
                <a:solidFill>
                  <a:srgbClr val="E8E6E0"/>
                </a:solidFill>
                <a:latin typeface="Arial" pitchFamily="34" charset="0"/>
                <a:ea typeface="Arial" pitchFamily="34" charset="-122"/>
                <a:cs typeface="Arial" pitchFamily="34" charset="-120"/>
              </a:rPr>
              <a:t>and one governed outcome</a:t>
            </a:r>
            <a:endParaRPr lang="en-US" sz="1100" dirty="0"/>
          </a:p>
        </p:txBody>
      </p:sp>
      <p:sp>
        <p:nvSpPr>
          <p:cNvPr id="16" name="Shape 14"/>
          <p:cNvSpPr/>
          <p:nvPr/>
        </p:nvSpPr>
        <p:spPr>
          <a:xfrm>
            <a:off x="7964424" y="2743200"/>
            <a:ext cx="274320" cy="292608"/>
          </a:xfrm>
          <a:prstGeom prst="chevron">
            <a:avLst/>
          </a:prstGeom>
          <a:solidFill>
            <a:srgbClr val="34323E"/>
          </a:solidFill>
          <a:ln w="12700">
            <a:solidFill>
              <a:srgbClr val="34323E"/>
            </a:solidFill>
            <a:prstDash val="solid"/>
          </a:ln>
        </p:spPr>
      </p:sp>
      <p:sp>
        <p:nvSpPr>
          <p:cNvPr id="17" name="Shape 15"/>
          <p:cNvSpPr/>
          <p:nvPr/>
        </p:nvSpPr>
        <p:spPr>
          <a:xfrm>
            <a:off x="8366760" y="1874520"/>
            <a:ext cx="3273552" cy="2084832"/>
          </a:xfrm>
          <a:prstGeom prst="roundRect">
            <a:avLst/>
          </a:prstGeom>
          <a:solidFill>
            <a:srgbClr val="20382F"/>
          </a:solidFill>
          <a:ln w="16510">
            <a:solidFill>
              <a:srgbClr val="7CC7A5"/>
            </a:solidFill>
            <a:prstDash val="solid"/>
          </a:ln>
        </p:spPr>
      </p:sp>
      <p:sp>
        <p:nvSpPr>
          <p:cNvPr id="18" name="Text 16"/>
          <p:cNvSpPr txBox="1"/>
          <p:nvPr/>
        </p:nvSpPr>
        <p:spPr>
          <a:xfrm>
            <a:off x="8595360" y="2103120"/>
            <a:ext cx="411480" cy="182880"/>
          </a:xfrm>
          <a:prstGeom prst="rect">
            <a:avLst/>
          </a:prstGeom>
          <a:noFill/>
          <a:ln/>
        </p:spPr>
        <p:txBody>
          <a:bodyPr wrap="square" lIns="0" tIns="0" rIns="0" bIns="0" rtlCol="0" anchor="t">
            <a:normAutofit/>
          </a:bodyPr>
          <a:lstStyle/>
          <a:p>
            <a:pPr algn="l" indent="0" marL="0">
              <a:buNone/>
            </a:pPr>
            <a:r>
              <a:rPr lang="en-US" sz="800" b="1" dirty="0">
                <a:solidFill>
                  <a:srgbClr val="7CC7A5"/>
                </a:solidFill>
                <a:latin typeface="Courier New" pitchFamily="34" charset="0"/>
                <a:ea typeface="Courier New" pitchFamily="34" charset="-122"/>
                <a:cs typeface="Courier New" pitchFamily="34" charset="-120"/>
              </a:rPr>
              <a:t>03</a:t>
            </a:r>
            <a:endParaRPr lang="en-US" sz="800" dirty="0"/>
          </a:p>
        </p:txBody>
      </p:sp>
      <p:sp>
        <p:nvSpPr>
          <p:cNvPr id="19" name="Text 17"/>
          <p:cNvSpPr txBox="1"/>
          <p:nvPr/>
        </p:nvSpPr>
        <p:spPr>
          <a:xfrm>
            <a:off x="8686800" y="2578608"/>
            <a:ext cx="2633472" cy="566928"/>
          </a:xfrm>
          <a:prstGeom prst="rect">
            <a:avLst/>
          </a:prstGeom>
          <a:noFill/>
          <a:ln/>
        </p:spPr>
        <p:txBody>
          <a:bodyPr wrap="square" lIns="0" tIns="0" rIns="0" bIns="0" rtlCol="0" anchor="ctr">
            <a:normAutofit/>
          </a:bodyPr>
          <a:lstStyle/>
          <a:p>
            <a:pPr algn="ctr" indent="0" marL="0">
              <a:buNone/>
            </a:pPr>
            <a:r>
              <a:rPr lang="en-US" sz="1300" b="1" spc="60" kern="0" dirty="0">
                <a:solidFill>
                  <a:srgbClr val="7CC7A5"/>
                </a:solidFill>
                <a:latin typeface="Courier New" pitchFamily="34" charset="0"/>
                <a:ea typeface="Courier New" pitchFamily="34" charset="-122"/>
                <a:cs typeface="Courier New" pitchFamily="34" charset="-120"/>
              </a:rPr>
              <a:t>GOVERNED ENGAGEMENT</a:t>
            </a:r>
            <a:endParaRPr lang="en-US" sz="1300" dirty="0"/>
          </a:p>
          <a:p>
            <a:pPr algn="ctr" indent="0" marL="0">
              <a:buNone/>
            </a:pPr>
            <a:r>
              <a:rPr lang="en-US" sz="1300" b="1" spc="60" kern="0" dirty="0">
                <a:solidFill>
                  <a:srgbClr val="7CC7A5"/>
                </a:solidFill>
                <a:latin typeface="Courier New" pitchFamily="34" charset="0"/>
                <a:ea typeface="Courier New" pitchFamily="34" charset="-122"/>
                <a:cs typeface="Courier New" pitchFamily="34" charset="-120"/>
              </a:rPr>
              <a:t>PLATFORM</a:t>
            </a:r>
            <a:endParaRPr lang="en-US" sz="1300" dirty="0"/>
          </a:p>
        </p:txBody>
      </p:sp>
      <p:sp>
        <p:nvSpPr>
          <p:cNvPr id="20" name="Text 18"/>
          <p:cNvSpPr txBox="1"/>
          <p:nvPr/>
        </p:nvSpPr>
        <p:spPr>
          <a:xfrm>
            <a:off x="8695944" y="3310128"/>
            <a:ext cx="2615184" cy="420624"/>
          </a:xfrm>
          <a:prstGeom prst="rect">
            <a:avLst/>
          </a:prstGeom>
          <a:noFill/>
          <a:ln/>
        </p:spPr>
        <p:txBody>
          <a:bodyPr wrap="square" lIns="0" tIns="0" rIns="0" bIns="0" rtlCol="0" anchor="t">
            <a:normAutofit/>
          </a:bodyPr>
          <a:lstStyle/>
          <a:p>
            <a:pPr algn="ctr" indent="0" marL="0">
              <a:buNone/>
            </a:pPr>
            <a:r>
              <a:rPr lang="en-US" sz="1100" dirty="0">
                <a:solidFill>
                  <a:srgbClr val="E8E6E0"/>
                </a:solidFill>
                <a:latin typeface="Arial" pitchFamily="34" charset="0"/>
                <a:ea typeface="Arial" pitchFamily="34" charset="-122"/>
                <a:cs typeface="Arial" pitchFamily="34" charset="-120"/>
              </a:rPr>
              <a:t>Scales channels, workflows,</a:t>
            </a:r>
            <a:endParaRPr lang="en-US" sz="1100" dirty="0"/>
          </a:p>
          <a:p>
            <a:pPr algn="ctr" indent="0" marL="0">
              <a:buNone/>
            </a:pPr>
            <a:r>
              <a:rPr lang="en-US" sz="1100" dirty="0">
                <a:solidFill>
                  <a:srgbClr val="E8E6E0"/>
                </a:solidFill>
                <a:latin typeface="Arial" pitchFamily="34" charset="0"/>
                <a:ea typeface="Arial" pitchFamily="34" charset="-122"/>
                <a:cs typeface="Arial" pitchFamily="34" charset="-120"/>
              </a:rPr>
              <a:t>integrations, and intelligence</a:t>
            </a:r>
            <a:endParaRPr lang="en-US" sz="1100" dirty="0"/>
          </a:p>
        </p:txBody>
      </p:sp>
      <p:sp>
        <p:nvSpPr>
          <p:cNvPr id="21" name="Shape 19"/>
          <p:cNvSpPr/>
          <p:nvPr/>
        </p:nvSpPr>
        <p:spPr>
          <a:xfrm>
            <a:off x="1097280" y="4434840"/>
            <a:ext cx="9966960" cy="621792"/>
          </a:xfrm>
          <a:prstGeom prst="roundRect">
            <a:avLst/>
          </a:prstGeom>
          <a:solidFill>
            <a:srgbClr val="1E1E28"/>
          </a:solidFill>
          <a:ln w="15240">
            <a:solidFill>
              <a:srgbClr val="E8A33D"/>
            </a:solidFill>
            <a:prstDash val="solid"/>
          </a:ln>
        </p:spPr>
      </p:sp>
      <p:sp>
        <p:nvSpPr>
          <p:cNvPr id="22" name="Text 20"/>
          <p:cNvSpPr txBox="1"/>
          <p:nvPr/>
        </p:nvSpPr>
        <p:spPr>
          <a:xfrm>
            <a:off x="1408176" y="4562856"/>
            <a:ext cx="9345168" cy="365760"/>
          </a:xfrm>
          <a:prstGeom prst="rect">
            <a:avLst/>
          </a:prstGeom>
          <a:noFill/>
          <a:ln/>
        </p:spPr>
        <p:txBody>
          <a:bodyPr wrap="square" lIns="0" tIns="0" rIns="0" bIns="0" rtlCol="0" anchor="ctr">
            <a:normAutofit/>
          </a:bodyPr>
          <a:lstStyle/>
          <a:p>
            <a:pPr algn="ctr" indent="0" marL="0">
              <a:buNone/>
            </a:pPr>
            <a:r>
              <a:rPr lang="en-US" sz="1150" b="1" dirty="0">
                <a:solidFill>
                  <a:srgbClr val="E8E6E0"/>
                </a:solidFill>
                <a:latin typeface="Arial" pitchFamily="34" charset="0"/>
                <a:ea typeface="Arial" pitchFamily="34" charset="-122"/>
                <a:cs typeface="Arial" pitchFamily="34" charset="-120"/>
              </a:rPr>
              <a:t>Approve a 3–4 week discovery to lock the MVP journey, acceptance criteria, integration choices, security/hosting design, delivery plan, ROM cost, and IP terms.</a:t>
            </a:r>
            <a:endParaRPr lang="en-US" sz="1150" dirty="0"/>
          </a:p>
        </p:txBody>
      </p:sp>
      <p:sp>
        <p:nvSpPr>
          <p:cNvPr id="23" name="Text 21"/>
          <p:cNvSpPr txBox="1"/>
          <p:nvPr/>
        </p:nvSpPr>
        <p:spPr>
          <a:xfrm>
            <a:off x="987552" y="5468112"/>
            <a:ext cx="10195560" cy="393192"/>
          </a:xfrm>
          <a:prstGeom prst="rect">
            <a:avLst/>
          </a:prstGeom>
          <a:noFill/>
          <a:ln/>
        </p:spPr>
        <p:txBody>
          <a:bodyPr wrap="square" lIns="0" tIns="0" rIns="0" bIns="0" rtlCol="0" anchor="t">
            <a:normAutofit/>
          </a:bodyPr>
          <a:lstStyle/>
          <a:p>
            <a:pPr algn="ctr" indent="0" marL="0">
              <a:buNone/>
            </a:pPr>
            <a:r>
              <a:rPr lang="en-US" sz="1400" b="1" dirty="0">
                <a:solidFill>
                  <a:srgbClr val="7CC7A5"/>
                </a:solidFill>
                <a:latin typeface="Arial" pitchFamily="34" charset="0"/>
                <a:ea typeface="Arial" pitchFamily="34" charset="-122"/>
                <a:cs typeface="Arial" pitchFamily="34" charset="-120"/>
              </a:rPr>
              <a:t>The demo proves reusable conversation intelligence.  The MVP proves continuity.  The platform turns conversations into governed business outcomes.</a:t>
            </a:r>
            <a:endParaRPr lang="en-US" sz="1400" dirty="0"/>
          </a:p>
        </p:txBody>
      </p:sp>
      <p:sp>
        <p:nvSpPr>
          <p:cNvPr id="24" name="Text 22"/>
          <p:cNvSpPr txBox="1"/>
          <p:nvPr/>
        </p:nvSpPr>
        <p:spPr>
          <a:xfrm>
            <a:off x="1234440" y="5925312"/>
            <a:ext cx="9729216" cy="292608"/>
          </a:xfrm>
          <a:prstGeom prst="rect">
            <a:avLst/>
          </a:prstGeom>
          <a:noFill/>
          <a:ln/>
        </p:spPr>
        <p:txBody>
          <a:bodyPr wrap="square" lIns="0" tIns="0" rIns="0" bIns="0" rtlCol="0" anchor="t">
            <a:normAutofit/>
          </a:bodyPr>
          <a:lstStyle/>
          <a:p>
            <a:pPr algn="ctr" indent="0" marL="0">
              <a:buNone/>
            </a:pPr>
            <a:r>
              <a:rPr lang="en-US" sz="1000" i="1" dirty="0">
                <a:solidFill>
                  <a:srgbClr val="9A97A3"/>
                </a:solidFill>
                <a:latin typeface="Arial" pitchFamily="34" charset="0"/>
                <a:ea typeface="Arial" pitchFamily="34" charset="-122"/>
                <a:cs typeface="Arial" pitchFamily="34" charset="-120"/>
              </a:rPr>
              <a:t>Demonstrates Cybic's ability to move from conversational AI toward actionable business workflows rather than simply providing a voice chatbot.</a:t>
            </a:r>
            <a:endParaRPr lang="en-US" sz="1000" dirty="0"/>
          </a:p>
        </p:txBody>
      </p:sp>
      <p:sp>
        <p:nvSpPr>
          <p:cNvPr id="25" name="Slide Number Placeholder 0"/>
          <p:cNvSpPr>
            <a:spLocks noGrp="1"/>
          </p:cNvSpPr>
          <p:nvPr>
            <p:ph type="sldNum" sz="quarter" idx="4294967295"/>
          </p:nvPr>
        </p:nvSpPr>
        <p:spPr>
          <a:xfrm>
            <a:off x="11109960" y="6483096"/>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9A97A3"/>
                </a:solidFill>
                <a:latin typeface="Courier New"/>
                <a:ea typeface="Courier New"/>
                <a:cs typeface="Courier New"/>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6161D"/>
        </a:solidFill>
      </p:bgPr>
    </p:bg>
    <p:spTree>
      <p:nvGrpSpPr>
        <p:cNvPr id="1" name=""/>
        <p:cNvGrpSpPr/>
        <p:nvPr/>
      </p:nvGrpSpPr>
      <p:grpSpPr>
        <a:xfrm>
          <a:off x="0" y="0"/>
          <a:ext cx="0" cy="0"/>
          <a:chOff x="0" y="0"/>
          <a:chExt cx="0" cy="0"/>
        </a:xfrm>
      </p:grpSpPr>
      <p:sp>
        <p:nvSpPr>
          <p:cNvPr id="2" name="Text 0"/>
          <p:cNvSpPr txBox="1"/>
          <p:nvPr/>
        </p:nvSpPr>
        <p:spPr>
          <a:xfrm>
            <a:off x="713232" y="384048"/>
            <a:ext cx="5120640" cy="219456"/>
          </a:xfrm>
          <a:prstGeom prst="rect">
            <a:avLst/>
          </a:prstGeom>
          <a:noFill/>
          <a:ln/>
        </p:spPr>
        <p:txBody>
          <a:bodyPr wrap="square" lIns="0" tIns="0" rIns="0" bIns="0" rtlCol="0" anchor="t">
            <a:normAutofit/>
          </a:bodyPr>
          <a:lstStyle/>
          <a:p>
            <a:pPr algn="l" indent="0" marL="0">
              <a:buNone/>
            </a:pPr>
            <a:r>
              <a:rPr lang="en-US" sz="900" b="1" spc="210" kern="0" dirty="0">
                <a:solidFill>
                  <a:srgbClr val="9A97A3"/>
                </a:solidFill>
                <a:latin typeface="Courier New" pitchFamily="34" charset="0"/>
                <a:ea typeface="Courier New" pitchFamily="34" charset="-122"/>
                <a:cs typeface="Courier New" pitchFamily="34" charset="-120"/>
              </a:rPr>
              <a:t>APPENDIX A</a:t>
            </a:r>
            <a:endParaRPr lang="en-US" sz="900" dirty="0"/>
          </a:p>
        </p:txBody>
      </p:sp>
      <p:sp>
        <p:nvSpPr>
          <p:cNvPr id="3" name="Text 1"/>
          <p:cNvSpPr txBox="1"/>
          <p:nvPr/>
        </p:nvSpPr>
        <p:spPr>
          <a:xfrm>
            <a:off x="10424160" y="347472"/>
            <a:ext cx="1051560" cy="228600"/>
          </a:xfrm>
          <a:prstGeom prst="rect">
            <a:avLst/>
          </a:prstGeom>
          <a:noFill/>
          <a:ln/>
        </p:spPr>
        <p:txBody>
          <a:bodyPr wrap="square" lIns="0" tIns="0" rIns="0" bIns="0" rtlCol="0" anchor="t">
            <a:normAutofit/>
          </a:bodyPr>
          <a:lstStyle/>
          <a:p>
            <a:pPr algn="r" indent="0" marL="0">
              <a:buNone/>
            </a:pPr>
            <a:r>
              <a:rPr lang="en-US" sz="1000" b="1" spc="240" kern="0" dirty="0">
                <a:solidFill>
                  <a:srgbClr val="E8E6E0"/>
                </a:solidFill>
                <a:latin typeface="Courier New" pitchFamily="34" charset="0"/>
                <a:ea typeface="Courier New" pitchFamily="34" charset="-122"/>
                <a:cs typeface="Courier New" pitchFamily="34" charset="-120"/>
              </a:rPr>
              <a:t>CYBIC</a:t>
            </a:r>
            <a:endParaRPr lang="en-US" sz="1000" dirty="0"/>
          </a:p>
        </p:txBody>
      </p:sp>
      <p:sp>
        <p:nvSpPr>
          <p:cNvPr id="4" name="Text 2"/>
          <p:cNvSpPr txBox="1"/>
          <p:nvPr/>
        </p:nvSpPr>
        <p:spPr>
          <a:xfrm>
            <a:off x="685800" y="713232"/>
            <a:ext cx="10744200" cy="566928"/>
          </a:xfrm>
          <a:prstGeom prst="rect">
            <a:avLst/>
          </a:prstGeom>
          <a:noFill/>
          <a:ln/>
        </p:spPr>
        <p:txBody>
          <a:bodyPr wrap="square" lIns="0" tIns="0" rIns="0" bIns="0" rtlCol="0" anchor="t">
            <a:normAutofit/>
          </a:bodyPr>
          <a:lstStyle/>
          <a:p>
            <a:pPr algn="l" indent="0" marL="0">
              <a:buNone/>
            </a:pPr>
            <a:r>
              <a:rPr lang="en-US" sz="2800" b="1" dirty="0">
                <a:solidFill>
                  <a:srgbClr val="E8E6E0"/>
                </a:solidFill>
                <a:latin typeface="Arial" pitchFamily="34" charset="0"/>
                <a:ea typeface="Arial" pitchFamily="34" charset="-122"/>
                <a:cs typeface="Arial" pitchFamily="34" charset="-120"/>
              </a:rPr>
              <a:t>Proposal capability status — evidence-safe view</a:t>
            </a:r>
            <a:endParaRPr lang="en-US" sz="2800" dirty="0"/>
          </a:p>
        </p:txBody>
      </p:sp>
      <p:sp>
        <p:nvSpPr>
          <p:cNvPr id="5" name="Text 3"/>
          <p:cNvSpPr txBox="1"/>
          <p:nvPr/>
        </p:nvSpPr>
        <p:spPr>
          <a:xfrm>
            <a:off x="713232" y="1298448"/>
            <a:ext cx="10607040" cy="411480"/>
          </a:xfrm>
          <a:prstGeom prst="rect">
            <a:avLst/>
          </a:prstGeom>
          <a:noFill/>
          <a:ln/>
        </p:spPr>
        <p:txBody>
          <a:bodyPr wrap="square" lIns="0" tIns="0" rIns="0" bIns="0" rtlCol="0" anchor="t">
            <a:normAutofit/>
          </a:bodyPr>
          <a:lstStyle/>
          <a:p>
            <a:pPr algn="l" indent="0" marL="0">
              <a:buNone/>
            </a:pPr>
            <a:r>
              <a:rPr lang="en-US" sz="1350" dirty="0">
                <a:solidFill>
                  <a:srgbClr val="9A97A3"/>
                </a:solidFill>
                <a:latin typeface="Arial" pitchFamily="34" charset="0"/>
                <a:ea typeface="Arial" pitchFamily="34" charset="-122"/>
                <a:cs typeface="Arial" pitchFamily="34" charset="-120"/>
              </a:rPr>
              <a:t>Status reflects the current repository reviewed in August 2026.</a:t>
            </a:r>
            <a:endParaRPr lang="en-US" sz="1350" dirty="0"/>
          </a:p>
        </p:txBody>
      </p:sp>
      <p:sp>
        <p:nvSpPr>
          <p:cNvPr id="6" name="Shape 4"/>
          <p:cNvSpPr/>
          <p:nvPr/>
        </p:nvSpPr>
        <p:spPr>
          <a:xfrm>
            <a:off x="658368" y="6428232"/>
            <a:ext cx="10863072" cy="0"/>
          </a:xfrm>
          <a:prstGeom prst="line">
            <a:avLst/>
          </a:prstGeom>
          <a:noFill/>
          <a:ln w="8890">
            <a:solidFill>
              <a:srgbClr val="34323E"/>
            </a:solidFill>
            <a:prstDash val="solid"/>
          </a:ln>
        </p:spPr>
      </p:sp>
      <p:sp>
        <p:nvSpPr>
          <p:cNvPr id="7" name="Text 5"/>
          <p:cNvSpPr txBox="1"/>
          <p:nvPr/>
        </p:nvSpPr>
        <p:spPr>
          <a:xfrm>
            <a:off x="685800" y="6473952"/>
            <a:ext cx="2926080" cy="146304"/>
          </a:xfrm>
          <a:prstGeom prst="rect">
            <a:avLst/>
          </a:prstGeom>
          <a:noFill/>
          <a:ln/>
        </p:spPr>
        <p:txBody>
          <a:bodyPr wrap="square" lIns="0" tIns="0" rIns="0" bIns="0" rtlCol="0" anchor="t">
            <a:normAutofit/>
          </a:bodyPr>
          <a:lstStyle/>
          <a:p>
            <a:pPr algn="l" indent="0" marL="0">
              <a:buNone/>
            </a:pPr>
            <a:r>
              <a:rPr lang="en-US" sz="750" spc="120" kern="0" dirty="0">
                <a:solidFill>
                  <a:srgbClr val="9A97A3"/>
                </a:solidFill>
                <a:latin typeface="Courier New" pitchFamily="34" charset="0"/>
                <a:ea typeface="Courier New" pitchFamily="34" charset="-122"/>
                <a:cs typeface="Courier New" pitchFamily="34" charset="-120"/>
              </a:rPr>
              <a:t>CYBIC  •  CONFIDENTIAL</a:t>
            </a:r>
            <a:endParaRPr lang="en-US" sz="750" dirty="0"/>
          </a:p>
        </p:txBody>
      </p:sp>
      <p:sp>
        <p:nvSpPr>
          <p:cNvPr id="8" name="Text 6"/>
          <p:cNvSpPr txBox="1"/>
          <p:nvPr/>
        </p:nvSpPr>
        <p:spPr>
          <a:xfrm>
            <a:off x="731520" y="1627632"/>
            <a:ext cx="2834640" cy="164592"/>
          </a:xfrm>
          <a:prstGeom prst="rect">
            <a:avLst/>
          </a:prstGeom>
          <a:noFill/>
          <a:ln/>
        </p:spPr>
        <p:txBody>
          <a:bodyPr wrap="square" lIns="0" tIns="0" rIns="0" bIns="0" rtlCol="0" anchor="t">
            <a:normAutofit/>
          </a:bodyPr>
          <a:lstStyle/>
          <a:p>
            <a:pPr algn="l" indent="0" marL="0">
              <a:buNone/>
            </a:pPr>
            <a:r>
              <a:rPr lang="en-US" sz="750" b="1" spc="80" kern="0" dirty="0">
                <a:solidFill>
                  <a:srgbClr val="9A97A3"/>
                </a:solidFill>
                <a:latin typeface="Courier New" pitchFamily="34" charset="0"/>
                <a:ea typeface="Courier New" pitchFamily="34" charset="-122"/>
                <a:cs typeface="Courier New" pitchFamily="34" charset="-120"/>
              </a:rPr>
              <a:t>CAPABILITY</a:t>
            </a:r>
            <a:endParaRPr lang="en-US" sz="750" dirty="0"/>
          </a:p>
        </p:txBody>
      </p:sp>
      <p:sp>
        <p:nvSpPr>
          <p:cNvPr id="9" name="Text 7"/>
          <p:cNvSpPr txBox="1"/>
          <p:nvPr/>
        </p:nvSpPr>
        <p:spPr>
          <a:xfrm>
            <a:off x="3611880" y="1627632"/>
            <a:ext cx="4809744" cy="164592"/>
          </a:xfrm>
          <a:prstGeom prst="rect">
            <a:avLst/>
          </a:prstGeom>
          <a:noFill/>
          <a:ln/>
        </p:spPr>
        <p:txBody>
          <a:bodyPr wrap="square" lIns="0" tIns="0" rIns="0" bIns="0" rtlCol="0" anchor="t">
            <a:normAutofit/>
          </a:bodyPr>
          <a:lstStyle/>
          <a:p>
            <a:pPr algn="l" indent="0" marL="0">
              <a:buNone/>
            </a:pPr>
            <a:r>
              <a:rPr lang="en-US" sz="750" b="1" spc="80" kern="0" dirty="0">
                <a:solidFill>
                  <a:srgbClr val="9A97A3"/>
                </a:solidFill>
                <a:latin typeface="Courier New" pitchFamily="34" charset="0"/>
                <a:ea typeface="Courier New" pitchFamily="34" charset="-122"/>
                <a:cs typeface="Courier New" pitchFamily="34" charset="-120"/>
              </a:rPr>
              <a:t>CURRENT EVIDENCE</a:t>
            </a:r>
            <a:endParaRPr lang="en-US" sz="750" dirty="0"/>
          </a:p>
        </p:txBody>
      </p:sp>
      <p:sp>
        <p:nvSpPr>
          <p:cNvPr id="10" name="Text 8"/>
          <p:cNvSpPr txBox="1"/>
          <p:nvPr/>
        </p:nvSpPr>
        <p:spPr>
          <a:xfrm>
            <a:off x="9372600" y="1627632"/>
            <a:ext cx="1600200" cy="164592"/>
          </a:xfrm>
          <a:prstGeom prst="rect">
            <a:avLst/>
          </a:prstGeom>
          <a:noFill/>
          <a:ln/>
        </p:spPr>
        <p:txBody>
          <a:bodyPr wrap="square" lIns="0" tIns="0" rIns="0" bIns="0" rtlCol="0" anchor="t">
            <a:normAutofit/>
          </a:bodyPr>
          <a:lstStyle/>
          <a:p>
            <a:pPr algn="ctr" indent="0" marL="0">
              <a:buNone/>
            </a:pPr>
            <a:r>
              <a:rPr lang="en-US" sz="750" b="1" spc="80" kern="0" dirty="0">
                <a:solidFill>
                  <a:srgbClr val="9A97A3"/>
                </a:solidFill>
                <a:latin typeface="Courier New" pitchFamily="34" charset="0"/>
                <a:ea typeface="Courier New" pitchFamily="34" charset="-122"/>
                <a:cs typeface="Courier New" pitchFamily="34" charset="-120"/>
              </a:rPr>
              <a:t>STATUS</a:t>
            </a:r>
            <a:endParaRPr lang="en-US" sz="750" dirty="0"/>
          </a:p>
        </p:txBody>
      </p:sp>
      <p:sp>
        <p:nvSpPr>
          <p:cNvPr id="11" name="Shape 9"/>
          <p:cNvSpPr/>
          <p:nvPr/>
        </p:nvSpPr>
        <p:spPr>
          <a:xfrm>
            <a:off x="694944" y="1901952"/>
            <a:ext cx="10579608" cy="265176"/>
          </a:xfrm>
          <a:prstGeom prst="roundRect">
            <a:avLst/>
          </a:prstGeom>
          <a:solidFill>
            <a:srgbClr val="1E1E28"/>
          </a:solidFill>
          <a:ln w="3175">
            <a:solidFill>
              <a:srgbClr val="34323E"/>
            </a:solidFill>
            <a:prstDash val="solid"/>
          </a:ln>
        </p:spPr>
      </p:sp>
      <p:sp>
        <p:nvSpPr>
          <p:cNvPr id="12" name="Text 10"/>
          <p:cNvSpPr txBox="1"/>
          <p:nvPr/>
        </p:nvSpPr>
        <p:spPr>
          <a:xfrm>
            <a:off x="841248" y="1965960"/>
            <a:ext cx="2670048" cy="109728"/>
          </a:xfrm>
          <a:prstGeom prst="rect">
            <a:avLst/>
          </a:prstGeom>
          <a:noFill/>
          <a:ln/>
        </p:spPr>
        <p:txBody>
          <a:bodyPr wrap="square" lIns="0" tIns="0" rIns="0" bIns="0" rtlCol="0" anchor="t">
            <a:normAutofit/>
          </a:bodyPr>
          <a:lstStyle/>
          <a:p>
            <a:pPr algn="l" indent="0" marL="0">
              <a:buNone/>
            </a:pPr>
            <a:r>
              <a:rPr lang="en-US" sz="810" b="1" dirty="0">
                <a:solidFill>
                  <a:srgbClr val="E8E6E0"/>
                </a:solidFill>
                <a:latin typeface="Arial" pitchFamily="34" charset="0"/>
                <a:ea typeface="Arial" pitchFamily="34" charset="-122"/>
                <a:cs typeface="Arial" pitchFamily="34" charset="-120"/>
              </a:rPr>
              <a:t>Inbound / outbound voice</a:t>
            </a:r>
            <a:endParaRPr lang="en-US" sz="810" dirty="0"/>
          </a:p>
        </p:txBody>
      </p:sp>
      <p:sp>
        <p:nvSpPr>
          <p:cNvPr id="13" name="Text 11"/>
          <p:cNvSpPr txBox="1"/>
          <p:nvPr/>
        </p:nvSpPr>
        <p:spPr>
          <a:xfrm>
            <a:off x="3611880" y="1965960"/>
            <a:ext cx="4846320" cy="109728"/>
          </a:xfrm>
          <a:prstGeom prst="rect">
            <a:avLst/>
          </a:prstGeom>
          <a:noFill/>
          <a:ln/>
        </p:spPr>
        <p:txBody>
          <a:bodyPr wrap="square" lIns="0" tIns="0" rIns="0" bIns="0" rtlCol="0" anchor="t">
            <a:normAutofit/>
          </a:bodyPr>
          <a:lstStyle/>
          <a:p>
            <a:pPr algn="l" indent="0" marL="0">
              <a:buNone/>
            </a:pPr>
            <a:r>
              <a:rPr lang="en-US" sz="810" dirty="0">
                <a:solidFill>
                  <a:srgbClr val="9A97A3"/>
                </a:solidFill>
                <a:latin typeface="Arial" pitchFamily="34" charset="0"/>
                <a:ea typeface="Arial" pitchFamily="34" charset="-122"/>
                <a:cs typeface="Arial" pitchFamily="34" charset="-120"/>
              </a:rPr>
              <a:t>Desktop audio + optional local TTS</a:t>
            </a:r>
            <a:endParaRPr lang="en-US" sz="810" dirty="0"/>
          </a:p>
        </p:txBody>
      </p:sp>
      <p:sp>
        <p:nvSpPr>
          <p:cNvPr id="14" name="Shape 12"/>
          <p:cNvSpPr/>
          <p:nvPr/>
        </p:nvSpPr>
        <p:spPr>
          <a:xfrm>
            <a:off x="9345168" y="1933956"/>
            <a:ext cx="1609344" cy="201168"/>
          </a:xfrm>
          <a:prstGeom prst="roundRect">
            <a:avLst/>
          </a:prstGeom>
          <a:solidFill>
            <a:srgbClr val="20382F"/>
          </a:solidFill>
          <a:ln w="7620">
            <a:solidFill>
              <a:srgbClr val="7CC7A5"/>
            </a:solidFill>
            <a:prstDash val="solid"/>
          </a:ln>
        </p:spPr>
      </p:sp>
      <p:sp>
        <p:nvSpPr>
          <p:cNvPr id="15" name="Text 13"/>
          <p:cNvSpPr txBox="1"/>
          <p:nvPr/>
        </p:nvSpPr>
        <p:spPr>
          <a:xfrm>
            <a:off x="9427464" y="1979676"/>
            <a:ext cx="1444752" cy="91440"/>
          </a:xfrm>
          <a:prstGeom prst="rect">
            <a:avLst/>
          </a:prstGeom>
          <a:noFill/>
          <a:ln/>
        </p:spPr>
        <p:txBody>
          <a:bodyPr wrap="square" lIns="0" tIns="0" rIns="0" bIns="0" rtlCol="0" anchor="t">
            <a:normAutofit/>
          </a:bodyPr>
          <a:lstStyle/>
          <a:p>
            <a:pPr algn="ctr" indent="0" marL="0">
              <a:buNone/>
            </a:pPr>
            <a:r>
              <a:rPr lang="en-US" sz="650" b="1" spc="50" kern="0" dirty="0">
                <a:solidFill>
                  <a:srgbClr val="7CC7A5"/>
                </a:solidFill>
                <a:latin typeface="Courier New" pitchFamily="34" charset="0"/>
                <a:ea typeface="Courier New" pitchFamily="34" charset="-122"/>
                <a:cs typeface="Courier New" pitchFamily="34" charset="-120"/>
              </a:rPr>
              <a:t>REUSABLE</a:t>
            </a:r>
            <a:endParaRPr lang="en-US" sz="650" dirty="0"/>
          </a:p>
        </p:txBody>
      </p:sp>
      <p:sp>
        <p:nvSpPr>
          <p:cNvPr id="16" name="Shape 14"/>
          <p:cNvSpPr/>
          <p:nvPr/>
        </p:nvSpPr>
        <p:spPr>
          <a:xfrm>
            <a:off x="694944" y="2221992"/>
            <a:ext cx="10579608" cy="265176"/>
          </a:xfrm>
          <a:prstGeom prst="roundRect">
            <a:avLst/>
          </a:prstGeom>
          <a:solidFill>
            <a:srgbClr val="100F14"/>
          </a:solidFill>
          <a:ln w="3175">
            <a:solidFill>
              <a:srgbClr val="34323E"/>
            </a:solidFill>
            <a:prstDash val="solid"/>
          </a:ln>
        </p:spPr>
      </p:sp>
      <p:sp>
        <p:nvSpPr>
          <p:cNvPr id="17" name="Text 15"/>
          <p:cNvSpPr txBox="1"/>
          <p:nvPr/>
        </p:nvSpPr>
        <p:spPr>
          <a:xfrm>
            <a:off x="841248" y="2286000"/>
            <a:ext cx="2670048" cy="109728"/>
          </a:xfrm>
          <a:prstGeom prst="rect">
            <a:avLst/>
          </a:prstGeom>
          <a:noFill/>
          <a:ln/>
        </p:spPr>
        <p:txBody>
          <a:bodyPr wrap="square" lIns="0" tIns="0" rIns="0" bIns="0" rtlCol="0" anchor="t">
            <a:normAutofit/>
          </a:bodyPr>
          <a:lstStyle/>
          <a:p>
            <a:pPr algn="l" indent="0" marL="0">
              <a:buNone/>
            </a:pPr>
            <a:r>
              <a:rPr lang="en-US" sz="810" b="1" dirty="0">
                <a:solidFill>
                  <a:srgbClr val="E8E6E0"/>
                </a:solidFill>
                <a:latin typeface="Arial" pitchFamily="34" charset="0"/>
                <a:ea typeface="Arial" pitchFamily="34" charset="-122"/>
                <a:cs typeface="Arial" pitchFamily="34" charset="-120"/>
              </a:rPr>
              <a:t>Business intent understanding</a:t>
            </a:r>
            <a:endParaRPr lang="en-US" sz="810" dirty="0"/>
          </a:p>
        </p:txBody>
      </p:sp>
      <p:sp>
        <p:nvSpPr>
          <p:cNvPr id="18" name="Text 16"/>
          <p:cNvSpPr txBox="1"/>
          <p:nvPr/>
        </p:nvSpPr>
        <p:spPr>
          <a:xfrm>
            <a:off x="3611880" y="2286000"/>
            <a:ext cx="4846320" cy="109728"/>
          </a:xfrm>
          <a:prstGeom prst="rect">
            <a:avLst/>
          </a:prstGeom>
          <a:noFill/>
          <a:ln/>
        </p:spPr>
        <p:txBody>
          <a:bodyPr wrap="square" lIns="0" tIns="0" rIns="0" bIns="0" rtlCol="0" anchor="t">
            <a:normAutofit/>
          </a:bodyPr>
          <a:lstStyle/>
          <a:p>
            <a:pPr algn="l" indent="0" marL="0">
              <a:buNone/>
            </a:pPr>
            <a:r>
              <a:rPr lang="en-US" sz="810" dirty="0">
                <a:solidFill>
                  <a:srgbClr val="9A97A3"/>
                </a:solidFill>
                <a:latin typeface="Arial" pitchFamily="34" charset="0"/>
                <a:ea typeface="Arial" pitchFamily="34" charset="-122"/>
                <a:cs typeface="Arial" pitchFamily="34" charset="-120"/>
              </a:rPr>
              <a:t>Information-request gate only</a:t>
            </a:r>
            <a:endParaRPr lang="en-US" sz="810" dirty="0"/>
          </a:p>
        </p:txBody>
      </p:sp>
      <p:sp>
        <p:nvSpPr>
          <p:cNvPr id="19" name="Shape 17"/>
          <p:cNvSpPr/>
          <p:nvPr/>
        </p:nvSpPr>
        <p:spPr>
          <a:xfrm>
            <a:off x="9345168" y="2253996"/>
            <a:ext cx="1609344" cy="201168"/>
          </a:xfrm>
          <a:prstGeom prst="roundRect">
            <a:avLst/>
          </a:prstGeom>
          <a:solidFill>
            <a:srgbClr val="20382F"/>
          </a:solidFill>
          <a:ln w="7620">
            <a:solidFill>
              <a:srgbClr val="7CC7A5"/>
            </a:solidFill>
            <a:prstDash val="solid"/>
          </a:ln>
        </p:spPr>
      </p:sp>
      <p:sp>
        <p:nvSpPr>
          <p:cNvPr id="20" name="Text 18"/>
          <p:cNvSpPr txBox="1"/>
          <p:nvPr/>
        </p:nvSpPr>
        <p:spPr>
          <a:xfrm>
            <a:off x="9427464" y="2299716"/>
            <a:ext cx="1444752" cy="91440"/>
          </a:xfrm>
          <a:prstGeom prst="rect">
            <a:avLst/>
          </a:prstGeom>
          <a:noFill/>
          <a:ln/>
        </p:spPr>
        <p:txBody>
          <a:bodyPr wrap="square" lIns="0" tIns="0" rIns="0" bIns="0" rtlCol="0" anchor="t">
            <a:normAutofit/>
          </a:bodyPr>
          <a:lstStyle/>
          <a:p>
            <a:pPr algn="ctr" indent="0" marL="0">
              <a:buNone/>
            </a:pPr>
            <a:r>
              <a:rPr lang="en-US" sz="650" b="1" spc="50" kern="0" dirty="0">
                <a:solidFill>
                  <a:srgbClr val="7CC7A5"/>
                </a:solidFill>
                <a:latin typeface="Courier New" pitchFamily="34" charset="0"/>
                <a:ea typeface="Courier New" pitchFamily="34" charset="-122"/>
                <a:cs typeface="Courier New" pitchFamily="34" charset="-120"/>
              </a:rPr>
              <a:t>REUSABLE</a:t>
            </a:r>
            <a:endParaRPr lang="en-US" sz="650" dirty="0"/>
          </a:p>
        </p:txBody>
      </p:sp>
      <p:sp>
        <p:nvSpPr>
          <p:cNvPr id="21" name="Shape 19"/>
          <p:cNvSpPr/>
          <p:nvPr/>
        </p:nvSpPr>
        <p:spPr>
          <a:xfrm>
            <a:off x="694944" y="2542032"/>
            <a:ext cx="10579608" cy="265176"/>
          </a:xfrm>
          <a:prstGeom prst="roundRect">
            <a:avLst/>
          </a:prstGeom>
          <a:solidFill>
            <a:srgbClr val="1E1E28"/>
          </a:solidFill>
          <a:ln w="3175">
            <a:solidFill>
              <a:srgbClr val="34323E"/>
            </a:solidFill>
            <a:prstDash val="solid"/>
          </a:ln>
        </p:spPr>
      </p:sp>
      <p:sp>
        <p:nvSpPr>
          <p:cNvPr id="22" name="Text 20"/>
          <p:cNvSpPr txBox="1"/>
          <p:nvPr/>
        </p:nvSpPr>
        <p:spPr>
          <a:xfrm>
            <a:off x="841248" y="2606040"/>
            <a:ext cx="2670048" cy="109728"/>
          </a:xfrm>
          <a:prstGeom prst="rect">
            <a:avLst/>
          </a:prstGeom>
          <a:noFill/>
          <a:ln/>
        </p:spPr>
        <p:txBody>
          <a:bodyPr wrap="square" lIns="0" tIns="0" rIns="0" bIns="0" rtlCol="0" anchor="t">
            <a:normAutofit/>
          </a:bodyPr>
          <a:lstStyle/>
          <a:p>
            <a:pPr algn="l" indent="0" marL="0">
              <a:buNone/>
            </a:pPr>
            <a:r>
              <a:rPr lang="en-US" sz="810" b="1" dirty="0">
                <a:solidFill>
                  <a:srgbClr val="E8E6E0"/>
                </a:solidFill>
                <a:latin typeface="Arial" pitchFamily="34" charset="0"/>
                <a:ea typeface="Arial" pitchFamily="34" charset="-122"/>
                <a:cs typeface="Arial" pitchFamily="34" charset="-120"/>
              </a:rPr>
              <a:t>Lead capture + qualification</a:t>
            </a:r>
            <a:endParaRPr lang="en-US" sz="810" dirty="0"/>
          </a:p>
        </p:txBody>
      </p:sp>
      <p:sp>
        <p:nvSpPr>
          <p:cNvPr id="23" name="Text 21"/>
          <p:cNvSpPr txBox="1"/>
          <p:nvPr/>
        </p:nvSpPr>
        <p:spPr>
          <a:xfrm>
            <a:off x="3611880" y="2606040"/>
            <a:ext cx="4846320" cy="109728"/>
          </a:xfrm>
          <a:prstGeom prst="rect">
            <a:avLst/>
          </a:prstGeom>
          <a:noFill/>
          <a:ln/>
        </p:spPr>
        <p:txBody>
          <a:bodyPr wrap="square" lIns="0" tIns="0" rIns="0" bIns="0" rtlCol="0" anchor="t">
            <a:normAutofit/>
          </a:bodyPr>
          <a:lstStyle/>
          <a:p>
            <a:pPr algn="l" indent="0" marL="0">
              <a:buNone/>
            </a:pPr>
            <a:r>
              <a:rPr lang="en-US" sz="810" dirty="0">
                <a:solidFill>
                  <a:srgbClr val="9A97A3"/>
                </a:solidFill>
                <a:latin typeface="Arial" pitchFamily="34" charset="0"/>
                <a:ea typeface="Arial" pitchFamily="34" charset="-122"/>
                <a:cs typeface="Arial" pitchFamily="34" charset="-120"/>
              </a:rPr>
              <a:t>Unstructured transcript only</a:t>
            </a:r>
            <a:endParaRPr lang="en-US" sz="810" dirty="0"/>
          </a:p>
        </p:txBody>
      </p:sp>
      <p:sp>
        <p:nvSpPr>
          <p:cNvPr id="24" name="Shape 22"/>
          <p:cNvSpPr/>
          <p:nvPr/>
        </p:nvSpPr>
        <p:spPr>
          <a:xfrm>
            <a:off x="9345168" y="2574036"/>
            <a:ext cx="1609344" cy="201168"/>
          </a:xfrm>
          <a:prstGeom prst="roundRect">
            <a:avLst/>
          </a:prstGeom>
          <a:solidFill>
            <a:srgbClr val="20303D"/>
          </a:solidFill>
          <a:ln w="7620">
            <a:solidFill>
              <a:srgbClr val="6FB3E8"/>
            </a:solidFill>
            <a:prstDash val="solid"/>
          </a:ln>
        </p:spPr>
      </p:sp>
      <p:sp>
        <p:nvSpPr>
          <p:cNvPr id="25" name="Text 23"/>
          <p:cNvSpPr txBox="1"/>
          <p:nvPr/>
        </p:nvSpPr>
        <p:spPr>
          <a:xfrm>
            <a:off x="9427464" y="2619756"/>
            <a:ext cx="1444752" cy="91440"/>
          </a:xfrm>
          <a:prstGeom prst="rect">
            <a:avLst/>
          </a:prstGeom>
          <a:noFill/>
          <a:ln/>
        </p:spPr>
        <p:txBody>
          <a:bodyPr wrap="square" lIns="0" tIns="0" rIns="0" bIns="0" rtlCol="0" anchor="t">
            <a:normAutofit/>
          </a:bodyPr>
          <a:lstStyle/>
          <a:p>
            <a:pPr algn="ctr" indent="0" marL="0">
              <a:buNone/>
            </a:pPr>
            <a:r>
              <a:rPr lang="en-US" sz="650" b="1" spc="50" kern="0" dirty="0">
                <a:solidFill>
                  <a:srgbClr val="6FB3E8"/>
                </a:solidFill>
                <a:latin typeface="Courier New" pitchFamily="34" charset="0"/>
                <a:ea typeface="Courier New" pitchFamily="34" charset="-122"/>
                <a:cs typeface="Courier New" pitchFamily="34" charset="-120"/>
              </a:rPr>
              <a:t>MVP BUILD</a:t>
            </a:r>
            <a:endParaRPr lang="en-US" sz="650" dirty="0"/>
          </a:p>
        </p:txBody>
      </p:sp>
      <p:sp>
        <p:nvSpPr>
          <p:cNvPr id="26" name="Shape 24"/>
          <p:cNvSpPr/>
          <p:nvPr/>
        </p:nvSpPr>
        <p:spPr>
          <a:xfrm>
            <a:off x="694944" y="2862072"/>
            <a:ext cx="10579608" cy="265176"/>
          </a:xfrm>
          <a:prstGeom prst="roundRect">
            <a:avLst/>
          </a:prstGeom>
          <a:solidFill>
            <a:srgbClr val="100F14"/>
          </a:solidFill>
          <a:ln w="3175">
            <a:solidFill>
              <a:srgbClr val="34323E"/>
            </a:solidFill>
            <a:prstDash val="solid"/>
          </a:ln>
        </p:spPr>
      </p:sp>
      <p:sp>
        <p:nvSpPr>
          <p:cNvPr id="27" name="Text 25"/>
          <p:cNvSpPr txBox="1"/>
          <p:nvPr/>
        </p:nvSpPr>
        <p:spPr>
          <a:xfrm>
            <a:off x="841248" y="2926080"/>
            <a:ext cx="2670048" cy="109728"/>
          </a:xfrm>
          <a:prstGeom prst="rect">
            <a:avLst/>
          </a:prstGeom>
          <a:noFill/>
          <a:ln/>
        </p:spPr>
        <p:txBody>
          <a:bodyPr wrap="square" lIns="0" tIns="0" rIns="0" bIns="0" rtlCol="0" anchor="t">
            <a:normAutofit/>
          </a:bodyPr>
          <a:lstStyle/>
          <a:p>
            <a:pPr algn="l" indent="0" marL="0">
              <a:buNone/>
            </a:pPr>
            <a:r>
              <a:rPr lang="en-US" sz="810" b="1" dirty="0">
                <a:solidFill>
                  <a:srgbClr val="E8E6E0"/>
                </a:solidFill>
                <a:latin typeface="Arial" pitchFamily="34" charset="0"/>
                <a:ea typeface="Arial" pitchFamily="34" charset="-122"/>
                <a:cs typeface="Arial" pitchFamily="34" charset="-120"/>
              </a:rPr>
              <a:t>Context-aware responses</a:t>
            </a:r>
            <a:endParaRPr lang="en-US" sz="810" dirty="0"/>
          </a:p>
        </p:txBody>
      </p:sp>
      <p:sp>
        <p:nvSpPr>
          <p:cNvPr id="28" name="Text 26"/>
          <p:cNvSpPr txBox="1"/>
          <p:nvPr/>
        </p:nvSpPr>
        <p:spPr>
          <a:xfrm>
            <a:off x="3611880" y="2926080"/>
            <a:ext cx="4846320" cy="109728"/>
          </a:xfrm>
          <a:prstGeom prst="rect">
            <a:avLst/>
          </a:prstGeom>
          <a:noFill/>
          <a:ln/>
        </p:spPr>
        <p:txBody>
          <a:bodyPr wrap="square" lIns="0" tIns="0" rIns="0" bIns="0" rtlCol="0" anchor="t">
            <a:normAutofit/>
          </a:bodyPr>
          <a:lstStyle/>
          <a:p>
            <a:pPr algn="l" indent="0" marL="0">
              <a:buNone/>
            </a:pPr>
            <a:r>
              <a:rPr lang="en-US" sz="810" dirty="0">
                <a:solidFill>
                  <a:srgbClr val="9A97A3"/>
                </a:solidFill>
                <a:latin typeface="Arial" pitchFamily="34" charset="0"/>
                <a:ea typeface="Arial" pitchFamily="34" charset="-122"/>
                <a:cs typeface="Arial" pitchFamily="34" charset="-120"/>
              </a:rPr>
              <a:t>Short current-session context</a:t>
            </a:r>
            <a:endParaRPr lang="en-US" sz="810" dirty="0"/>
          </a:p>
        </p:txBody>
      </p:sp>
      <p:sp>
        <p:nvSpPr>
          <p:cNvPr id="29" name="Shape 27"/>
          <p:cNvSpPr/>
          <p:nvPr/>
        </p:nvSpPr>
        <p:spPr>
          <a:xfrm>
            <a:off x="9345168" y="2894076"/>
            <a:ext cx="1609344" cy="201168"/>
          </a:xfrm>
          <a:prstGeom prst="roundRect">
            <a:avLst/>
          </a:prstGeom>
          <a:solidFill>
            <a:srgbClr val="3D3320"/>
          </a:solidFill>
          <a:ln w="7620">
            <a:solidFill>
              <a:srgbClr val="E8A33D"/>
            </a:solidFill>
            <a:prstDash val="solid"/>
          </a:ln>
        </p:spPr>
      </p:sp>
      <p:sp>
        <p:nvSpPr>
          <p:cNvPr id="30" name="Text 28"/>
          <p:cNvSpPr txBox="1"/>
          <p:nvPr/>
        </p:nvSpPr>
        <p:spPr>
          <a:xfrm>
            <a:off x="9427464" y="2939796"/>
            <a:ext cx="1444752" cy="91440"/>
          </a:xfrm>
          <a:prstGeom prst="rect">
            <a:avLst/>
          </a:prstGeom>
          <a:noFill/>
          <a:ln/>
        </p:spPr>
        <p:txBody>
          <a:bodyPr wrap="square" lIns="0" tIns="0" rIns="0" bIns="0" rtlCol="0" anchor="t">
            <a:normAutofit/>
          </a:bodyPr>
          <a:lstStyle/>
          <a:p>
            <a:pPr algn="ctr" indent="0" marL="0">
              <a:buNone/>
            </a:pPr>
            <a:r>
              <a:rPr lang="en-US" sz="650" b="1" spc="50" kern="0" dirty="0">
                <a:solidFill>
                  <a:srgbClr val="E8A33D"/>
                </a:solidFill>
                <a:latin typeface="Courier New" pitchFamily="34" charset="0"/>
                <a:ea typeface="Courier New" pitchFamily="34" charset="-122"/>
                <a:cs typeface="Courier New" pitchFamily="34" charset="-120"/>
              </a:rPr>
              <a:t>CURRENT</a:t>
            </a:r>
            <a:endParaRPr lang="en-US" sz="650" dirty="0"/>
          </a:p>
        </p:txBody>
      </p:sp>
      <p:sp>
        <p:nvSpPr>
          <p:cNvPr id="31" name="Shape 29"/>
          <p:cNvSpPr/>
          <p:nvPr/>
        </p:nvSpPr>
        <p:spPr>
          <a:xfrm>
            <a:off x="694944" y="3182112"/>
            <a:ext cx="10579608" cy="265176"/>
          </a:xfrm>
          <a:prstGeom prst="roundRect">
            <a:avLst/>
          </a:prstGeom>
          <a:solidFill>
            <a:srgbClr val="1E1E28"/>
          </a:solidFill>
          <a:ln w="3175">
            <a:solidFill>
              <a:srgbClr val="34323E"/>
            </a:solidFill>
            <a:prstDash val="solid"/>
          </a:ln>
        </p:spPr>
      </p:sp>
      <p:sp>
        <p:nvSpPr>
          <p:cNvPr id="32" name="Text 30"/>
          <p:cNvSpPr txBox="1"/>
          <p:nvPr/>
        </p:nvSpPr>
        <p:spPr>
          <a:xfrm>
            <a:off x="841248" y="3246120"/>
            <a:ext cx="2670048" cy="109728"/>
          </a:xfrm>
          <a:prstGeom prst="rect">
            <a:avLst/>
          </a:prstGeom>
          <a:noFill/>
          <a:ln/>
        </p:spPr>
        <p:txBody>
          <a:bodyPr wrap="square" lIns="0" tIns="0" rIns="0" bIns="0" rtlCol="0" anchor="t">
            <a:normAutofit/>
          </a:bodyPr>
          <a:lstStyle/>
          <a:p>
            <a:pPr algn="l" indent="0" marL="0">
              <a:buNone/>
            </a:pPr>
            <a:r>
              <a:rPr lang="en-US" sz="810" b="1" dirty="0">
                <a:solidFill>
                  <a:srgbClr val="E8E6E0"/>
                </a:solidFill>
                <a:latin typeface="Arial" pitchFamily="34" charset="0"/>
                <a:ea typeface="Arial" pitchFamily="34" charset="-122"/>
                <a:cs typeface="Arial" pitchFamily="34" charset="-120"/>
              </a:rPr>
              <a:t>Managed knowledge / RAG</a:t>
            </a:r>
            <a:endParaRPr lang="en-US" sz="810" dirty="0"/>
          </a:p>
        </p:txBody>
      </p:sp>
      <p:sp>
        <p:nvSpPr>
          <p:cNvPr id="33" name="Text 31"/>
          <p:cNvSpPr txBox="1"/>
          <p:nvPr/>
        </p:nvSpPr>
        <p:spPr>
          <a:xfrm>
            <a:off x="3611880" y="3246120"/>
            <a:ext cx="4846320" cy="109728"/>
          </a:xfrm>
          <a:prstGeom prst="rect">
            <a:avLst/>
          </a:prstGeom>
          <a:noFill/>
          <a:ln/>
        </p:spPr>
        <p:txBody>
          <a:bodyPr wrap="square" lIns="0" tIns="0" rIns="0" bIns="0" rtlCol="0" anchor="t">
            <a:normAutofit/>
          </a:bodyPr>
          <a:lstStyle/>
          <a:p>
            <a:pPr algn="l" indent="0" marL="0">
              <a:buNone/>
            </a:pPr>
            <a:r>
              <a:rPr lang="en-US" sz="810" dirty="0">
                <a:solidFill>
                  <a:srgbClr val="9A97A3"/>
                </a:solidFill>
                <a:latin typeface="Arial" pitchFamily="34" charset="0"/>
                <a:ea typeface="Arial" pitchFamily="34" charset="-122"/>
                <a:cs typeface="Arial" pitchFamily="34" charset="-120"/>
              </a:rPr>
              <a:t>Static Markdown context profiles</a:t>
            </a:r>
            <a:endParaRPr lang="en-US" sz="810" dirty="0"/>
          </a:p>
        </p:txBody>
      </p:sp>
      <p:sp>
        <p:nvSpPr>
          <p:cNvPr id="34" name="Shape 32"/>
          <p:cNvSpPr/>
          <p:nvPr/>
        </p:nvSpPr>
        <p:spPr>
          <a:xfrm>
            <a:off x="9345168" y="3214116"/>
            <a:ext cx="1609344" cy="201168"/>
          </a:xfrm>
          <a:prstGeom prst="roundRect">
            <a:avLst/>
          </a:prstGeom>
          <a:solidFill>
            <a:srgbClr val="20303D"/>
          </a:solidFill>
          <a:ln w="7620">
            <a:solidFill>
              <a:srgbClr val="6FB3E8"/>
            </a:solidFill>
            <a:prstDash val="solid"/>
          </a:ln>
        </p:spPr>
      </p:sp>
      <p:sp>
        <p:nvSpPr>
          <p:cNvPr id="35" name="Text 33"/>
          <p:cNvSpPr txBox="1"/>
          <p:nvPr/>
        </p:nvSpPr>
        <p:spPr>
          <a:xfrm>
            <a:off x="9427464" y="3259836"/>
            <a:ext cx="1444752" cy="91440"/>
          </a:xfrm>
          <a:prstGeom prst="rect">
            <a:avLst/>
          </a:prstGeom>
          <a:noFill/>
          <a:ln/>
        </p:spPr>
        <p:txBody>
          <a:bodyPr wrap="square" lIns="0" tIns="0" rIns="0" bIns="0" rtlCol="0" anchor="t">
            <a:normAutofit/>
          </a:bodyPr>
          <a:lstStyle/>
          <a:p>
            <a:pPr algn="ctr" indent="0" marL="0">
              <a:buNone/>
            </a:pPr>
            <a:r>
              <a:rPr lang="en-US" sz="650" b="1" spc="50" kern="0" dirty="0">
                <a:solidFill>
                  <a:srgbClr val="6FB3E8"/>
                </a:solidFill>
                <a:latin typeface="Courier New" pitchFamily="34" charset="0"/>
                <a:ea typeface="Courier New" pitchFamily="34" charset="-122"/>
                <a:cs typeface="Courier New" pitchFamily="34" charset="-120"/>
              </a:rPr>
              <a:t>MVP BUILD</a:t>
            </a:r>
            <a:endParaRPr lang="en-US" sz="650" dirty="0"/>
          </a:p>
        </p:txBody>
      </p:sp>
      <p:sp>
        <p:nvSpPr>
          <p:cNvPr id="36" name="Shape 34"/>
          <p:cNvSpPr/>
          <p:nvPr/>
        </p:nvSpPr>
        <p:spPr>
          <a:xfrm>
            <a:off x="694944" y="3502152"/>
            <a:ext cx="10579608" cy="265176"/>
          </a:xfrm>
          <a:prstGeom prst="roundRect">
            <a:avLst/>
          </a:prstGeom>
          <a:solidFill>
            <a:srgbClr val="100F14"/>
          </a:solidFill>
          <a:ln w="3175">
            <a:solidFill>
              <a:srgbClr val="34323E"/>
            </a:solidFill>
            <a:prstDash val="solid"/>
          </a:ln>
        </p:spPr>
      </p:sp>
      <p:sp>
        <p:nvSpPr>
          <p:cNvPr id="37" name="Text 35"/>
          <p:cNvSpPr txBox="1"/>
          <p:nvPr/>
        </p:nvSpPr>
        <p:spPr>
          <a:xfrm>
            <a:off x="841248" y="3566160"/>
            <a:ext cx="2670048" cy="109728"/>
          </a:xfrm>
          <a:prstGeom prst="rect">
            <a:avLst/>
          </a:prstGeom>
          <a:noFill/>
          <a:ln/>
        </p:spPr>
        <p:txBody>
          <a:bodyPr wrap="square" lIns="0" tIns="0" rIns="0" bIns="0" rtlCol="0" anchor="t">
            <a:normAutofit/>
          </a:bodyPr>
          <a:lstStyle/>
          <a:p>
            <a:pPr algn="l" indent="0" marL="0">
              <a:buNone/>
            </a:pPr>
            <a:r>
              <a:rPr lang="en-US" sz="810" b="1" dirty="0">
                <a:solidFill>
                  <a:srgbClr val="E8E6E0"/>
                </a:solidFill>
                <a:latin typeface="Arial" pitchFamily="34" charset="0"/>
                <a:ea typeface="Arial" pitchFamily="34" charset="-122"/>
                <a:cs typeface="Arial" pitchFamily="34" charset="-120"/>
              </a:rPr>
              <a:t>Appointment scheduling</a:t>
            </a:r>
            <a:endParaRPr lang="en-US" sz="810" dirty="0"/>
          </a:p>
        </p:txBody>
      </p:sp>
      <p:sp>
        <p:nvSpPr>
          <p:cNvPr id="38" name="Text 36"/>
          <p:cNvSpPr txBox="1"/>
          <p:nvPr/>
        </p:nvSpPr>
        <p:spPr>
          <a:xfrm>
            <a:off x="3611880" y="3566160"/>
            <a:ext cx="4846320" cy="109728"/>
          </a:xfrm>
          <a:prstGeom prst="rect">
            <a:avLst/>
          </a:prstGeom>
          <a:noFill/>
          <a:ln/>
        </p:spPr>
        <p:txBody>
          <a:bodyPr wrap="square" lIns="0" tIns="0" rIns="0" bIns="0" rtlCol="0" anchor="t">
            <a:normAutofit/>
          </a:bodyPr>
          <a:lstStyle/>
          <a:p>
            <a:pPr algn="l" indent="0" marL="0">
              <a:buNone/>
            </a:pPr>
            <a:r>
              <a:rPr lang="en-US" sz="810" dirty="0">
                <a:solidFill>
                  <a:srgbClr val="9A97A3"/>
                </a:solidFill>
                <a:latin typeface="Arial" pitchFamily="34" charset="0"/>
                <a:ea typeface="Arial" pitchFamily="34" charset="-122"/>
                <a:cs typeface="Arial" pitchFamily="34" charset="-120"/>
              </a:rPr>
              <a:t>No implementation</a:t>
            </a:r>
            <a:endParaRPr lang="en-US" sz="810" dirty="0"/>
          </a:p>
        </p:txBody>
      </p:sp>
      <p:sp>
        <p:nvSpPr>
          <p:cNvPr id="39" name="Shape 37"/>
          <p:cNvSpPr/>
          <p:nvPr/>
        </p:nvSpPr>
        <p:spPr>
          <a:xfrm>
            <a:off x="9345168" y="3534156"/>
            <a:ext cx="1609344" cy="201168"/>
          </a:xfrm>
          <a:prstGeom prst="roundRect">
            <a:avLst/>
          </a:prstGeom>
          <a:solidFill>
            <a:srgbClr val="20303D"/>
          </a:solidFill>
          <a:ln w="7620">
            <a:solidFill>
              <a:srgbClr val="6FB3E8"/>
            </a:solidFill>
            <a:prstDash val="solid"/>
          </a:ln>
        </p:spPr>
      </p:sp>
      <p:sp>
        <p:nvSpPr>
          <p:cNvPr id="40" name="Text 38"/>
          <p:cNvSpPr txBox="1"/>
          <p:nvPr/>
        </p:nvSpPr>
        <p:spPr>
          <a:xfrm>
            <a:off x="9427464" y="3579876"/>
            <a:ext cx="1444752" cy="91440"/>
          </a:xfrm>
          <a:prstGeom prst="rect">
            <a:avLst/>
          </a:prstGeom>
          <a:noFill/>
          <a:ln/>
        </p:spPr>
        <p:txBody>
          <a:bodyPr wrap="square" lIns="0" tIns="0" rIns="0" bIns="0" rtlCol="0" anchor="t">
            <a:normAutofit/>
          </a:bodyPr>
          <a:lstStyle/>
          <a:p>
            <a:pPr algn="ctr" indent="0" marL="0">
              <a:buNone/>
            </a:pPr>
            <a:r>
              <a:rPr lang="en-US" sz="650" b="1" spc="50" kern="0" dirty="0">
                <a:solidFill>
                  <a:srgbClr val="6FB3E8"/>
                </a:solidFill>
                <a:latin typeface="Courier New" pitchFamily="34" charset="0"/>
                <a:ea typeface="Courier New" pitchFamily="34" charset="-122"/>
                <a:cs typeface="Courier New" pitchFamily="34" charset="-120"/>
              </a:rPr>
              <a:t>MVP BUILD</a:t>
            </a:r>
            <a:endParaRPr lang="en-US" sz="650" dirty="0"/>
          </a:p>
        </p:txBody>
      </p:sp>
      <p:sp>
        <p:nvSpPr>
          <p:cNvPr id="41" name="Shape 39"/>
          <p:cNvSpPr/>
          <p:nvPr/>
        </p:nvSpPr>
        <p:spPr>
          <a:xfrm>
            <a:off x="694944" y="3822192"/>
            <a:ext cx="10579608" cy="265176"/>
          </a:xfrm>
          <a:prstGeom prst="roundRect">
            <a:avLst/>
          </a:prstGeom>
          <a:solidFill>
            <a:srgbClr val="1E1E28"/>
          </a:solidFill>
          <a:ln w="3175">
            <a:solidFill>
              <a:srgbClr val="34323E"/>
            </a:solidFill>
            <a:prstDash val="solid"/>
          </a:ln>
        </p:spPr>
      </p:sp>
      <p:sp>
        <p:nvSpPr>
          <p:cNvPr id="42" name="Text 40"/>
          <p:cNvSpPr txBox="1"/>
          <p:nvPr/>
        </p:nvSpPr>
        <p:spPr>
          <a:xfrm>
            <a:off x="841248" y="3886200"/>
            <a:ext cx="2670048" cy="109728"/>
          </a:xfrm>
          <a:prstGeom prst="rect">
            <a:avLst/>
          </a:prstGeom>
          <a:noFill/>
          <a:ln/>
        </p:spPr>
        <p:txBody>
          <a:bodyPr wrap="square" lIns="0" tIns="0" rIns="0" bIns="0" rtlCol="0" anchor="t">
            <a:normAutofit/>
          </a:bodyPr>
          <a:lstStyle/>
          <a:p>
            <a:pPr algn="l" indent="0" marL="0">
              <a:buNone/>
            </a:pPr>
            <a:r>
              <a:rPr lang="en-US" sz="810" b="1" dirty="0">
                <a:solidFill>
                  <a:srgbClr val="E8E6E0"/>
                </a:solidFill>
                <a:latin typeface="Arial" pitchFamily="34" charset="0"/>
                <a:ea typeface="Arial" pitchFamily="34" charset="-122"/>
                <a:cs typeface="Arial" pitchFamily="34" charset="-120"/>
              </a:rPr>
              <a:t>Live-agent handoff</a:t>
            </a:r>
            <a:endParaRPr lang="en-US" sz="810" dirty="0"/>
          </a:p>
        </p:txBody>
      </p:sp>
      <p:sp>
        <p:nvSpPr>
          <p:cNvPr id="43" name="Text 41"/>
          <p:cNvSpPr txBox="1"/>
          <p:nvPr/>
        </p:nvSpPr>
        <p:spPr>
          <a:xfrm>
            <a:off x="3611880" y="3886200"/>
            <a:ext cx="4846320" cy="109728"/>
          </a:xfrm>
          <a:prstGeom prst="rect">
            <a:avLst/>
          </a:prstGeom>
          <a:noFill/>
          <a:ln/>
        </p:spPr>
        <p:txBody>
          <a:bodyPr wrap="square" lIns="0" tIns="0" rIns="0" bIns="0" rtlCol="0" anchor="t">
            <a:normAutofit/>
          </a:bodyPr>
          <a:lstStyle/>
          <a:p>
            <a:pPr algn="l" indent="0" marL="0">
              <a:buNone/>
            </a:pPr>
            <a:r>
              <a:rPr lang="en-US" sz="810" dirty="0">
                <a:solidFill>
                  <a:srgbClr val="9A97A3"/>
                </a:solidFill>
                <a:latin typeface="Arial" pitchFamily="34" charset="0"/>
                <a:ea typeface="Arial" pitchFamily="34" charset="-122"/>
                <a:cs typeface="Arial" pitchFamily="34" charset="-120"/>
              </a:rPr>
              <a:t>Human remains present; no transfer</a:t>
            </a:r>
            <a:endParaRPr lang="en-US" sz="810" dirty="0"/>
          </a:p>
        </p:txBody>
      </p:sp>
      <p:sp>
        <p:nvSpPr>
          <p:cNvPr id="44" name="Shape 42"/>
          <p:cNvSpPr/>
          <p:nvPr/>
        </p:nvSpPr>
        <p:spPr>
          <a:xfrm>
            <a:off x="9345168" y="3854196"/>
            <a:ext cx="1609344" cy="201168"/>
          </a:xfrm>
          <a:prstGeom prst="roundRect">
            <a:avLst/>
          </a:prstGeom>
          <a:solidFill>
            <a:srgbClr val="20303D"/>
          </a:solidFill>
          <a:ln w="7620">
            <a:solidFill>
              <a:srgbClr val="6FB3E8"/>
            </a:solidFill>
            <a:prstDash val="solid"/>
          </a:ln>
        </p:spPr>
      </p:sp>
      <p:sp>
        <p:nvSpPr>
          <p:cNvPr id="45" name="Text 43"/>
          <p:cNvSpPr txBox="1"/>
          <p:nvPr/>
        </p:nvSpPr>
        <p:spPr>
          <a:xfrm>
            <a:off x="9427464" y="3899916"/>
            <a:ext cx="1444752" cy="91440"/>
          </a:xfrm>
          <a:prstGeom prst="rect">
            <a:avLst/>
          </a:prstGeom>
          <a:noFill/>
          <a:ln/>
        </p:spPr>
        <p:txBody>
          <a:bodyPr wrap="square" lIns="0" tIns="0" rIns="0" bIns="0" rtlCol="0" anchor="t">
            <a:normAutofit/>
          </a:bodyPr>
          <a:lstStyle/>
          <a:p>
            <a:pPr algn="ctr" indent="0" marL="0">
              <a:buNone/>
            </a:pPr>
            <a:r>
              <a:rPr lang="en-US" sz="650" b="1" spc="50" kern="0" dirty="0">
                <a:solidFill>
                  <a:srgbClr val="6FB3E8"/>
                </a:solidFill>
                <a:latin typeface="Courier New" pitchFamily="34" charset="0"/>
                <a:ea typeface="Courier New" pitchFamily="34" charset="-122"/>
                <a:cs typeface="Courier New" pitchFamily="34" charset="-120"/>
              </a:rPr>
              <a:t>MVP BUILD</a:t>
            </a:r>
            <a:endParaRPr lang="en-US" sz="650" dirty="0"/>
          </a:p>
        </p:txBody>
      </p:sp>
      <p:sp>
        <p:nvSpPr>
          <p:cNvPr id="46" name="Shape 44"/>
          <p:cNvSpPr/>
          <p:nvPr/>
        </p:nvSpPr>
        <p:spPr>
          <a:xfrm>
            <a:off x="694944" y="4142232"/>
            <a:ext cx="10579608" cy="265176"/>
          </a:xfrm>
          <a:prstGeom prst="roundRect">
            <a:avLst/>
          </a:prstGeom>
          <a:solidFill>
            <a:srgbClr val="100F14"/>
          </a:solidFill>
          <a:ln w="3175">
            <a:solidFill>
              <a:srgbClr val="34323E"/>
            </a:solidFill>
            <a:prstDash val="solid"/>
          </a:ln>
        </p:spPr>
      </p:sp>
      <p:sp>
        <p:nvSpPr>
          <p:cNvPr id="47" name="Text 45"/>
          <p:cNvSpPr txBox="1"/>
          <p:nvPr/>
        </p:nvSpPr>
        <p:spPr>
          <a:xfrm>
            <a:off x="841248" y="4206240"/>
            <a:ext cx="2670048" cy="109728"/>
          </a:xfrm>
          <a:prstGeom prst="rect">
            <a:avLst/>
          </a:prstGeom>
          <a:noFill/>
          <a:ln/>
        </p:spPr>
        <p:txBody>
          <a:bodyPr wrap="square" lIns="0" tIns="0" rIns="0" bIns="0" rtlCol="0" anchor="t">
            <a:normAutofit/>
          </a:bodyPr>
          <a:lstStyle/>
          <a:p>
            <a:pPr algn="l" indent="0" marL="0">
              <a:buNone/>
            </a:pPr>
            <a:r>
              <a:rPr lang="en-US" sz="810" b="1" dirty="0">
                <a:solidFill>
                  <a:srgbClr val="E8E6E0"/>
                </a:solidFill>
                <a:latin typeface="Arial" pitchFamily="34" charset="0"/>
                <a:ea typeface="Arial" pitchFamily="34" charset="-122"/>
                <a:cs typeface="Arial" pitchFamily="34" charset="-120"/>
              </a:rPr>
              <a:t>Transcript + history</a:t>
            </a:r>
            <a:endParaRPr lang="en-US" sz="810" dirty="0"/>
          </a:p>
        </p:txBody>
      </p:sp>
      <p:sp>
        <p:nvSpPr>
          <p:cNvPr id="48" name="Text 46"/>
          <p:cNvSpPr txBox="1"/>
          <p:nvPr/>
        </p:nvSpPr>
        <p:spPr>
          <a:xfrm>
            <a:off x="3611880" y="4206240"/>
            <a:ext cx="4846320" cy="109728"/>
          </a:xfrm>
          <a:prstGeom prst="rect">
            <a:avLst/>
          </a:prstGeom>
          <a:noFill/>
          <a:ln/>
        </p:spPr>
        <p:txBody>
          <a:bodyPr wrap="square" lIns="0" tIns="0" rIns="0" bIns="0" rtlCol="0" anchor="t">
            <a:normAutofit/>
          </a:bodyPr>
          <a:lstStyle/>
          <a:p>
            <a:pPr algn="l" indent="0" marL="0">
              <a:buNone/>
            </a:pPr>
            <a:r>
              <a:rPr lang="en-US" sz="810" dirty="0">
                <a:solidFill>
                  <a:srgbClr val="9A97A3"/>
                </a:solidFill>
                <a:latin typeface="Arial" pitchFamily="34" charset="0"/>
                <a:ea typeface="Arial" pitchFamily="34" charset="-122"/>
                <a:cs typeface="Arial" pitchFamily="34" charset="-120"/>
              </a:rPr>
              <a:t>Local unidentified JSONL + replay</a:t>
            </a:r>
            <a:endParaRPr lang="en-US" sz="810" dirty="0"/>
          </a:p>
        </p:txBody>
      </p:sp>
      <p:sp>
        <p:nvSpPr>
          <p:cNvPr id="49" name="Shape 47"/>
          <p:cNvSpPr/>
          <p:nvPr/>
        </p:nvSpPr>
        <p:spPr>
          <a:xfrm>
            <a:off x="9345168" y="4174236"/>
            <a:ext cx="1609344" cy="201168"/>
          </a:xfrm>
          <a:prstGeom prst="roundRect">
            <a:avLst/>
          </a:prstGeom>
          <a:solidFill>
            <a:srgbClr val="3D3320"/>
          </a:solidFill>
          <a:ln w="7620">
            <a:solidFill>
              <a:srgbClr val="E8A33D"/>
            </a:solidFill>
            <a:prstDash val="solid"/>
          </a:ln>
        </p:spPr>
      </p:sp>
      <p:sp>
        <p:nvSpPr>
          <p:cNvPr id="50" name="Text 48"/>
          <p:cNvSpPr txBox="1"/>
          <p:nvPr/>
        </p:nvSpPr>
        <p:spPr>
          <a:xfrm>
            <a:off x="9427464" y="4219956"/>
            <a:ext cx="1444752" cy="91440"/>
          </a:xfrm>
          <a:prstGeom prst="rect">
            <a:avLst/>
          </a:prstGeom>
          <a:noFill/>
          <a:ln/>
        </p:spPr>
        <p:txBody>
          <a:bodyPr wrap="square" lIns="0" tIns="0" rIns="0" bIns="0" rtlCol="0" anchor="t">
            <a:normAutofit/>
          </a:bodyPr>
          <a:lstStyle/>
          <a:p>
            <a:pPr algn="ctr" indent="0" marL="0">
              <a:buNone/>
            </a:pPr>
            <a:r>
              <a:rPr lang="en-US" sz="650" b="1" spc="50" kern="0" dirty="0">
                <a:solidFill>
                  <a:srgbClr val="E8A33D"/>
                </a:solidFill>
                <a:latin typeface="Courier New" pitchFamily="34" charset="0"/>
                <a:ea typeface="Courier New" pitchFamily="34" charset="-122"/>
                <a:cs typeface="Courier New" pitchFamily="34" charset="-120"/>
              </a:rPr>
              <a:t>CURRENT</a:t>
            </a:r>
            <a:endParaRPr lang="en-US" sz="650" dirty="0"/>
          </a:p>
        </p:txBody>
      </p:sp>
      <p:sp>
        <p:nvSpPr>
          <p:cNvPr id="51" name="Shape 49"/>
          <p:cNvSpPr/>
          <p:nvPr/>
        </p:nvSpPr>
        <p:spPr>
          <a:xfrm>
            <a:off x="694944" y="4462272"/>
            <a:ext cx="10579608" cy="265176"/>
          </a:xfrm>
          <a:prstGeom prst="roundRect">
            <a:avLst/>
          </a:prstGeom>
          <a:solidFill>
            <a:srgbClr val="1E1E28"/>
          </a:solidFill>
          <a:ln w="3175">
            <a:solidFill>
              <a:srgbClr val="34323E"/>
            </a:solidFill>
            <a:prstDash val="solid"/>
          </a:ln>
        </p:spPr>
      </p:sp>
      <p:sp>
        <p:nvSpPr>
          <p:cNvPr id="52" name="Text 50"/>
          <p:cNvSpPr txBox="1"/>
          <p:nvPr/>
        </p:nvSpPr>
        <p:spPr>
          <a:xfrm>
            <a:off x="841248" y="4526280"/>
            <a:ext cx="2670048" cy="109728"/>
          </a:xfrm>
          <a:prstGeom prst="rect">
            <a:avLst/>
          </a:prstGeom>
          <a:noFill/>
          <a:ln/>
        </p:spPr>
        <p:txBody>
          <a:bodyPr wrap="square" lIns="0" tIns="0" rIns="0" bIns="0" rtlCol="0" anchor="t">
            <a:normAutofit/>
          </a:bodyPr>
          <a:lstStyle/>
          <a:p>
            <a:pPr algn="l" indent="0" marL="0">
              <a:buNone/>
            </a:pPr>
            <a:r>
              <a:rPr lang="en-US" sz="810" b="1" dirty="0">
                <a:solidFill>
                  <a:srgbClr val="E8E6E0"/>
                </a:solidFill>
                <a:latin typeface="Arial" pitchFamily="34" charset="0"/>
                <a:ea typeface="Arial" pitchFamily="34" charset="-122"/>
                <a:cs typeface="Arial" pitchFamily="34" charset="-120"/>
              </a:rPr>
              <a:t>CRM / calendar / APIs</a:t>
            </a:r>
            <a:endParaRPr lang="en-US" sz="810" dirty="0"/>
          </a:p>
        </p:txBody>
      </p:sp>
      <p:sp>
        <p:nvSpPr>
          <p:cNvPr id="53" name="Text 51"/>
          <p:cNvSpPr txBox="1"/>
          <p:nvPr/>
        </p:nvSpPr>
        <p:spPr>
          <a:xfrm>
            <a:off x="3611880" y="4526280"/>
            <a:ext cx="4846320" cy="109728"/>
          </a:xfrm>
          <a:prstGeom prst="rect">
            <a:avLst/>
          </a:prstGeom>
          <a:noFill/>
          <a:ln/>
        </p:spPr>
        <p:txBody>
          <a:bodyPr wrap="square" lIns="0" tIns="0" rIns="0" bIns="0" rtlCol="0" anchor="t">
            <a:normAutofit/>
          </a:bodyPr>
          <a:lstStyle/>
          <a:p>
            <a:pPr algn="l" indent="0" marL="0">
              <a:buNone/>
            </a:pPr>
            <a:r>
              <a:rPr lang="en-US" sz="810" dirty="0">
                <a:solidFill>
                  <a:srgbClr val="9A97A3"/>
                </a:solidFill>
                <a:latin typeface="Arial" pitchFamily="34" charset="0"/>
                <a:ea typeface="Arial" pitchFamily="34" charset="-122"/>
                <a:cs typeface="Arial" pitchFamily="34" charset="-120"/>
              </a:rPr>
              <a:t>No business-system connector</a:t>
            </a:r>
            <a:endParaRPr lang="en-US" sz="810" dirty="0"/>
          </a:p>
        </p:txBody>
      </p:sp>
      <p:sp>
        <p:nvSpPr>
          <p:cNvPr id="54" name="Shape 52"/>
          <p:cNvSpPr/>
          <p:nvPr/>
        </p:nvSpPr>
        <p:spPr>
          <a:xfrm>
            <a:off x="9345168" y="4494276"/>
            <a:ext cx="1609344" cy="201168"/>
          </a:xfrm>
          <a:prstGeom prst="roundRect">
            <a:avLst/>
          </a:prstGeom>
          <a:solidFill>
            <a:srgbClr val="20303D"/>
          </a:solidFill>
          <a:ln w="7620">
            <a:solidFill>
              <a:srgbClr val="6FB3E8"/>
            </a:solidFill>
            <a:prstDash val="solid"/>
          </a:ln>
        </p:spPr>
      </p:sp>
      <p:sp>
        <p:nvSpPr>
          <p:cNvPr id="55" name="Text 53"/>
          <p:cNvSpPr txBox="1"/>
          <p:nvPr/>
        </p:nvSpPr>
        <p:spPr>
          <a:xfrm>
            <a:off x="9427464" y="4539996"/>
            <a:ext cx="1444752" cy="91440"/>
          </a:xfrm>
          <a:prstGeom prst="rect">
            <a:avLst/>
          </a:prstGeom>
          <a:noFill/>
          <a:ln/>
        </p:spPr>
        <p:txBody>
          <a:bodyPr wrap="square" lIns="0" tIns="0" rIns="0" bIns="0" rtlCol="0" anchor="t">
            <a:normAutofit/>
          </a:bodyPr>
          <a:lstStyle/>
          <a:p>
            <a:pPr algn="ctr" indent="0" marL="0">
              <a:buNone/>
            </a:pPr>
            <a:r>
              <a:rPr lang="en-US" sz="650" b="1" spc="50" kern="0" dirty="0">
                <a:solidFill>
                  <a:srgbClr val="6FB3E8"/>
                </a:solidFill>
                <a:latin typeface="Courier New" pitchFamily="34" charset="0"/>
                <a:ea typeface="Courier New" pitchFamily="34" charset="-122"/>
                <a:cs typeface="Courier New" pitchFamily="34" charset="-120"/>
              </a:rPr>
              <a:t>MVP BUILD</a:t>
            </a:r>
            <a:endParaRPr lang="en-US" sz="650" dirty="0"/>
          </a:p>
        </p:txBody>
      </p:sp>
      <p:sp>
        <p:nvSpPr>
          <p:cNvPr id="56" name="Shape 54"/>
          <p:cNvSpPr/>
          <p:nvPr/>
        </p:nvSpPr>
        <p:spPr>
          <a:xfrm>
            <a:off x="694944" y="4782312"/>
            <a:ext cx="10579608" cy="265176"/>
          </a:xfrm>
          <a:prstGeom prst="roundRect">
            <a:avLst/>
          </a:prstGeom>
          <a:solidFill>
            <a:srgbClr val="100F14"/>
          </a:solidFill>
          <a:ln w="3175">
            <a:solidFill>
              <a:srgbClr val="34323E"/>
            </a:solidFill>
            <a:prstDash val="solid"/>
          </a:ln>
        </p:spPr>
      </p:sp>
      <p:sp>
        <p:nvSpPr>
          <p:cNvPr id="57" name="Text 55"/>
          <p:cNvSpPr txBox="1"/>
          <p:nvPr/>
        </p:nvSpPr>
        <p:spPr>
          <a:xfrm>
            <a:off x="841248" y="4846320"/>
            <a:ext cx="2670048" cy="109728"/>
          </a:xfrm>
          <a:prstGeom prst="rect">
            <a:avLst/>
          </a:prstGeom>
          <a:noFill/>
          <a:ln/>
        </p:spPr>
        <p:txBody>
          <a:bodyPr wrap="square" lIns="0" tIns="0" rIns="0" bIns="0" rtlCol="0" anchor="t">
            <a:normAutofit/>
          </a:bodyPr>
          <a:lstStyle/>
          <a:p>
            <a:pPr algn="l" indent="0" marL="0">
              <a:buNone/>
            </a:pPr>
            <a:r>
              <a:rPr lang="en-US" sz="810" b="1" dirty="0">
                <a:solidFill>
                  <a:srgbClr val="E8E6E0"/>
                </a:solidFill>
                <a:latin typeface="Arial" pitchFamily="34" charset="0"/>
                <a:ea typeface="Arial" pitchFamily="34" charset="-122"/>
                <a:cs typeface="Arial" pitchFamily="34" charset="-120"/>
              </a:rPr>
              <a:t>Web / SMS / email / social</a:t>
            </a:r>
            <a:endParaRPr lang="en-US" sz="810" dirty="0"/>
          </a:p>
        </p:txBody>
      </p:sp>
      <p:sp>
        <p:nvSpPr>
          <p:cNvPr id="58" name="Text 56"/>
          <p:cNvSpPr txBox="1"/>
          <p:nvPr/>
        </p:nvSpPr>
        <p:spPr>
          <a:xfrm>
            <a:off x="3611880" y="4846320"/>
            <a:ext cx="4846320" cy="109728"/>
          </a:xfrm>
          <a:prstGeom prst="rect">
            <a:avLst/>
          </a:prstGeom>
          <a:noFill/>
          <a:ln/>
        </p:spPr>
        <p:txBody>
          <a:bodyPr wrap="square" lIns="0" tIns="0" rIns="0" bIns="0" rtlCol="0" anchor="t">
            <a:normAutofit/>
          </a:bodyPr>
          <a:lstStyle/>
          <a:p>
            <a:pPr algn="l" indent="0" marL="0">
              <a:buNone/>
            </a:pPr>
            <a:r>
              <a:rPr lang="en-US" sz="810" dirty="0">
                <a:solidFill>
                  <a:srgbClr val="9A97A3"/>
                </a:solidFill>
                <a:latin typeface="Arial" pitchFamily="34" charset="0"/>
                <a:ea typeface="Arial" pitchFamily="34" charset="-122"/>
                <a:cs typeface="Arial" pitchFamily="34" charset="-120"/>
              </a:rPr>
              <a:t>No channel adapters</a:t>
            </a:r>
            <a:endParaRPr lang="en-US" sz="810" dirty="0"/>
          </a:p>
        </p:txBody>
      </p:sp>
      <p:sp>
        <p:nvSpPr>
          <p:cNvPr id="59" name="Shape 57"/>
          <p:cNvSpPr/>
          <p:nvPr/>
        </p:nvSpPr>
        <p:spPr>
          <a:xfrm>
            <a:off x="9345168" y="4814316"/>
            <a:ext cx="1609344" cy="201168"/>
          </a:xfrm>
          <a:prstGeom prst="roundRect">
            <a:avLst/>
          </a:prstGeom>
          <a:solidFill>
            <a:srgbClr val="20303D"/>
          </a:solidFill>
          <a:ln w="7620">
            <a:solidFill>
              <a:srgbClr val="6FB3E8"/>
            </a:solidFill>
            <a:prstDash val="solid"/>
          </a:ln>
        </p:spPr>
      </p:sp>
      <p:sp>
        <p:nvSpPr>
          <p:cNvPr id="60" name="Text 58"/>
          <p:cNvSpPr txBox="1"/>
          <p:nvPr/>
        </p:nvSpPr>
        <p:spPr>
          <a:xfrm>
            <a:off x="9427464" y="4860036"/>
            <a:ext cx="1444752" cy="91440"/>
          </a:xfrm>
          <a:prstGeom prst="rect">
            <a:avLst/>
          </a:prstGeom>
          <a:noFill/>
          <a:ln/>
        </p:spPr>
        <p:txBody>
          <a:bodyPr wrap="square" lIns="0" tIns="0" rIns="0" bIns="0" rtlCol="0" anchor="t">
            <a:normAutofit/>
          </a:bodyPr>
          <a:lstStyle/>
          <a:p>
            <a:pPr algn="ctr" indent="0" marL="0">
              <a:buNone/>
            </a:pPr>
            <a:r>
              <a:rPr lang="en-US" sz="650" b="1" spc="50" kern="0" dirty="0">
                <a:solidFill>
                  <a:srgbClr val="6FB3E8"/>
                </a:solidFill>
                <a:latin typeface="Courier New" pitchFamily="34" charset="0"/>
                <a:ea typeface="Courier New" pitchFamily="34" charset="-122"/>
                <a:cs typeface="Courier New" pitchFamily="34" charset="-120"/>
              </a:rPr>
              <a:t>MVP + LATER</a:t>
            </a:r>
            <a:endParaRPr lang="en-US" sz="650" dirty="0"/>
          </a:p>
        </p:txBody>
      </p:sp>
      <p:sp>
        <p:nvSpPr>
          <p:cNvPr id="61" name="Shape 59"/>
          <p:cNvSpPr/>
          <p:nvPr/>
        </p:nvSpPr>
        <p:spPr>
          <a:xfrm>
            <a:off x="694944" y="5102352"/>
            <a:ext cx="10579608" cy="265176"/>
          </a:xfrm>
          <a:prstGeom prst="roundRect">
            <a:avLst/>
          </a:prstGeom>
          <a:solidFill>
            <a:srgbClr val="1E1E28"/>
          </a:solidFill>
          <a:ln w="3175">
            <a:solidFill>
              <a:srgbClr val="34323E"/>
            </a:solidFill>
            <a:prstDash val="solid"/>
          </a:ln>
        </p:spPr>
      </p:sp>
      <p:sp>
        <p:nvSpPr>
          <p:cNvPr id="62" name="Text 60"/>
          <p:cNvSpPr txBox="1"/>
          <p:nvPr/>
        </p:nvSpPr>
        <p:spPr>
          <a:xfrm>
            <a:off x="841248" y="5166360"/>
            <a:ext cx="2670048" cy="109728"/>
          </a:xfrm>
          <a:prstGeom prst="rect">
            <a:avLst/>
          </a:prstGeom>
          <a:noFill/>
          <a:ln/>
        </p:spPr>
        <p:txBody>
          <a:bodyPr wrap="square" lIns="0" tIns="0" rIns="0" bIns="0" rtlCol="0" anchor="t">
            <a:normAutofit/>
          </a:bodyPr>
          <a:lstStyle/>
          <a:p>
            <a:pPr algn="l" indent="0" marL="0">
              <a:buNone/>
            </a:pPr>
            <a:r>
              <a:rPr lang="en-US" sz="810" b="1" dirty="0">
                <a:solidFill>
                  <a:srgbClr val="E8E6E0"/>
                </a:solidFill>
                <a:latin typeface="Arial" pitchFamily="34" charset="0"/>
                <a:ea typeface="Arial" pitchFamily="34" charset="-122"/>
                <a:cs typeface="Arial" pitchFamily="34" charset="-120"/>
              </a:rPr>
              <a:t>Admin + workflow builder</a:t>
            </a:r>
            <a:endParaRPr lang="en-US" sz="810" dirty="0"/>
          </a:p>
        </p:txBody>
      </p:sp>
      <p:sp>
        <p:nvSpPr>
          <p:cNvPr id="63" name="Text 61"/>
          <p:cNvSpPr txBox="1"/>
          <p:nvPr/>
        </p:nvSpPr>
        <p:spPr>
          <a:xfrm>
            <a:off x="3611880" y="5166360"/>
            <a:ext cx="4846320" cy="109728"/>
          </a:xfrm>
          <a:prstGeom prst="rect">
            <a:avLst/>
          </a:prstGeom>
          <a:noFill/>
          <a:ln/>
        </p:spPr>
        <p:txBody>
          <a:bodyPr wrap="square" lIns="0" tIns="0" rIns="0" bIns="0" rtlCol="0" anchor="t">
            <a:normAutofit/>
          </a:bodyPr>
          <a:lstStyle/>
          <a:p>
            <a:pPr algn="l" indent="0" marL="0">
              <a:buNone/>
            </a:pPr>
            <a:r>
              <a:rPr lang="en-US" sz="810" dirty="0">
                <a:solidFill>
                  <a:srgbClr val="9A97A3"/>
                </a:solidFill>
                <a:latin typeface="Arial" pitchFamily="34" charset="0"/>
                <a:ea typeface="Arial" pitchFamily="34" charset="-122"/>
                <a:cs typeface="Arial" pitchFamily="34" charset="-120"/>
              </a:rPr>
              <a:t>Local TUI/config only</a:t>
            </a:r>
            <a:endParaRPr lang="en-US" sz="810" dirty="0"/>
          </a:p>
        </p:txBody>
      </p:sp>
      <p:sp>
        <p:nvSpPr>
          <p:cNvPr id="64" name="Shape 62"/>
          <p:cNvSpPr/>
          <p:nvPr/>
        </p:nvSpPr>
        <p:spPr>
          <a:xfrm>
            <a:off x="9345168" y="5134356"/>
            <a:ext cx="1609344" cy="201168"/>
          </a:xfrm>
          <a:prstGeom prst="roundRect">
            <a:avLst/>
          </a:prstGeom>
          <a:solidFill>
            <a:srgbClr val="20303D"/>
          </a:solidFill>
          <a:ln w="7620">
            <a:solidFill>
              <a:srgbClr val="6FB3E8"/>
            </a:solidFill>
            <a:prstDash val="solid"/>
          </a:ln>
        </p:spPr>
      </p:sp>
      <p:sp>
        <p:nvSpPr>
          <p:cNvPr id="65" name="Text 63"/>
          <p:cNvSpPr txBox="1"/>
          <p:nvPr/>
        </p:nvSpPr>
        <p:spPr>
          <a:xfrm>
            <a:off x="9427464" y="5180076"/>
            <a:ext cx="1444752" cy="91440"/>
          </a:xfrm>
          <a:prstGeom prst="rect">
            <a:avLst/>
          </a:prstGeom>
          <a:noFill/>
          <a:ln/>
        </p:spPr>
        <p:txBody>
          <a:bodyPr wrap="square" lIns="0" tIns="0" rIns="0" bIns="0" rtlCol="0" anchor="t">
            <a:normAutofit/>
          </a:bodyPr>
          <a:lstStyle/>
          <a:p>
            <a:pPr algn="ctr" indent="0" marL="0">
              <a:buNone/>
            </a:pPr>
            <a:r>
              <a:rPr lang="en-US" sz="650" b="1" spc="50" kern="0" dirty="0">
                <a:solidFill>
                  <a:srgbClr val="6FB3E8"/>
                </a:solidFill>
                <a:latin typeface="Courier New" pitchFamily="34" charset="0"/>
                <a:ea typeface="Courier New" pitchFamily="34" charset="-122"/>
                <a:cs typeface="Courier New" pitchFamily="34" charset="-120"/>
              </a:rPr>
              <a:t>MVP + LATER</a:t>
            </a:r>
            <a:endParaRPr lang="en-US" sz="650" dirty="0"/>
          </a:p>
        </p:txBody>
      </p:sp>
      <p:sp>
        <p:nvSpPr>
          <p:cNvPr id="66" name="Shape 64"/>
          <p:cNvSpPr/>
          <p:nvPr/>
        </p:nvSpPr>
        <p:spPr>
          <a:xfrm>
            <a:off x="694944" y="5422392"/>
            <a:ext cx="10579608" cy="265176"/>
          </a:xfrm>
          <a:prstGeom prst="roundRect">
            <a:avLst/>
          </a:prstGeom>
          <a:solidFill>
            <a:srgbClr val="100F14"/>
          </a:solidFill>
          <a:ln w="3175">
            <a:solidFill>
              <a:srgbClr val="34323E"/>
            </a:solidFill>
            <a:prstDash val="solid"/>
          </a:ln>
        </p:spPr>
      </p:sp>
      <p:sp>
        <p:nvSpPr>
          <p:cNvPr id="67" name="Text 65"/>
          <p:cNvSpPr txBox="1"/>
          <p:nvPr/>
        </p:nvSpPr>
        <p:spPr>
          <a:xfrm>
            <a:off x="841248" y="5486400"/>
            <a:ext cx="2670048" cy="109728"/>
          </a:xfrm>
          <a:prstGeom prst="rect">
            <a:avLst/>
          </a:prstGeom>
          <a:noFill/>
          <a:ln/>
        </p:spPr>
        <p:txBody>
          <a:bodyPr wrap="square" lIns="0" tIns="0" rIns="0" bIns="0" rtlCol="0" anchor="t">
            <a:normAutofit/>
          </a:bodyPr>
          <a:lstStyle/>
          <a:p>
            <a:pPr algn="l" indent="0" marL="0">
              <a:buNone/>
            </a:pPr>
            <a:r>
              <a:rPr lang="en-US" sz="810" b="1" dirty="0">
                <a:solidFill>
                  <a:srgbClr val="E8E6E0"/>
                </a:solidFill>
                <a:latin typeface="Arial" pitchFamily="34" charset="0"/>
                <a:ea typeface="Arial" pitchFamily="34" charset="-122"/>
                <a:cs typeface="Arial" pitchFamily="34" charset="-120"/>
              </a:rPr>
              <a:t>Analytics + dashboards</a:t>
            </a:r>
            <a:endParaRPr lang="en-US" sz="810" dirty="0"/>
          </a:p>
        </p:txBody>
      </p:sp>
      <p:sp>
        <p:nvSpPr>
          <p:cNvPr id="68" name="Text 66"/>
          <p:cNvSpPr txBox="1"/>
          <p:nvPr/>
        </p:nvSpPr>
        <p:spPr>
          <a:xfrm>
            <a:off x="3611880" y="5486400"/>
            <a:ext cx="4846320" cy="109728"/>
          </a:xfrm>
          <a:prstGeom prst="rect">
            <a:avLst/>
          </a:prstGeom>
          <a:noFill/>
          <a:ln/>
        </p:spPr>
        <p:txBody>
          <a:bodyPr wrap="square" lIns="0" tIns="0" rIns="0" bIns="0" rtlCol="0" anchor="t">
            <a:normAutofit/>
          </a:bodyPr>
          <a:lstStyle/>
          <a:p>
            <a:pPr algn="l" indent="0" marL="0">
              <a:buNone/>
            </a:pPr>
            <a:r>
              <a:rPr lang="en-US" sz="810" dirty="0">
                <a:solidFill>
                  <a:srgbClr val="9A97A3"/>
                </a:solidFill>
                <a:latin typeface="Arial" pitchFamily="34" charset="0"/>
                <a:ea typeface="Arial" pitchFamily="34" charset="-122"/>
                <a:cs typeface="Arial" pitchFamily="34" charset="-120"/>
              </a:rPr>
              <a:t>Technical telemetry only</a:t>
            </a:r>
            <a:endParaRPr lang="en-US" sz="810" dirty="0"/>
          </a:p>
        </p:txBody>
      </p:sp>
      <p:sp>
        <p:nvSpPr>
          <p:cNvPr id="69" name="Shape 67"/>
          <p:cNvSpPr/>
          <p:nvPr/>
        </p:nvSpPr>
        <p:spPr>
          <a:xfrm>
            <a:off x="9345168" y="5454396"/>
            <a:ext cx="1609344" cy="201168"/>
          </a:xfrm>
          <a:prstGeom prst="roundRect">
            <a:avLst/>
          </a:prstGeom>
          <a:solidFill>
            <a:srgbClr val="20303D"/>
          </a:solidFill>
          <a:ln w="7620">
            <a:solidFill>
              <a:srgbClr val="6FB3E8"/>
            </a:solidFill>
            <a:prstDash val="solid"/>
          </a:ln>
        </p:spPr>
      </p:sp>
      <p:sp>
        <p:nvSpPr>
          <p:cNvPr id="70" name="Text 68"/>
          <p:cNvSpPr txBox="1"/>
          <p:nvPr/>
        </p:nvSpPr>
        <p:spPr>
          <a:xfrm>
            <a:off x="9427464" y="5500116"/>
            <a:ext cx="1444752" cy="91440"/>
          </a:xfrm>
          <a:prstGeom prst="rect">
            <a:avLst/>
          </a:prstGeom>
          <a:noFill/>
          <a:ln/>
        </p:spPr>
        <p:txBody>
          <a:bodyPr wrap="square" lIns="0" tIns="0" rIns="0" bIns="0" rtlCol="0" anchor="t">
            <a:normAutofit/>
          </a:bodyPr>
          <a:lstStyle/>
          <a:p>
            <a:pPr algn="ctr" indent="0" marL="0">
              <a:buNone/>
            </a:pPr>
            <a:r>
              <a:rPr lang="en-US" sz="650" b="1" spc="50" kern="0" dirty="0">
                <a:solidFill>
                  <a:srgbClr val="6FB3E8"/>
                </a:solidFill>
                <a:latin typeface="Courier New" pitchFamily="34" charset="0"/>
                <a:ea typeface="Courier New" pitchFamily="34" charset="-122"/>
                <a:cs typeface="Courier New" pitchFamily="34" charset="-120"/>
              </a:rPr>
              <a:t>MVP + LATER</a:t>
            </a:r>
            <a:endParaRPr lang="en-US" sz="650" dirty="0"/>
          </a:p>
        </p:txBody>
      </p:sp>
      <p:sp>
        <p:nvSpPr>
          <p:cNvPr id="71" name="Shape 69"/>
          <p:cNvSpPr/>
          <p:nvPr/>
        </p:nvSpPr>
        <p:spPr>
          <a:xfrm>
            <a:off x="694944" y="5742432"/>
            <a:ext cx="10579608" cy="265176"/>
          </a:xfrm>
          <a:prstGeom prst="roundRect">
            <a:avLst/>
          </a:prstGeom>
          <a:solidFill>
            <a:srgbClr val="1E1E28"/>
          </a:solidFill>
          <a:ln w="3175">
            <a:solidFill>
              <a:srgbClr val="34323E"/>
            </a:solidFill>
            <a:prstDash val="solid"/>
          </a:ln>
        </p:spPr>
      </p:sp>
      <p:sp>
        <p:nvSpPr>
          <p:cNvPr id="72" name="Text 70"/>
          <p:cNvSpPr txBox="1"/>
          <p:nvPr/>
        </p:nvSpPr>
        <p:spPr>
          <a:xfrm>
            <a:off x="841248" y="5806440"/>
            <a:ext cx="2670048" cy="109728"/>
          </a:xfrm>
          <a:prstGeom prst="rect">
            <a:avLst/>
          </a:prstGeom>
          <a:noFill/>
          <a:ln/>
        </p:spPr>
        <p:txBody>
          <a:bodyPr wrap="square" lIns="0" tIns="0" rIns="0" bIns="0" rtlCol="0" anchor="t">
            <a:normAutofit/>
          </a:bodyPr>
          <a:lstStyle/>
          <a:p>
            <a:pPr algn="l" indent="0" marL="0">
              <a:buNone/>
            </a:pPr>
            <a:r>
              <a:rPr lang="en-US" sz="810" b="1" dirty="0">
                <a:solidFill>
                  <a:srgbClr val="E8E6E0"/>
                </a:solidFill>
                <a:latin typeface="Arial" pitchFamily="34" charset="0"/>
                <a:ea typeface="Arial" pitchFamily="34" charset="-122"/>
                <a:cs typeface="Arial" pitchFamily="34" charset="-120"/>
              </a:rPr>
              <a:t>Multitenancy + scale</a:t>
            </a:r>
            <a:endParaRPr lang="en-US" sz="810" dirty="0"/>
          </a:p>
        </p:txBody>
      </p:sp>
      <p:sp>
        <p:nvSpPr>
          <p:cNvPr id="73" name="Text 71"/>
          <p:cNvSpPr txBox="1"/>
          <p:nvPr/>
        </p:nvSpPr>
        <p:spPr>
          <a:xfrm>
            <a:off x="3611880" y="5806440"/>
            <a:ext cx="4846320" cy="109728"/>
          </a:xfrm>
          <a:prstGeom prst="rect">
            <a:avLst/>
          </a:prstGeom>
          <a:noFill/>
          <a:ln/>
        </p:spPr>
        <p:txBody>
          <a:bodyPr wrap="square" lIns="0" tIns="0" rIns="0" bIns="0" rtlCol="0" anchor="t">
            <a:normAutofit/>
          </a:bodyPr>
          <a:lstStyle/>
          <a:p>
            <a:pPr algn="l" indent="0" marL="0">
              <a:buNone/>
            </a:pPr>
            <a:r>
              <a:rPr lang="en-US" sz="810" dirty="0">
                <a:solidFill>
                  <a:srgbClr val="9A97A3"/>
                </a:solidFill>
                <a:latin typeface="Arial" pitchFamily="34" charset="0"/>
                <a:ea typeface="Arial" pitchFamily="34" charset="-122"/>
                <a:cs typeface="Arial" pitchFamily="34" charset="-120"/>
              </a:rPr>
              <a:t>Multiple local processes ≠ scale</a:t>
            </a:r>
            <a:endParaRPr lang="en-US" sz="810" dirty="0"/>
          </a:p>
        </p:txBody>
      </p:sp>
      <p:sp>
        <p:nvSpPr>
          <p:cNvPr id="74" name="Shape 72"/>
          <p:cNvSpPr/>
          <p:nvPr/>
        </p:nvSpPr>
        <p:spPr>
          <a:xfrm>
            <a:off x="9345168" y="5774436"/>
            <a:ext cx="1609344" cy="201168"/>
          </a:xfrm>
          <a:prstGeom prst="roundRect">
            <a:avLst/>
          </a:prstGeom>
          <a:solidFill>
            <a:srgbClr val="1E1E28"/>
          </a:solidFill>
          <a:ln w="7620">
            <a:solidFill>
              <a:srgbClr val="9A97A3"/>
            </a:solidFill>
            <a:prstDash val="solid"/>
          </a:ln>
        </p:spPr>
      </p:sp>
      <p:sp>
        <p:nvSpPr>
          <p:cNvPr id="75" name="Text 73"/>
          <p:cNvSpPr txBox="1"/>
          <p:nvPr/>
        </p:nvSpPr>
        <p:spPr>
          <a:xfrm>
            <a:off x="9427464" y="5820156"/>
            <a:ext cx="1444752" cy="91440"/>
          </a:xfrm>
          <a:prstGeom prst="rect">
            <a:avLst/>
          </a:prstGeom>
          <a:noFill/>
          <a:ln/>
        </p:spPr>
        <p:txBody>
          <a:bodyPr wrap="square" lIns="0" tIns="0" rIns="0" bIns="0" rtlCol="0" anchor="t">
            <a:normAutofit/>
          </a:bodyPr>
          <a:lstStyle/>
          <a:p>
            <a:pPr algn="ctr" indent="0" marL="0">
              <a:buNone/>
            </a:pPr>
            <a:r>
              <a:rPr lang="en-US" sz="650" b="1" spc="50" kern="0" dirty="0">
                <a:solidFill>
                  <a:srgbClr val="9A97A3"/>
                </a:solidFill>
                <a:latin typeface="Courier New" pitchFamily="34" charset="0"/>
                <a:ea typeface="Courier New" pitchFamily="34" charset="-122"/>
                <a:cs typeface="Courier New" pitchFamily="34" charset="-120"/>
              </a:rPr>
              <a:t>LATER</a:t>
            </a:r>
            <a:endParaRPr lang="en-US" sz="650" dirty="0"/>
          </a:p>
        </p:txBody>
      </p:sp>
      <p:sp>
        <p:nvSpPr>
          <p:cNvPr id="76" name="Text 74"/>
          <p:cNvSpPr txBox="1"/>
          <p:nvPr/>
        </p:nvSpPr>
        <p:spPr>
          <a:xfrm>
            <a:off x="896112" y="6163056"/>
            <a:ext cx="10332720" cy="146304"/>
          </a:xfrm>
          <a:prstGeom prst="rect">
            <a:avLst/>
          </a:prstGeom>
          <a:noFill/>
          <a:ln/>
        </p:spPr>
        <p:txBody>
          <a:bodyPr wrap="square" lIns="0" tIns="0" rIns="0" bIns="0" rtlCol="0" anchor="t">
            <a:normAutofit/>
          </a:bodyPr>
          <a:lstStyle/>
          <a:p>
            <a:pPr algn="ctr" indent="0" marL="0">
              <a:buNone/>
            </a:pPr>
            <a:r>
              <a:rPr lang="en-US" sz="730" dirty="0">
                <a:solidFill>
                  <a:srgbClr val="9A97A3"/>
                </a:solidFill>
                <a:latin typeface="Courier New" pitchFamily="34" charset="0"/>
                <a:ea typeface="Courier New" pitchFamily="34" charset="-122"/>
                <a:cs typeface="Courier New" pitchFamily="34" charset="-120"/>
              </a:rPr>
              <a:t>CURRENT = demonstrated locally  •  REUSABLE = relevant component, not end-to-end capability  •  MVP BUILD / LATER = new work</a:t>
            </a:r>
            <a:endParaRPr lang="en-US" sz="730" dirty="0"/>
          </a:p>
        </p:txBody>
      </p:sp>
      <p:sp>
        <p:nvSpPr>
          <p:cNvPr id="25" name="Slide Number Placeholder 0"/>
          <p:cNvSpPr>
            <a:spLocks noGrp="1"/>
          </p:cNvSpPr>
          <p:nvPr>
            <p:ph type="sldNum" sz="quarter" idx="4294967295"/>
          </p:nvPr>
        </p:nvSpPr>
        <p:spPr>
          <a:xfrm>
            <a:off x="11109960" y="6483096"/>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9A97A3"/>
                </a:solidFill>
                <a:latin typeface="Courier New"/>
                <a:ea typeface="Courier New"/>
                <a:cs typeface="Courier New"/>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6161D"/>
        </a:solidFill>
      </p:bgPr>
    </p:bg>
    <p:spTree>
      <p:nvGrpSpPr>
        <p:cNvPr id="1" name=""/>
        <p:cNvGrpSpPr/>
        <p:nvPr/>
      </p:nvGrpSpPr>
      <p:grpSpPr>
        <a:xfrm>
          <a:off x="0" y="0"/>
          <a:ext cx="0" cy="0"/>
          <a:chOff x="0" y="0"/>
          <a:chExt cx="0" cy="0"/>
        </a:xfrm>
      </p:grpSpPr>
      <p:sp>
        <p:nvSpPr>
          <p:cNvPr id="2" name="Text 0"/>
          <p:cNvSpPr txBox="1"/>
          <p:nvPr/>
        </p:nvSpPr>
        <p:spPr>
          <a:xfrm>
            <a:off x="713232" y="384048"/>
            <a:ext cx="5120640" cy="219456"/>
          </a:xfrm>
          <a:prstGeom prst="rect">
            <a:avLst/>
          </a:prstGeom>
          <a:noFill/>
          <a:ln/>
        </p:spPr>
        <p:txBody>
          <a:bodyPr wrap="square" lIns="0" tIns="0" rIns="0" bIns="0" rtlCol="0" anchor="t">
            <a:normAutofit/>
          </a:bodyPr>
          <a:lstStyle/>
          <a:p>
            <a:pPr algn="l" indent="0" marL="0">
              <a:buNone/>
            </a:pPr>
            <a:r>
              <a:rPr lang="en-US" sz="900" b="1" spc="210" kern="0" dirty="0">
                <a:solidFill>
                  <a:srgbClr val="9A97A3"/>
                </a:solidFill>
                <a:latin typeface="Courier New" pitchFamily="34" charset="0"/>
                <a:ea typeface="Courier New" pitchFamily="34" charset="-122"/>
                <a:cs typeface="Courier New" pitchFamily="34" charset="-120"/>
              </a:rPr>
              <a:t>APPENDIX B</a:t>
            </a:r>
            <a:endParaRPr lang="en-US" sz="900" dirty="0"/>
          </a:p>
        </p:txBody>
      </p:sp>
      <p:sp>
        <p:nvSpPr>
          <p:cNvPr id="3" name="Text 1"/>
          <p:cNvSpPr txBox="1"/>
          <p:nvPr/>
        </p:nvSpPr>
        <p:spPr>
          <a:xfrm>
            <a:off x="10424160" y="347472"/>
            <a:ext cx="1051560" cy="228600"/>
          </a:xfrm>
          <a:prstGeom prst="rect">
            <a:avLst/>
          </a:prstGeom>
          <a:noFill/>
          <a:ln/>
        </p:spPr>
        <p:txBody>
          <a:bodyPr wrap="square" lIns="0" tIns="0" rIns="0" bIns="0" rtlCol="0" anchor="t">
            <a:normAutofit/>
          </a:bodyPr>
          <a:lstStyle/>
          <a:p>
            <a:pPr algn="r" indent="0" marL="0">
              <a:buNone/>
            </a:pPr>
            <a:r>
              <a:rPr lang="en-US" sz="1000" b="1" spc="240" kern="0" dirty="0">
                <a:solidFill>
                  <a:srgbClr val="E8E6E0"/>
                </a:solidFill>
                <a:latin typeface="Courier New" pitchFamily="34" charset="0"/>
                <a:ea typeface="Courier New" pitchFamily="34" charset="-122"/>
                <a:cs typeface="Courier New" pitchFamily="34" charset="-120"/>
              </a:rPr>
              <a:t>CYBIC</a:t>
            </a:r>
            <a:endParaRPr lang="en-US" sz="1000" dirty="0"/>
          </a:p>
        </p:txBody>
      </p:sp>
      <p:sp>
        <p:nvSpPr>
          <p:cNvPr id="4" name="Text 2"/>
          <p:cNvSpPr txBox="1"/>
          <p:nvPr/>
        </p:nvSpPr>
        <p:spPr>
          <a:xfrm>
            <a:off x="685800" y="713232"/>
            <a:ext cx="10744200" cy="566928"/>
          </a:xfrm>
          <a:prstGeom prst="rect">
            <a:avLst/>
          </a:prstGeom>
          <a:noFill/>
          <a:ln/>
        </p:spPr>
        <p:txBody>
          <a:bodyPr wrap="square" lIns="0" tIns="0" rIns="0" bIns="0" rtlCol="0" anchor="t">
            <a:normAutofit/>
          </a:bodyPr>
          <a:lstStyle/>
          <a:p>
            <a:pPr algn="l" indent="0" marL="0">
              <a:buNone/>
            </a:pPr>
            <a:r>
              <a:rPr lang="en-US" sz="2800" b="1" dirty="0">
                <a:solidFill>
                  <a:srgbClr val="6FB3E8"/>
                </a:solidFill>
                <a:latin typeface="Arial" pitchFamily="34" charset="0"/>
                <a:ea typeface="Arial" pitchFamily="34" charset="-122"/>
                <a:cs typeface="Arial" pitchFamily="34" charset="-120"/>
              </a:rPr>
              <a:t>Target-platform functional catalog</a:t>
            </a:r>
            <a:endParaRPr lang="en-US" sz="2800" dirty="0"/>
          </a:p>
        </p:txBody>
      </p:sp>
      <p:sp>
        <p:nvSpPr>
          <p:cNvPr id="5" name="Text 3"/>
          <p:cNvSpPr txBox="1"/>
          <p:nvPr/>
        </p:nvSpPr>
        <p:spPr>
          <a:xfrm>
            <a:off x="713232" y="1298448"/>
            <a:ext cx="10607040" cy="411480"/>
          </a:xfrm>
          <a:prstGeom prst="rect">
            <a:avLst/>
          </a:prstGeom>
          <a:noFill/>
          <a:ln/>
        </p:spPr>
        <p:txBody>
          <a:bodyPr wrap="square" lIns="0" tIns="0" rIns="0" bIns="0" rtlCol="0" anchor="t">
            <a:normAutofit/>
          </a:bodyPr>
          <a:lstStyle/>
          <a:p>
            <a:pPr algn="l" indent="0" marL="0">
              <a:buNone/>
            </a:pPr>
            <a:r>
              <a:rPr lang="en-US" sz="1350" dirty="0">
                <a:solidFill>
                  <a:srgbClr val="9A97A3"/>
                </a:solidFill>
                <a:latin typeface="Arial" pitchFamily="34" charset="0"/>
                <a:ea typeface="Arial" pitchFamily="34" charset="-122"/>
                <a:cs typeface="Arial" pitchFamily="34" charset="-120"/>
              </a:rPr>
              <a:t>A discovery checklist — not a claim of existing implementation.</a:t>
            </a:r>
            <a:endParaRPr lang="en-US" sz="1350" dirty="0"/>
          </a:p>
        </p:txBody>
      </p:sp>
      <p:sp>
        <p:nvSpPr>
          <p:cNvPr id="6" name="Shape 4"/>
          <p:cNvSpPr/>
          <p:nvPr/>
        </p:nvSpPr>
        <p:spPr>
          <a:xfrm>
            <a:off x="658368" y="6428232"/>
            <a:ext cx="10863072" cy="0"/>
          </a:xfrm>
          <a:prstGeom prst="line">
            <a:avLst/>
          </a:prstGeom>
          <a:noFill/>
          <a:ln w="8890">
            <a:solidFill>
              <a:srgbClr val="34323E"/>
            </a:solidFill>
            <a:prstDash val="solid"/>
          </a:ln>
        </p:spPr>
      </p:sp>
      <p:sp>
        <p:nvSpPr>
          <p:cNvPr id="7" name="Text 5"/>
          <p:cNvSpPr txBox="1"/>
          <p:nvPr/>
        </p:nvSpPr>
        <p:spPr>
          <a:xfrm>
            <a:off x="685800" y="6473952"/>
            <a:ext cx="2926080" cy="146304"/>
          </a:xfrm>
          <a:prstGeom prst="rect">
            <a:avLst/>
          </a:prstGeom>
          <a:noFill/>
          <a:ln/>
        </p:spPr>
        <p:txBody>
          <a:bodyPr wrap="square" lIns="0" tIns="0" rIns="0" bIns="0" rtlCol="0" anchor="t">
            <a:normAutofit/>
          </a:bodyPr>
          <a:lstStyle/>
          <a:p>
            <a:pPr algn="l" indent="0" marL="0">
              <a:buNone/>
            </a:pPr>
            <a:r>
              <a:rPr lang="en-US" sz="750" spc="120" kern="0" dirty="0">
                <a:solidFill>
                  <a:srgbClr val="9A97A3"/>
                </a:solidFill>
                <a:latin typeface="Courier New" pitchFamily="34" charset="0"/>
                <a:ea typeface="Courier New" pitchFamily="34" charset="-122"/>
                <a:cs typeface="Courier New" pitchFamily="34" charset="-120"/>
              </a:rPr>
              <a:t>CYBIC  •  CONFIDENTIAL</a:t>
            </a:r>
            <a:endParaRPr lang="en-US" sz="750" dirty="0"/>
          </a:p>
        </p:txBody>
      </p:sp>
      <p:sp>
        <p:nvSpPr>
          <p:cNvPr id="8" name="Shape 6"/>
          <p:cNvSpPr/>
          <p:nvPr/>
        </p:nvSpPr>
        <p:spPr>
          <a:xfrm>
            <a:off x="713232" y="1709928"/>
            <a:ext cx="3364992" cy="1938528"/>
          </a:xfrm>
          <a:prstGeom prst="roundRect">
            <a:avLst/>
          </a:prstGeom>
          <a:solidFill>
            <a:srgbClr val="20303D"/>
          </a:solidFill>
          <a:ln w="11430">
            <a:solidFill>
              <a:srgbClr val="6FB3E8"/>
            </a:solidFill>
            <a:prstDash val="solid"/>
          </a:ln>
        </p:spPr>
      </p:sp>
      <p:sp>
        <p:nvSpPr>
          <p:cNvPr id="9" name="Text 7"/>
          <p:cNvSpPr txBox="1"/>
          <p:nvPr/>
        </p:nvSpPr>
        <p:spPr>
          <a:xfrm>
            <a:off x="914400" y="1892808"/>
            <a:ext cx="2962656" cy="201168"/>
          </a:xfrm>
          <a:prstGeom prst="rect">
            <a:avLst/>
          </a:prstGeom>
          <a:noFill/>
          <a:ln/>
        </p:spPr>
        <p:txBody>
          <a:bodyPr wrap="square" lIns="0" tIns="0" rIns="0" bIns="0" rtlCol="0" anchor="t">
            <a:normAutofit/>
          </a:bodyPr>
          <a:lstStyle/>
          <a:p>
            <a:pPr algn="l" indent="0" marL="0">
              <a:buNone/>
            </a:pPr>
            <a:r>
              <a:rPr lang="en-US" sz="850" b="1" spc="60" kern="0" dirty="0">
                <a:solidFill>
                  <a:srgbClr val="6FB3E8"/>
                </a:solidFill>
                <a:latin typeface="Courier New" pitchFamily="34" charset="0"/>
                <a:ea typeface="Courier New" pitchFamily="34" charset="-122"/>
                <a:cs typeface="Courier New" pitchFamily="34" charset="-120"/>
              </a:rPr>
              <a:t>CHANNELS + ENGAGEMENT</a:t>
            </a:r>
            <a:endParaRPr lang="en-US" sz="850" dirty="0"/>
          </a:p>
        </p:txBody>
      </p:sp>
      <p:sp>
        <p:nvSpPr>
          <p:cNvPr id="10" name="Text 8"/>
          <p:cNvSpPr txBox="1"/>
          <p:nvPr/>
        </p:nvSpPr>
        <p:spPr>
          <a:xfrm>
            <a:off x="914400" y="2240280"/>
            <a:ext cx="2962656" cy="1225296"/>
          </a:xfrm>
          <a:prstGeom prst="rect">
            <a:avLst/>
          </a:prstGeom>
          <a:noFill/>
          <a:ln/>
        </p:spPr>
        <p:txBody>
          <a:bodyPr wrap="square" lIns="0" tIns="0" rIns="0" bIns="0" rtlCol="0" anchor="t">
            <a:normAutofit/>
          </a:bodyPr>
          <a:lstStyle/>
          <a:p>
            <a:pPr algn="l" indent="0" marL="0">
              <a:buNone/>
            </a:pPr>
            <a:r>
              <a:rPr lang="en-US" sz="950" dirty="0">
                <a:solidFill>
                  <a:srgbClr val="E8E6E0"/>
                </a:solidFill>
                <a:latin typeface="Arial" pitchFamily="34" charset="0"/>
                <a:ea typeface="Arial" pitchFamily="34" charset="-122"/>
                <a:cs typeface="Arial" pitchFamily="34" charset="-120"/>
              </a:rPr>
              <a:t>Website chat • inbound/outbound voice • SMS • email • WhatsApp • Messenger • mobile/future APIs</a:t>
            </a:r>
            <a:endParaRPr lang="en-US" sz="950" dirty="0"/>
          </a:p>
          <a:p>
            <a:pPr algn="l" indent="0" marL="0">
              <a:buNone/>
            </a:pPr>
            <a:endParaRPr lang="en-US" sz="950" dirty="0"/>
          </a:p>
          <a:p>
            <a:pPr algn="l" indent="0" marL="0">
              <a:buNone/>
            </a:pPr>
            <a:r>
              <a:rPr lang="en-US" sz="950" dirty="0">
                <a:solidFill>
                  <a:srgbClr val="E8E6E0"/>
                </a:solidFill>
                <a:latin typeface="Arial" pitchFamily="34" charset="0"/>
                <a:ea typeface="Arial" pitchFamily="34" charset="-122"/>
                <a:cs typeface="Arial" pitchFamily="34" charset="-120"/>
              </a:rPr>
              <a:t>Voice: booking changes • voicemail • SMS follow-up • live transfer</a:t>
            </a:r>
            <a:endParaRPr lang="en-US" sz="950" dirty="0"/>
          </a:p>
          <a:p>
            <a:pPr algn="l" indent="0" marL="0">
              <a:buNone/>
            </a:pPr>
            <a:r>
              <a:rPr lang="en-US" sz="950" dirty="0">
                <a:solidFill>
                  <a:srgbClr val="E8E6E0"/>
                </a:solidFill>
                <a:latin typeface="Arial" pitchFamily="34" charset="0"/>
                <a:ea typeface="Arial" pitchFamily="34" charset="-122"/>
                <a:cs typeface="Arial" pitchFamily="34" charset="-120"/>
              </a:rPr>
              <a:t>Web: qualification • CRM creation • uploads • confirmations</a:t>
            </a:r>
            <a:endParaRPr lang="en-US" sz="950" dirty="0"/>
          </a:p>
        </p:txBody>
      </p:sp>
      <p:sp>
        <p:nvSpPr>
          <p:cNvPr id="11" name="Shape 9"/>
          <p:cNvSpPr/>
          <p:nvPr/>
        </p:nvSpPr>
        <p:spPr>
          <a:xfrm>
            <a:off x="4407408" y="1709928"/>
            <a:ext cx="3364992" cy="1938528"/>
          </a:xfrm>
          <a:prstGeom prst="roundRect">
            <a:avLst/>
          </a:prstGeom>
          <a:solidFill>
            <a:srgbClr val="20382F"/>
          </a:solidFill>
          <a:ln w="11430">
            <a:solidFill>
              <a:srgbClr val="7CC7A5"/>
            </a:solidFill>
            <a:prstDash val="solid"/>
          </a:ln>
        </p:spPr>
      </p:sp>
      <p:sp>
        <p:nvSpPr>
          <p:cNvPr id="12" name="Text 10"/>
          <p:cNvSpPr txBox="1"/>
          <p:nvPr/>
        </p:nvSpPr>
        <p:spPr>
          <a:xfrm>
            <a:off x="4608576" y="1892808"/>
            <a:ext cx="2962656" cy="201168"/>
          </a:xfrm>
          <a:prstGeom prst="rect">
            <a:avLst/>
          </a:prstGeom>
          <a:noFill/>
          <a:ln/>
        </p:spPr>
        <p:txBody>
          <a:bodyPr wrap="square" lIns="0" tIns="0" rIns="0" bIns="0" rtlCol="0" anchor="t">
            <a:normAutofit/>
          </a:bodyPr>
          <a:lstStyle/>
          <a:p>
            <a:pPr algn="l" indent="0" marL="0">
              <a:buNone/>
            </a:pPr>
            <a:r>
              <a:rPr lang="en-US" sz="850" b="1" spc="60" kern="0" dirty="0">
                <a:solidFill>
                  <a:srgbClr val="7CC7A5"/>
                </a:solidFill>
                <a:latin typeface="Courier New" pitchFamily="34" charset="0"/>
                <a:ea typeface="Courier New" pitchFamily="34" charset="-122"/>
                <a:cs typeface="Courier New" pitchFamily="34" charset="-120"/>
              </a:rPr>
              <a:t>CONVERSATION + KNOWLEDGE</a:t>
            </a:r>
            <a:endParaRPr lang="en-US" sz="850" dirty="0"/>
          </a:p>
        </p:txBody>
      </p:sp>
      <p:sp>
        <p:nvSpPr>
          <p:cNvPr id="13" name="Text 11"/>
          <p:cNvSpPr txBox="1"/>
          <p:nvPr/>
        </p:nvSpPr>
        <p:spPr>
          <a:xfrm>
            <a:off x="4608576" y="2240280"/>
            <a:ext cx="2962656" cy="1225296"/>
          </a:xfrm>
          <a:prstGeom prst="rect">
            <a:avLst/>
          </a:prstGeom>
          <a:noFill/>
          <a:ln/>
        </p:spPr>
        <p:txBody>
          <a:bodyPr wrap="square" lIns="0" tIns="0" rIns="0" bIns="0" rtlCol="0" anchor="t">
            <a:normAutofit/>
          </a:bodyPr>
          <a:lstStyle/>
          <a:p>
            <a:pPr algn="l" indent="0" marL="0">
              <a:buNone/>
            </a:pPr>
            <a:r>
              <a:rPr lang="en-US" sz="950" dirty="0">
                <a:solidFill>
                  <a:srgbClr val="E8E6E0"/>
                </a:solidFill>
                <a:latin typeface="Arial" pitchFamily="34" charset="0"/>
                <a:ea typeface="Arial" pitchFamily="34" charset="-122"/>
                <a:cs typeface="Arial" pitchFamily="34" charset="-120"/>
              </a:rPr>
              <a:t>Natural dialogue • intent • objections • financing • need/urgency • ZIP validation</a:t>
            </a:r>
            <a:endParaRPr lang="en-US" sz="950" dirty="0"/>
          </a:p>
          <a:p>
            <a:pPr algn="l" indent="0" marL="0">
              <a:buNone/>
            </a:pPr>
            <a:endParaRPr lang="en-US" sz="950" dirty="0"/>
          </a:p>
          <a:p>
            <a:pPr algn="l" indent="0" marL="0">
              <a:buNone/>
            </a:pPr>
            <a:r>
              <a:rPr lang="en-US" sz="950" dirty="0">
                <a:solidFill>
                  <a:srgbClr val="E8E6E0"/>
                </a:solidFill>
                <a:latin typeface="Arial" pitchFamily="34" charset="0"/>
                <a:ea typeface="Arial" pitchFamily="34" charset="-122"/>
                <a:cs typeface="Arial" pitchFamily="34" charset="-120"/>
              </a:rPr>
              <a:t>Products • services • FAQ • pricing • warranty • installation • scripts • SOP • internal docs • PDFs • website content</a:t>
            </a:r>
            <a:endParaRPr lang="en-US" sz="950" dirty="0"/>
          </a:p>
        </p:txBody>
      </p:sp>
      <p:sp>
        <p:nvSpPr>
          <p:cNvPr id="14" name="Shape 12"/>
          <p:cNvSpPr/>
          <p:nvPr/>
        </p:nvSpPr>
        <p:spPr>
          <a:xfrm>
            <a:off x="8101584" y="1709928"/>
            <a:ext cx="3172968" cy="1938528"/>
          </a:xfrm>
          <a:prstGeom prst="roundRect">
            <a:avLst/>
          </a:prstGeom>
          <a:solidFill>
            <a:srgbClr val="3D3320"/>
          </a:solidFill>
          <a:ln w="11430">
            <a:solidFill>
              <a:srgbClr val="E8A33D"/>
            </a:solidFill>
            <a:prstDash val="solid"/>
          </a:ln>
        </p:spPr>
      </p:sp>
      <p:sp>
        <p:nvSpPr>
          <p:cNvPr id="15" name="Text 13"/>
          <p:cNvSpPr txBox="1"/>
          <p:nvPr/>
        </p:nvSpPr>
        <p:spPr>
          <a:xfrm>
            <a:off x="8302752" y="1892808"/>
            <a:ext cx="2770632" cy="201168"/>
          </a:xfrm>
          <a:prstGeom prst="rect">
            <a:avLst/>
          </a:prstGeom>
          <a:noFill/>
          <a:ln/>
        </p:spPr>
        <p:txBody>
          <a:bodyPr wrap="square" lIns="0" tIns="0" rIns="0" bIns="0" rtlCol="0" anchor="t">
            <a:normAutofit/>
          </a:bodyPr>
          <a:lstStyle/>
          <a:p>
            <a:pPr algn="l" indent="0" marL="0">
              <a:buNone/>
            </a:pPr>
            <a:r>
              <a:rPr lang="en-US" sz="850" b="1" spc="60" kern="0" dirty="0">
                <a:solidFill>
                  <a:srgbClr val="E8A33D"/>
                </a:solidFill>
                <a:latin typeface="Courier New" pitchFamily="34" charset="0"/>
                <a:ea typeface="Courier New" pitchFamily="34" charset="-122"/>
                <a:cs typeface="Courier New" pitchFamily="34" charset="-120"/>
              </a:rPr>
              <a:t>SCHEDULING + ROUTING</a:t>
            </a:r>
            <a:endParaRPr lang="en-US" sz="850" dirty="0"/>
          </a:p>
        </p:txBody>
      </p:sp>
      <p:sp>
        <p:nvSpPr>
          <p:cNvPr id="16" name="Text 14"/>
          <p:cNvSpPr txBox="1"/>
          <p:nvPr/>
        </p:nvSpPr>
        <p:spPr>
          <a:xfrm>
            <a:off x="8302752" y="2240280"/>
            <a:ext cx="2770632" cy="1225296"/>
          </a:xfrm>
          <a:prstGeom prst="rect">
            <a:avLst/>
          </a:prstGeom>
          <a:noFill/>
          <a:ln/>
        </p:spPr>
        <p:txBody>
          <a:bodyPr wrap="square" lIns="0" tIns="0" rIns="0" bIns="0" rtlCol="0" anchor="t">
            <a:normAutofit/>
          </a:bodyPr>
          <a:lstStyle/>
          <a:p>
            <a:pPr algn="l" indent="0" marL="0">
              <a:buNone/>
            </a:pPr>
            <a:r>
              <a:rPr lang="en-US" sz="950" dirty="0">
                <a:solidFill>
                  <a:srgbClr val="E8E6E0"/>
                </a:solidFill>
                <a:latin typeface="Arial" pitchFamily="34" charset="0"/>
                <a:ea typeface="Arial" pitchFamily="34" charset="-122"/>
                <a:cs typeface="Arial" pitchFamily="34" charset="-120"/>
              </a:rPr>
              <a:t>Google / Outlook / M365 / Exchange</a:t>
            </a:r>
            <a:endParaRPr lang="en-US" sz="950" dirty="0"/>
          </a:p>
          <a:p>
            <a:pPr algn="l" indent="0" marL="0">
              <a:buNone/>
            </a:pPr>
            <a:endParaRPr lang="en-US" sz="950" dirty="0"/>
          </a:p>
          <a:p>
            <a:pPr algn="l" indent="0" marL="0">
              <a:buNone/>
            </a:pPr>
            <a:r>
              <a:rPr lang="en-US" sz="950" dirty="0">
                <a:solidFill>
                  <a:srgbClr val="E8E6E0"/>
                </a:solidFill>
                <a:latin typeface="Arial" pitchFamily="34" charset="0"/>
                <a:ea typeface="Arial" pitchFamily="34" charset="-122"/>
                <a:cs typeface="Arial" pitchFamily="34" charset="-120"/>
              </a:rPr>
              <a:t>Availability • duration • territory • ZIP • distance/travel • GPS • rep/tech • specialization • skills • workload • priority • emergency • approved performance factors</a:t>
            </a:r>
            <a:endParaRPr lang="en-US" sz="950" dirty="0"/>
          </a:p>
        </p:txBody>
      </p:sp>
      <p:sp>
        <p:nvSpPr>
          <p:cNvPr id="17" name="Shape 15"/>
          <p:cNvSpPr/>
          <p:nvPr/>
        </p:nvSpPr>
        <p:spPr>
          <a:xfrm>
            <a:off x="713232" y="3913632"/>
            <a:ext cx="3364992" cy="1938528"/>
          </a:xfrm>
          <a:prstGeom prst="roundRect">
            <a:avLst/>
          </a:prstGeom>
          <a:solidFill>
            <a:srgbClr val="20303D"/>
          </a:solidFill>
          <a:ln w="11430">
            <a:solidFill>
              <a:srgbClr val="6FB3E8"/>
            </a:solidFill>
            <a:prstDash val="solid"/>
          </a:ln>
        </p:spPr>
      </p:sp>
      <p:sp>
        <p:nvSpPr>
          <p:cNvPr id="18" name="Text 16"/>
          <p:cNvSpPr txBox="1"/>
          <p:nvPr/>
        </p:nvSpPr>
        <p:spPr>
          <a:xfrm>
            <a:off x="914400" y="4096512"/>
            <a:ext cx="2962656" cy="201168"/>
          </a:xfrm>
          <a:prstGeom prst="rect">
            <a:avLst/>
          </a:prstGeom>
          <a:noFill/>
          <a:ln/>
        </p:spPr>
        <p:txBody>
          <a:bodyPr wrap="square" lIns="0" tIns="0" rIns="0" bIns="0" rtlCol="0" anchor="t">
            <a:normAutofit/>
          </a:bodyPr>
          <a:lstStyle/>
          <a:p>
            <a:pPr algn="l" indent="0" marL="0">
              <a:buNone/>
            </a:pPr>
            <a:r>
              <a:rPr lang="en-US" sz="850" b="1" spc="60" kern="0" dirty="0">
                <a:solidFill>
                  <a:srgbClr val="6FB3E8"/>
                </a:solidFill>
                <a:latin typeface="Courier New" pitchFamily="34" charset="0"/>
                <a:ea typeface="Courier New" pitchFamily="34" charset="-122"/>
                <a:cs typeface="Courier New" pitchFamily="34" charset="-120"/>
              </a:rPr>
              <a:t>CRM + INTEGRATIONS</a:t>
            </a:r>
            <a:endParaRPr lang="en-US" sz="850" dirty="0"/>
          </a:p>
        </p:txBody>
      </p:sp>
      <p:sp>
        <p:nvSpPr>
          <p:cNvPr id="19" name="Text 17"/>
          <p:cNvSpPr txBox="1"/>
          <p:nvPr/>
        </p:nvSpPr>
        <p:spPr>
          <a:xfrm>
            <a:off x="914400" y="4443984"/>
            <a:ext cx="2962656" cy="1225296"/>
          </a:xfrm>
          <a:prstGeom prst="rect">
            <a:avLst/>
          </a:prstGeom>
          <a:noFill/>
          <a:ln/>
        </p:spPr>
        <p:txBody>
          <a:bodyPr wrap="square" lIns="0" tIns="0" rIns="0" bIns="0" rtlCol="0" anchor="t">
            <a:normAutofit/>
          </a:bodyPr>
          <a:lstStyle/>
          <a:p>
            <a:pPr algn="l" indent="0" marL="0">
              <a:buNone/>
            </a:pPr>
            <a:r>
              <a:rPr lang="en-US" sz="950" dirty="0">
                <a:solidFill>
                  <a:srgbClr val="E8E6E0"/>
                </a:solidFill>
                <a:latin typeface="Arial" pitchFamily="34" charset="0"/>
                <a:ea typeface="Arial" pitchFamily="34" charset="-122"/>
                <a:cs typeface="Arial" pitchFamily="34" charset="-120"/>
              </a:rPr>
              <a:t>Dynamics • Salesforce • HubSpot • LeadPerfection • ServiceTitan • AccuLynx • JobNimbus • custom APIs</a:t>
            </a:r>
            <a:endParaRPr lang="en-US" sz="950" dirty="0"/>
          </a:p>
          <a:p>
            <a:pPr algn="l" indent="0" marL="0">
              <a:buNone/>
            </a:pPr>
            <a:endParaRPr lang="en-US" sz="950" dirty="0"/>
          </a:p>
          <a:p>
            <a:pPr algn="l" indent="0" marL="0">
              <a:buNone/>
            </a:pPr>
            <a:r>
              <a:rPr lang="en-US" sz="950" dirty="0">
                <a:solidFill>
                  <a:srgbClr val="E8E6E0"/>
                </a:solidFill>
                <a:latin typeface="Arial" pitchFamily="34" charset="0"/>
                <a:ea typeface="Arial" pitchFamily="34" charset="-122"/>
                <a:cs typeface="Arial" pitchFamily="34" charset="-120"/>
              </a:rPr>
              <a:t>Create/update lead • notes • status • tasks • appointment • recording/transcript refs • workflow triggers</a:t>
            </a:r>
            <a:endParaRPr lang="en-US" sz="950" dirty="0"/>
          </a:p>
        </p:txBody>
      </p:sp>
      <p:sp>
        <p:nvSpPr>
          <p:cNvPr id="20" name="Shape 18"/>
          <p:cNvSpPr/>
          <p:nvPr/>
        </p:nvSpPr>
        <p:spPr>
          <a:xfrm>
            <a:off x="4407408" y="3913632"/>
            <a:ext cx="3364992" cy="1938528"/>
          </a:xfrm>
          <a:prstGeom prst="roundRect">
            <a:avLst/>
          </a:prstGeom>
          <a:solidFill>
            <a:srgbClr val="20382F"/>
          </a:solidFill>
          <a:ln w="11430">
            <a:solidFill>
              <a:srgbClr val="7CC7A5"/>
            </a:solidFill>
            <a:prstDash val="solid"/>
          </a:ln>
        </p:spPr>
      </p:sp>
      <p:sp>
        <p:nvSpPr>
          <p:cNvPr id="21" name="Text 19"/>
          <p:cNvSpPr txBox="1"/>
          <p:nvPr/>
        </p:nvSpPr>
        <p:spPr>
          <a:xfrm>
            <a:off x="4608576" y="4096512"/>
            <a:ext cx="2962656" cy="201168"/>
          </a:xfrm>
          <a:prstGeom prst="rect">
            <a:avLst/>
          </a:prstGeom>
          <a:noFill/>
          <a:ln/>
        </p:spPr>
        <p:txBody>
          <a:bodyPr wrap="square" lIns="0" tIns="0" rIns="0" bIns="0" rtlCol="0" anchor="t">
            <a:normAutofit/>
          </a:bodyPr>
          <a:lstStyle/>
          <a:p>
            <a:pPr algn="l" indent="0" marL="0">
              <a:buNone/>
            </a:pPr>
            <a:r>
              <a:rPr lang="en-US" sz="850" b="1" spc="60" kern="0" dirty="0">
                <a:solidFill>
                  <a:srgbClr val="7CC7A5"/>
                </a:solidFill>
                <a:latin typeface="Courier New" pitchFamily="34" charset="0"/>
                <a:ea typeface="Courier New" pitchFamily="34" charset="-122"/>
                <a:cs typeface="Courier New" pitchFamily="34" charset="-120"/>
              </a:rPr>
              <a:t>HANDOFF + AUTOMATION</a:t>
            </a:r>
            <a:endParaRPr lang="en-US" sz="850" dirty="0"/>
          </a:p>
        </p:txBody>
      </p:sp>
      <p:sp>
        <p:nvSpPr>
          <p:cNvPr id="22" name="Text 20"/>
          <p:cNvSpPr txBox="1"/>
          <p:nvPr/>
        </p:nvSpPr>
        <p:spPr>
          <a:xfrm>
            <a:off x="4608576" y="4443984"/>
            <a:ext cx="2962656" cy="1225296"/>
          </a:xfrm>
          <a:prstGeom prst="rect">
            <a:avLst/>
          </a:prstGeom>
          <a:noFill/>
          <a:ln/>
        </p:spPr>
        <p:txBody>
          <a:bodyPr wrap="square" lIns="0" tIns="0" rIns="0" bIns="0" rtlCol="0" anchor="t">
            <a:normAutofit/>
          </a:bodyPr>
          <a:lstStyle/>
          <a:p>
            <a:pPr algn="l" indent="0" marL="0">
              <a:buNone/>
            </a:pPr>
            <a:r>
              <a:rPr lang="en-US" sz="950" dirty="0">
                <a:solidFill>
                  <a:srgbClr val="E8E6E0"/>
                </a:solidFill>
                <a:latin typeface="Arial" pitchFamily="34" charset="0"/>
                <a:ea typeface="Arial" pitchFamily="34" charset="-122"/>
                <a:cs typeface="Arial" pitchFamily="34" charset="-120"/>
              </a:rPr>
              <a:t>Transcript • summary • customer • qualification • prior interactions • appointment • next action</a:t>
            </a:r>
            <a:endParaRPr lang="en-US" sz="950" dirty="0"/>
          </a:p>
          <a:p>
            <a:pPr algn="l" indent="0" marL="0">
              <a:buNone/>
            </a:pPr>
            <a:endParaRPr lang="en-US" sz="950" dirty="0"/>
          </a:p>
          <a:p>
            <a:pPr algn="l" indent="0" marL="0">
              <a:buNone/>
            </a:pPr>
            <a:r>
              <a:rPr lang="en-US" sz="950" dirty="0">
                <a:solidFill>
                  <a:srgbClr val="E8E6E0"/>
                </a:solidFill>
                <a:latin typeface="Arial" pitchFamily="34" charset="0"/>
                <a:ea typeface="Arial" pitchFamily="34" charset="-122"/>
                <a:cs typeface="Arial" pitchFamily="34" charset="-120"/>
              </a:rPr>
              <a:t>Routing • reminders • campaigns • reviews • no-show • re-engagement • internal notifications • manager alerts</a:t>
            </a:r>
            <a:endParaRPr lang="en-US" sz="950" dirty="0"/>
          </a:p>
        </p:txBody>
      </p:sp>
      <p:sp>
        <p:nvSpPr>
          <p:cNvPr id="23" name="Shape 21"/>
          <p:cNvSpPr/>
          <p:nvPr/>
        </p:nvSpPr>
        <p:spPr>
          <a:xfrm>
            <a:off x="8101584" y="3913632"/>
            <a:ext cx="3172968" cy="1938528"/>
          </a:xfrm>
          <a:prstGeom prst="roundRect">
            <a:avLst/>
          </a:prstGeom>
          <a:solidFill>
            <a:srgbClr val="3D3320"/>
          </a:solidFill>
          <a:ln w="11430">
            <a:solidFill>
              <a:srgbClr val="E8A33D"/>
            </a:solidFill>
            <a:prstDash val="solid"/>
          </a:ln>
        </p:spPr>
      </p:sp>
      <p:sp>
        <p:nvSpPr>
          <p:cNvPr id="24" name="Text 22"/>
          <p:cNvSpPr txBox="1"/>
          <p:nvPr/>
        </p:nvSpPr>
        <p:spPr>
          <a:xfrm>
            <a:off x="8302752" y="4096512"/>
            <a:ext cx="2770632" cy="201168"/>
          </a:xfrm>
          <a:prstGeom prst="rect">
            <a:avLst/>
          </a:prstGeom>
          <a:noFill/>
          <a:ln/>
        </p:spPr>
        <p:txBody>
          <a:bodyPr wrap="square" lIns="0" tIns="0" rIns="0" bIns="0" rtlCol="0" anchor="t">
            <a:normAutofit/>
          </a:bodyPr>
          <a:lstStyle/>
          <a:p>
            <a:pPr algn="l" indent="0" marL="0">
              <a:buNone/>
            </a:pPr>
            <a:r>
              <a:rPr lang="en-US" sz="850" b="1" spc="60" kern="0" dirty="0">
                <a:solidFill>
                  <a:srgbClr val="E8A33D"/>
                </a:solidFill>
                <a:latin typeface="Courier New" pitchFamily="34" charset="0"/>
                <a:ea typeface="Courier New" pitchFamily="34" charset="-122"/>
                <a:cs typeface="Courier New" pitchFamily="34" charset="-120"/>
              </a:rPr>
              <a:t>PLATFORM + SCALE</a:t>
            </a:r>
            <a:endParaRPr lang="en-US" sz="850" dirty="0"/>
          </a:p>
        </p:txBody>
      </p:sp>
      <p:sp>
        <p:nvSpPr>
          <p:cNvPr id="25" name="Text 23"/>
          <p:cNvSpPr txBox="1"/>
          <p:nvPr/>
        </p:nvSpPr>
        <p:spPr>
          <a:xfrm>
            <a:off x="8302752" y="4443984"/>
            <a:ext cx="2770632" cy="1225296"/>
          </a:xfrm>
          <a:prstGeom prst="rect">
            <a:avLst/>
          </a:prstGeom>
          <a:noFill/>
          <a:ln/>
        </p:spPr>
        <p:txBody>
          <a:bodyPr wrap="square" lIns="0" tIns="0" rIns="0" bIns="0" rtlCol="0" anchor="t">
            <a:normAutofit/>
          </a:bodyPr>
          <a:lstStyle/>
          <a:p>
            <a:pPr algn="l" indent="0" marL="0">
              <a:buNone/>
            </a:pPr>
            <a:r>
              <a:rPr lang="en-US" sz="950" dirty="0">
                <a:solidFill>
                  <a:srgbClr val="E8E6E0"/>
                </a:solidFill>
                <a:latin typeface="Arial" pitchFamily="34" charset="0"/>
                <a:ea typeface="Arial" pitchFamily="34" charset="-122"/>
                <a:cs typeface="Arial" pitchFamily="34" charset="-120"/>
              </a:rPr>
              <a:t>Secure APIs/webhooks • auth • logging • admin/RBAC • reporting • templates • workflow builder</a:t>
            </a:r>
            <a:endParaRPr lang="en-US" sz="950" dirty="0"/>
          </a:p>
          <a:p>
            <a:pPr algn="l" indent="0" marL="0">
              <a:buNone/>
            </a:pPr>
            <a:endParaRPr lang="en-US" sz="950" dirty="0"/>
          </a:p>
          <a:p>
            <a:pPr algn="l" indent="0" marL="0">
              <a:buNone/>
            </a:pPr>
            <a:r>
              <a:rPr lang="en-US" sz="950" dirty="0">
                <a:solidFill>
                  <a:srgbClr val="E8E6E0"/>
                </a:solidFill>
                <a:latin typeface="Arial" pitchFamily="34" charset="0"/>
                <a:ea typeface="Arial" pitchFamily="34" charset="-122"/>
                <a:cs typeface="Arial" pitchFamily="34" charset="-120"/>
              </a:rPr>
              <a:t>Companies • brands • locations • business units • thousands concurrent • additional agents/channels</a:t>
            </a:r>
            <a:endParaRPr lang="en-US" sz="950" dirty="0"/>
          </a:p>
        </p:txBody>
      </p:sp>
      <p:sp>
        <p:nvSpPr>
          <p:cNvPr id="26" name="Text 24"/>
          <p:cNvSpPr txBox="1"/>
          <p:nvPr/>
        </p:nvSpPr>
        <p:spPr>
          <a:xfrm>
            <a:off x="960120" y="6108192"/>
            <a:ext cx="10241280" cy="182880"/>
          </a:xfrm>
          <a:prstGeom prst="rect">
            <a:avLst/>
          </a:prstGeom>
          <a:noFill/>
          <a:ln/>
        </p:spPr>
        <p:txBody>
          <a:bodyPr wrap="square" lIns="0" tIns="0" rIns="0" bIns="0" rtlCol="0" anchor="t">
            <a:normAutofit/>
          </a:bodyPr>
          <a:lstStyle/>
          <a:p>
            <a:pPr algn="ctr" indent="0" marL="0">
              <a:buNone/>
            </a:pPr>
            <a:r>
              <a:rPr lang="en-US" sz="900" i="1" dirty="0">
                <a:solidFill>
                  <a:srgbClr val="9A97A3"/>
                </a:solidFill>
                <a:latin typeface="Arial" pitchFamily="34" charset="0"/>
                <a:ea typeface="Arial" pitchFamily="34" charset="-122"/>
                <a:cs typeface="Arial" pitchFamily="34" charset="-120"/>
              </a:rPr>
              <a:t>Google Business Messages, included in the source proposal, is discontinued; choose a supported replacement during discovery.</a:t>
            </a:r>
            <a:endParaRPr lang="en-US" sz="900" dirty="0"/>
          </a:p>
        </p:txBody>
      </p:sp>
      <p:sp>
        <p:nvSpPr>
          <p:cNvPr id="25" name="Slide Number Placeholder 0"/>
          <p:cNvSpPr>
            <a:spLocks noGrp="1"/>
          </p:cNvSpPr>
          <p:nvPr>
            <p:ph type="sldNum" sz="quarter" idx="4294967295"/>
          </p:nvPr>
        </p:nvSpPr>
        <p:spPr>
          <a:xfrm>
            <a:off x="11109960" y="6483096"/>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9A97A3"/>
                </a:solidFill>
                <a:latin typeface="Courier New"/>
                <a:ea typeface="Courier New"/>
                <a:cs typeface="Courier New"/>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6161D"/>
        </a:solidFill>
      </p:bgPr>
    </p:bg>
    <p:spTree>
      <p:nvGrpSpPr>
        <p:cNvPr id="1" name=""/>
        <p:cNvGrpSpPr/>
        <p:nvPr/>
      </p:nvGrpSpPr>
      <p:grpSpPr>
        <a:xfrm>
          <a:off x="0" y="0"/>
          <a:ext cx="0" cy="0"/>
          <a:chOff x="0" y="0"/>
          <a:chExt cx="0" cy="0"/>
        </a:xfrm>
      </p:grpSpPr>
      <p:sp>
        <p:nvSpPr>
          <p:cNvPr id="2" name="Text 0"/>
          <p:cNvSpPr txBox="1"/>
          <p:nvPr/>
        </p:nvSpPr>
        <p:spPr>
          <a:xfrm>
            <a:off x="713232" y="384048"/>
            <a:ext cx="5120640" cy="219456"/>
          </a:xfrm>
          <a:prstGeom prst="rect">
            <a:avLst/>
          </a:prstGeom>
          <a:noFill/>
          <a:ln/>
        </p:spPr>
        <p:txBody>
          <a:bodyPr wrap="square" lIns="0" tIns="0" rIns="0" bIns="0" rtlCol="0" anchor="t">
            <a:normAutofit/>
          </a:bodyPr>
          <a:lstStyle/>
          <a:p>
            <a:pPr algn="l" indent="0" marL="0">
              <a:buNone/>
            </a:pPr>
            <a:r>
              <a:rPr lang="en-US" sz="900" b="1" spc="210" kern="0" dirty="0">
                <a:solidFill>
                  <a:srgbClr val="9A97A3"/>
                </a:solidFill>
                <a:latin typeface="Courier New" pitchFamily="34" charset="0"/>
                <a:ea typeface="Courier New" pitchFamily="34" charset="-122"/>
                <a:cs typeface="Courier New" pitchFamily="34" charset="-120"/>
              </a:rPr>
              <a:t>APPENDIX C</a:t>
            </a:r>
            <a:endParaRPr lang="en-US" sz="900" dirty="0"/>
          </a:p>
        </p:txBody>
      </p:sp>
      <p:sp>
        <p:nvSpPr>
          <p:cNvPr id="3" name="Text 1"/>
          <p:cNvSpPr txBox="1"/>
          <p:nvPr/>
        </p:nvSpPr>
        <p:spPr>
          <a:xfrm>
            <a:off x="10424160" y="347472"/>
            <a:ext cx="1051560" cy="228600"/>
          </a:xfrm>
          <a:prstGeom prst="rect">
            <a:avLst/>
          </a:prstGeom>
          <a:noFill/>
          <a:ln/>
        </p:spPr>
        <p:txBody>
          <a:bodyPr wrap="square" lIns="0" tIns="0" rIns="0" bIns="0" rtlCol="0" anchor="t">
            <a:normAutofit/>
          </a:bodyPr>
          <a:lstStyle/>
          <a:p>
            <a:pPr algn="r" indent="0" marL="0">
              <a:buNone/>
            </a:pPr>
            <a:r>
              <a:rPr lang="en-US" sz="1000" b="1" spc="240" kern="0" dirty="0">
                <a:solidFill>
                  <a:srgbClr val="E8E6E0"/>
                </a:solidFill>
                <a:latin typeface="Courier New" pitchFamily="34" charset="0"/>
                <a:ea typeface="Courier New" pitchFamily="34" charset="-122"/>
                <a:cs typeface="Courier New" pitchFamily="34" charset="-120"/>
              </a:rPr>
              <a:t>CYBIC</a:t>
            </a:r>
            <a:endParaRPr lang="en-US" sz="1000" dirty="0"/>
          </a:p>
        </p:txBody>
      </p:sp>
      <p:sp>
        <p:nvSpPr>
          <p:cNvPr id="4" name="Text 2"/>
          <p:cNvSpPr txBox="1"/>
          <p:nvPr/>
        </p:nvSpPr>
        <p:spPr>
          <a:xfrm>
            <a:off x="685800" y="713232"/>
            <a:ext cx="10744200" cy="566928"/>
          </a:xfrm>
          <a:prstGeom prst="rect">
            <a:avLst/>
          </a:prstGeom>
          <a:noFill/>
          <a:ln/>
        </p:spPr>
        <p:txBody>
          <a:bodyPr wrap="square" lIns="0" tIns="0" rIns="0" bIns="0" rtlCol="0" anchor="t">
            <a:normAutofit/>
          </a:bodyPr>
          <a:lstStyle/>
          <a:p>
            <a:pPr algn="l" indent="0" marL="0">
              <a:buNone/>
            </a:pPr>
            <a:r>
              <a:rPr lang="en-US" sz="2800" b="1" dirty="0">
                <a:solidFill>
                  <a:srgbClr val="E8E6E0"/>
                </a:solidFill>
                <a:latin typeface="Arial" pitchFamily="34" charset="0"/>
                <a:ea typeface="Arial" pitchFamily="34" charset="-122"/>
                <a:cs typeface="Arial" pitchFamily="34" charset="-120"/>
              </a:rPr>
              <a:t>Sources, terminology, and accuracy boundaries</a:t>
            </a:r>
            <a:endParaRPr lang="en-US" sz="2800" dirty="0"/>
          </a:p>
        </p:txBody>
      </p:sp>
      <p:sp>
        <p:nvSpPr>
          <p:cNvPr id="5" name="Text 3"/>
          <p:cNvSpPr txBox="1"/>
          <p:nvPr/>
        </p:nvSpPr>
        <p:spPr>
          <a:xfrm>
            <a:off x="713232" y="1298448"/>
            <a:ext cx="10607040" cy="411480"/>
          </a:xfrm>
          <a:prstGeom prst="rect">
            <a:avLst/>
          </a:prstGeom>
          <a:noFill/>
          <a:ln/>
        </p:spPr>
        <p:txBody>
          <a:bodyPr wrap="square" lIns="0" tIns="0" rIns="0" bIns="0" rtlCol="0" anchor="t">
            <a:normAutofit/>
          </a:bodyPr>
          <a:lstStyle/>
          <a:p>
            <a:pPr algn="l" indent="0" marL="0">
              <a:buNone/>
            </a:pPr>
            <a:r>
              <a:rPr lang="en-US" sz="1350" dirty="0">
                <a:solidFill>
                  <a:srgbClr val="9A97A3"/>
                </a:solidFill>
                <a:latin typeface="Arial" pitchFamily="34" charset="0"/>
                <a:ea typeface="Arial" pitchFamily="34" charset="-122"/>
                <a:cs typeface="Arial" pitchFamily="34" charset="-120"/>
              </a:rPr>
              <a:t>Use these references to keep the external presentation evidence-based.</a:t>
            </a:r>
            <a:endParaRPr lang="en-US" sz="1350" dirty="0"/>
          </a:p>
        </p:txBody>
      </p:sp>
      <p:sp>
        <p:nvSpPr>
          <p:cNvPr id="6" name="Shape 4"/>
          <p:cNvSpPr/>
          <p:nvPr/>
        </p:nvSpPr>
        <p:spPr>
          <a:xfrm>
            <a:off x="658368" y="6428232"/>
            <a:ext cx="10863072" cy="0"/>
          </a:xfrm>
          <a:prstGeom prst="line">
            <a:avLst/>
          </a:prstGeom>
          <a:noFill/>
          <a:ln w="8890">
            <a:solidFill>
              <a:srgbClr val="34323E"/>
            </a:solidFill>
            <a:prstDash val="solid"/>
          </a:ln>
        </p:spPr>
      </p:sp>
      <p:sp>
        <p:nvSpPr>
          <p:cNvPr id="7" name="Text 5"/>
          <p:cNvSpPr txBox="1"/>
          <p:nvPr/>
        </p:nvSpPr>
        <p:spPr>
          <a:xfrm>
            <a:off x="685800" y="6473952"/>
            <a:ext cx="2926080" cy="146304"/>
          </a:xfrm>
          <a:prstGeom prst="rect">
            <a:avLst/>
          </a:prstGeom>
          <a:noFill/>
          <a:ln/>
        </p:spPr>
        <p:txBody>
          <a:bodyPr wrap="square" lIns="0" tIns="0" rIns="0" bIns="0" rtlCol="0" anchor="t">
            <a:normAutofit/>
          </a:bodyPr>
          <a:lstStyle/>
          <a:p>
            <a:pPr algn="l" indent="0" marL="0">
              <a:buNone/>
            </a:pPr>
            <a:r>
              <a:rPr lang="en-US" sz="750" spc="120" kern="0" dirty="0">
                <a:solidFill>
                  <a:srgbClr val="9A97A3"/>
                </a:solidFill>
                <a:latin typeface="Courier New" pitchFamily="34" charset="0"/>
                <a:ea typeface="Courier New" pitchFamily="34" charset="-122"/>
                <a:cs typeface="Courier New" pitchFamily="34" charset="-120"/>
              </a:rPr>
              <a:t>CYBIC  •  CONFIDENTIAL</a:t>
            </a:r>
            <a:endParaRPr lang="en-US" sz="750" dirty="0"/>
          </a:p>
        </p:txBody>
      </p:sp>
      <p:sp>
        <p:nvSpPr>
          <p:cNvPr id="8" name="Text 6"/>
          <p:cNvSpPr txBox="1"/>
          <p:nvPr/>
        </p:nvSpPr>
        <p:spPr>
          <a:xfrm>
            <a:off x="749808" y="1810512"/>
            <a:ext cx="1691640" cy="164592"/>
          </a:xfrm>
          <a:prstGeom prst="rect">
            <a:avLst/>
          </a:prstGeom>
          <a:noFill/>
          <a:ln/>
        </p:spPr>
        <p:txBody>
          <a:bodyPr wrap="square" lIns="0" tIns="0" rIns="0" bIns="0" rtlCol="0" anchor="t">
            <a:normAutofit/>
          </a:bodyPr>
          <a:lstStyle/>
          <a:p>
            <a:pPr algn="l" indent="0" marL="0">
              <a:buNone/>
            </a:pPr>
            <a:r>
              <a:rPr lang="en-US" sz="800" b="1" spc="70" kern="0" dirty="0">
                <a:solidFill>
                  <a:srgbClr val="E8A33D"/>
                </a:solidFill>
                <a:latin typeface="Courier New" pitchFamily="34" charset="0"/>
                <a:ea typeface="Courier New" pitchFamily="34" charset="-122"/>
                <a:cs typeface="Courier New" pitchFamily="34" charset="-120"/>
              </a:rPr>
              <a:t>PRIMARY ALIGNMENT</a:t>
            </a:r>
            <a:endParaRPr lang="en-US" sz="800" dirty="0"/>
          </a:p>
        </p:txBody>
      </p:sp>
      <p:sp>
        <p:nvSpPr>
          <p:cNvPr id="9" name="Text 7"/>
          <p:cNvSpPr txBox="1"/>
          <p:nvPr/>
        </p:nvSpPr>
        <p:spPr>
          <a:xfrm>
            <a:off x="2578608" y="1755648"/>
            <a:ext cx="3977640" cy="246888"/>
          </a:xfrm>
          <a:prstGeom prst="rect">
            <a:avLst/>
          </a:prstGeom>
          <a:noFill/>
          <a:ln/>
        </p:spPr>
        <p:txBody>
          <a:bodyPr wrap="square" lIns="0" tIns="0" rIns="0" bIns="0" rtlCol="0" anchor="ctr">
            <a:normAutofit/>
          </a:bodyPr>
          <a:lstStyle/>
          <a:p>
            <a:pPr algn="l" indent="0" marL="0">
              <a:buNone/>
            </a:pPr>
            <a:r>
              <a:rPr lang="en-US" sz="780" b="1" dirty="0">
                <a:solidFill>
                  <a:srgbClr val="E8E6E0"/>
                </a:solidFill>
                <a:latin typeface="Courier New" pitchFamily="34" charset="0"/>
                <a:ea typeface="Courier New" pitchFamily="34" charset="-122"/>
                <a:cs typeface="Courier New" pitchFamily="34" charset="-120"/>
              </a:rPr>
              <a:t>docs/demo/CUSTOMER-ENGAGEMENT-SOLUTION.md</a:t>
            </a:r>
            <a:endParaRPr lang="en-US" sz="780" dirty="0"/>
          </a:p>
        </p:txBody>
      </p:sp>
      <p:sp>
        <p:nvSpPr>
          <p:cNvPr id="10" name="Text 8"/>
          <p:cNvSpPr txBox="1"/>
          <p:nvPr/>
        </p:nvSpPr>
        <p:spPr>
          <a:xfrm>
            <a:off x="6748272" y="1764792"/>
            <a:ext cx="4352544" cy="265176"/>
          </a:xfrm>
          <a:prstGeom prst="rect">
            <a:avLst/>
          </a:prstGeom>
          <a:noFill/>
          <a:ln/>
        </p:spPr>
        <p:txBody>
          <a:bodyPr wrap="square" lIns="0" tIns="0" rIns="0" bIns="0" rtlCol="0" anchor="t">
            <a:normAutofit/>
          </a:bodyPr>
          <a:lstStyle/>
          <a:p>
            <a:pPr algn="l" indent="0" marL="0">
              <a:buNone/>
            </a:pPr>
            <a:r>
              <a:rPr lang="en-US" sz="960" dirty="0">
                <a:solidFill>
                  <a:srgbClr val="9A97A3"/>
                </a:solidFill>
                <a:latin typeface="Arial" pitchFamily="34" charset="0"/>
                <a:ea typeface="Arial" pitchFamily="34" charset="-122"/>
                <a:cs typeface="Arial" pitchFamily="34" charset="-120"/>
              </a:rPr>
              <a:t>Current vs proposed scope, architecture, MVP, phases, controls, and open decisions</a:t>
            </a:r>
            <a:endParaRPr lang="en-US" sz="960" dirty="0"/>
          </a:p>
        </p:txBody>
      </p:sp>
      <p:sp>
        <p:nvSpPr>
          <p:cNvPr id="11" name="Shape 9"/>
          <p:cNvSpPr/>
          <p:nvPr/>
        </p:nvSpPr>
        <p:spPr>
          <a:xfrm>
            <a:off x="749808" y="2231136"/>
            <a:ext cx="10442448" cy="0"/>
          </a:xfrm>
          <a:prstGeom prst="line">
            <a:avLst/>
          </a:prstGeom>
          <a:noFill/>
          <a:ln w="6350">
            <a:solidFill>
              <a:srgbClr val="34323E"/>
            </a:solidFill>
            <a:prstDash val="solid"/>
          </a:ln>
        </p:spPr>
      </p:sp>
      <p:sp>
        <p:nvSpPr>
          <p:cNvPr id="12" name="Text 10"/>
          <p:cNvSpPr txBox="1"/>
          <p:nvPr/>
        </p:nvSpPr>
        <p:spPr>
          <a:xfrm>
            <a:off x="749808" y="2532888"/>
            <a:ext cx="1691640" cy="164592"/>
          </a:xfrm>
          <a:prstGeom prst="rect">
            <a:avLst/>
          </a:prstGeom>
          <a:noFill/>
          <a:ln/>
        </p:spPr>
        <p:txBody>
          <a:bodyPr wrap="square" lIns="0" tIns="0" rIns="0" bIns="0" rtlCol="0" anchor="t">
            <a:normAutofit/>
          </a:bodyPr>
          <a:lstStyle/>
          <a:p>
            <a:pPr algn="l" indent="0" marL="0">
              <a:buNone/>
            </a:pPr>
            <a:r>
              <a:rPr lang="en-US" sz="800" b="1" spc="70" kern="0" dirty="0">
                <a:solidFill>
                  <a:srgbClr val="E8A33D"/>
                </a:solidFill>
                <a:latin typeface="Courier New" pitchFamily="34" charset="0"/>
                <a:ea typeface="Courier New" pitchFamily="34" charset="-122"/>
                <a:cs typeface="Courier New" pitchFamily="34" charset="-120"/>
              </a:rPr>
              <a:t>SOURCE PROPOSAL</a:t>
            </a:r>
            <a:endParaRPr lang="en-US" sz="800" dirty="0"/>
          </a:p>
        </p:txBody>
      </p:sp>
      <p:sp>
        <p:nvSpPr>
          <p:cNvPr id="13" name="Text 11"/>
          <p:cNvSpPr txBox="1"/>
          <p:nvPr/>
        </p:nvSpPr>
        <p:spPr>
          <a:xfrm>
            <a:off x="2578608" y="2478024"/>
            <a:ext cx="3977640" cy="246888"/>
          </a:xfrm>
          <a:prstGeom prst="rect">
            <a:avLst/>
          </a:prstGeom>
          <a:noFill/>
          <a:ln/>
        </p:spPr>
        <p:txBody>
          <a:bodyPr wrap="square" lIns="0" tIns="0" rIns="0" bIns="0" rtlCol="0" anchor="ctr">
            <a:normAutofit/>
          </a:bodyPr>
          <a:lstStyle/>
          <a:p>
            <a:pPr algn="l" indent="0" marL="0">
              <a:buNone/>
            </a:pPr>
            <a:r>
              <a:rPr lang="en-US" sz="780" b="1" dirty="0">
                <a:solidFill>
                  <a:srgbClr val="E8E6E0"/>
                </a:solidFill>
                <a:latin typeface="Courier New" pitchFamily="34" charset="0"/>
                <a:ea typeface="Courier New" pitchFamily="34" charset="-122"/>
                <a:cs typeface="Courier New" pitchFamily="34" charset="-120"/>
              </a:rPr>
              <a:t>docs/demo/AGENTIC-AI-PLATFORM-PROPOSAL.md</a:t>
            </a:r>
            <a:endParaRPr lang="en-US" sz="780" dirty="0"/>
          </a:p>
        </p:txBody>
      </p:sp>
      <p:sp>
        <p:nvSpPr>
          <p:cNvPr id="14" name="Text 12"/>
          <p:cNvSpPr txBox="1"/>
          <p:nvPr/>
        </p:nvSpPr>
        <p:spPr>
          <a:xfrm>
            <a:off x="6748272" y="2487168"/>
            <a:ext cx="4352544" cy="265176"/>
          </a:xfrm>
          <a:prstGeom prst="rect">
            <a:avLst/>
          </a:prstGeom>
          <a:noFill/>
          <a:ln/>
        </p:spPr>
        <p:txBody>
          <a:bodyPr wrap="square" lIns="0" tIns="0" rIns="0" bIns="0" rtlCol="0" anchor="t">
            <a:normAutofit/>
          </a:bodyPr>
          <a:lstStyle/>
          <a:p>
            <a:pPr algn="l" indent="0" marL="0">
              <a:buNone/>
            </a:pPr>
            <a:r>
              <a:rPr lang="en-US" sz="960" dirty="0">
                <a:solidFill>
                  <a:srgbClr val="9A97A3"/>
                </a:solidFill>
                <a:latin typeface="Arial" pitchFamily="34" charset="0"/>
                <a:ea typeface="Arial" pitchFamily="34" charset="-122"/>
                <a:cs typeface="Arial" pitchFamily="34" charset="-120"/>
              </a:rPr>
              <a:t>Structured, content-complete normalization of the supplied proposal</a:t>
            </a:r>
            <a:endParaRPr lang="en-US" sz="960" dirty="0"/>
          </a:p>
        </p:txBody>
      </p:sp>
      <p:sp>
        <p:nvSpPr>
          <p:cNvPr id="15" name="Shape 13"/>
          <p:cNvSpPr/>
          <p:nvPr/>
        </p:nvSpPr>
        <p:spPr>
          <a:xfrm>
            <a:off x="749808" y="2953512"/>
            <a:ext cx="10442448" cy="0"/>
          </a:xfrm>
          <a:prstGeom prst="line">
            <a:avLst/>
          </a:prstGeom>
          <a:noFill/>
          <a:ln w="6350">
            <a:solidFill>
              <a:srgbClr val="34323E"/>
            </a:solidFill>
            <a:prstDash val="solid"/>
          </a:ln>
        </p:spPr>
      </p:sp>
      <p:sp>
        <p:nvSpPr>
          <p:cNvPr id="16" name="Text 14"/>
          <p:cNvSpPr txBox="1"/>
          <p:nvPr/>
        </p:nvSpPr>
        <p:spPr>
          <a:xfrm>
            <a:off x="749808" y="3255264"/>
            <a:ext cx="1691640" cy="164592"/>
          </a:xfrm>
          <a:prstGeom prst="rect">
            <a:avLst/>
          </a:prstGeom>
          <a:noFill/>
          <a:ln/>
        </p:spPr>
        <p:txBody>
          <a:bodyPr wrap="square" lIns="0" tIns="0" rIns="0" bIns="0" rtlCol="0" anchor="t">
            <a:normAutofit/>
          </a:bodyPr>
          <a:lstStyle/>
          <a:p>
            <a:pPr algn="l" indent="0" marL="0">
              <a:buNone/>
            </a:pPr>
            <a:r>
              <a:rPr lang="en-US" sz="800" b="1" spc="70" kern="0" dirty="0">
                <a:solidFill>
                  <a:srgbClr val="7CC7A5"/>
                </a:solidFill>
                <a:latin typeface="Courier New" pitchFamily="34" charset="0"/>
                <a:ea typeface="Courier New" pitchFamily="34" charset="-122"/>
                <a:cs typeface="Courier New" pitchFamily="34" charset="-120"/>
              </a:rPr>
              <a:t>CURRENT DEMO</a:t>
            </a:r>
            <a:endParaRPr lang="en-US" sz="800" dirty="0"/>
          </a:p>
        </p:txBody>
      </p:sp>
      <p:sp>
        <p:nvSpPr>
          <p:cNvPr id="17" name="Text 15"/>
          <p:cNvSpPr txBox="1"/>
          <p:nvPr/>
        </p:nvSpPr>
        <p:spPr>
          <a:xfrm>
            <a:off x="2578608" y="3200400"/>
            <a:ext cx="3977640" cy="246888"/>
          </a:xfrm>
          <a:prstGeom prst="rect">
            <a:avLst/>
          </a:prstGeom>
          <a:noFill/>
          <a:ln/>
        </p:spPr>
        <p:txBody>
          <a:bodyPr wrap="square" lIns="0" tIns="0" rIns="0" bIns="0" rtlCol="0" anchor="ctr">
            <a:normAutofit/>
          </a:bodyPr>
          <a:lstStyle/>
          <a:p>
            <a:pPr algn="l" indent="0" marL="0">
              <a:buNone/>
            </a:pPr>
            <a:r>
              <a:rPr lang="en-US" sz="780" b="1" dirty="0">
                <a:solidFill>
                  <a:srgbClr val="E8E6E0"/>
                </a:solidFill>
                <a:latin typeface="Courier New" pitchFamily="34" charset="0"/>
                <a:ea typeface="Courier New" pitchFamily="34" charset="-122"/>
                <a:cs typeface="Courier New" pitchFamily="34" charset="-120"/>
              </a:rPr>
              <a:t>docs/demo/CALLCENTER-DEMO.md</a:t>
            </a:r>
            <a:endParaRPr lang="en-US" sz="780" dirty="0"/>
          </a:p>
        </p:txBody>
      </p:sp>
      <p:sp>
        <p:nvSpPr>
          <p:cNvPr id="18" name="Text 16"/>
          <p:cNvSpPr txBox="1"/>
          <p:nvPr/>
        </p:nvSpPr>
        <p:spPr>
          <a:xfrm>
            <a:off x="6748272" y="3209544"/>
            <a:ext cx="4352544" cy="265176"/>
          </a:xfrm>
          <a:prstGeom prst="rect">
            <a:avLst/>
          </a:prstGeom>
          <a:noFill/>
          <a:ln/>
        </p:spPr>
        <p:txBody>
          <a:bodyPr wrap="square" lIns="0" tIns="0" rIns="0" bIns="0" rtlCol="0" anchor="t">
            <a:normAutofit/>
          </a:bodyPr>
          <a:lstStyle/>
          <a:p>
            <a:pPr algn="l" indent="0" marL="0">
              <a:buNone/>
            </a:pPr>
            <a:r>
              <a:rPr lang="en-US" sz="960" dirty="0">
                <a:solidFill>
                  <a:srgbClr val="9A97A3"/>
                </a:solidFill>
                <a:latin typeface="Arial" pitchFamily="34" charset="0"/>
                <a:ea typeface="Arial" pitchFamily="34" charset="-122"/>
                <a:cs typeface="Arial" pitchFamily="34" charset="-120"/>
              </a:rPr>
              <a:t>Existing product narrative, pipeline, prototype measurements, and demo sequence</a:t>
            </a:r>
            <a:endParaRPr lang="en-US" sz="960" dirty="0"/>
          </a:p>
        </p:txBody>
      </p:sp>
      <p:sp>
        <p:nvSpPr>
          <p:cNvPr id="19" name="Shape 17"/>
          <p:cNvSpPr/>
          <p:nvPr/>
        </p:nvSpPr>
        <p:spPr>
          <a:xfrm>
            <a:off x="749808" y="3675888"/>
            <a:ext cx="10442448" cy="0"/>
          </a:xfrm>
          <a:prstGeom prst="line">
            <a:avLst/>
          </a:prstGeom>
          <a:noFill/>
          <a:ln w="6350">
            <a:solidFill>
              <a:srgbClr val="34323E"/>
            </a:solidFill>
            <a:prstDash val="solid"/>
          </a:ln>
        </p:spPr>
      </p:sp>
      <p:sp>
        <p:nvSpPr>
          <p:cNvPr id="20" name="Text 18"/>
          <p:cNvSpPr txBox="1"/>
          <p:nvPr/>
        </p:nvSpPr>
        <p:spPr>
          <a:xfrm>
            <a:off x="749808" y="3977640"/>
            <a:ext cx="1691640" cy="164592"/>
          </a:xfrm>
          <a:prstGeom prst="rect">
            <a:avLst/>
          </a:prstGeom>
          <a:noFill/>
          <a:ln/>
        </p:spPr>
        <p:txBody>
          <a:bodyPr wrap="square" lIns="0" tIns="0" rIns="0" bIns="0" rtlCol="0" anchor="t">
            <a:normAutofit/>
          </a:bodyPr>
          <a:lstStyle/>
          <a:p>
            <a:pPr algn="l" indent="0" marL="0">
              <a:buNone/>
            </a:pPr>
            <a:r>
              <a:rPr lang="en-US" sz="800" b="1" spc="70" kern="0" dirty="0">
                <a:solidFill>
                  <a:srgbClr val="7CC7A5"/>
                </a:solidFill>
                <a:latin typeface="Courier New" pitchFamily="34" charset="0"/>
                <a:ea typeface="Courier New" pitchFamily="34" charset="-122"/>
                <a:cs typeface="Courier New" pitchFamily="34" charset="-120"/>
              </a:rPr>
              <a:t>TECHNICAL TRUTH</a:t>
            </a:r>
            <a:endParaRPr lang="en-US" sz="800" dirty="0"/>
          </a:p>
        </p:txBody>
      </p:sp>
      <p:sp>
        <p:nvSpPr>
          <p:cNvPr id="21" name="Text 19"/>
          <p:cNvSpPr txBox="1"/>
          <p:nvPr/>
        </p:nvSpPr>
        <p:spPr>
          <a:xfrm>
            <a:off x="2578608" y="3922776"/>
            <a:ext cx="3977640" cy="246888"/>
          </a:xfrm>
          <a:prstGeom prst="rect">
            <a:avLst/>
          </a:prstGeom>
          <a:noFill/>
          <a:ln/>
        </p:spPr>
        <p:txBody>
          <a:bodyPr wrap="square" lIns="0" tIns="0" rIns="0" bIns="0" rtlCol="0" anchor="ctr">
            <a:normAutofit/>
          </a:bodyPr>
          <a:lstStyle/>
          <a:p>
            <a:pPr algn="l" indent="0" marL="0">
              <a:buNone/>
            </a:pPr>
            <a:r>
              <a:rPr lang="en-US" sz="780" b="1" dirty="0">
                <a:solidFill>
                  <a:srgbClr val="E8E6E0"/>
                </a:solidFill>
                <a:latin typeface="Courier New" pitchFamily="34" charset="0"/>
                <a:ea typeface="Courier New" pitchFamily="34" charset="-122"/>
                <a:cs typeface="Courier New" pitchFamily="34" charset="-120"/>
              </a:rPr>
              <a:t>README.md  •  docs/ARCHITECTURE.md  •  SPEC.md  •  current source</a:t>
            </a:r>
            <a:endParaRPr lang="en-US" sz="780" dirty="0"/>
          </a:p>
        </p:txBody>
      </p:sp>
      <p:sp>
        <p:nvSpPr>
          <p:cNvPr id="22" name="Text 20"/>
          <p:cNvSpPr txBox="1"/>
          <p:nvPr/>
        </p:nvSpPr>
        <p:spPr>
          <a:xfrm>
            <a:off x="6748272" y="3931920"/>
            <a:ext cx="4352544" cy="265176"/>
          </a:xfrm>
          <a:prstGeom prst="rect">
            <a:avLst/>
          </a:prstGeom>
          <a:noFill/>
          <a:ln/>
        </p:spPr>
        <p:txBody>
          <a:bodyPr wrap="square" lIns="0" tIns="0" rIns="0" bIns="0" rtlCol="0" anchor="t">
            <a:normAutofit/>
          </a:bodyPr>
          <a:lstStyle/>
          <a:p>
            <a:pPr algn="l" indent="0" marL="0">
              <a:buNone/>
            </a:pPr>
            <a:r>
              <a:rPr lang="en-US" sz="960" dirty="0">
                <a:solidFill>
                  <a:srgbClr val="9A97A3"/>
                </a:solidFill>
                <a:latin typeface="Arial" pitchFamily="34" charset="0"/>
                <a:ea typeface="Arial" pitchFamily="34" charset="-122"/>
                <a:cs typeface="Arial" pitchFamily="34" charset="-120"/>
              </a:rPr>
              <a:t>Implemented behavior, data flow, operating constraints, and production gaps</a:t>
            </a:r>
            <a:endParaRPr lang="en-US" sz="960" dirty="0"/>
          </a:p>
        </p:txBody>
      </p:sp>
      <p:sp>
        <p:nvSpPr>
          <p:cNvPr id="23" name="Shape 21"/>
          <p:cNvSpPr/>
          <p:nvPr/>
        </p:nvSpPr>
        <p:spPr>
          <a:xfrm>
            <a:off x="749808" y="4398264"/>
            <a:ext cx="10442448" cy="0"/>
          </a:xfrm>
          <a:prstGeom prst="line">
            <a:avLst/>
          </a:prstGeom>
          <a:noFill/>
          <a:ln w="6350">
            <a:solidFill>
              <a:srgbClr val="34323E"/>
            </a:solidFill>
            <a:prstDash val="solid"/>
          </a:ln>
        </p:spPr>
      </p:sp>
      <p:sp>
        <p:nvSpPr>
          <p:cNvPr id="24" name="Text 22"/>
          <p:cNvSpPr txBox="1"/>
          <p:nvPr/>
        </p:nvSpPr>
        <p:spPr>
          <a:xfrm>
            <a:off x="749808" y="4700016"/>
            <a:ext cx="1691640" cy="164592"/>
          </a:xfrm>
          <a:prstGeom prst="rect">
            <a:avLst/>
          </a:prstGeom>
          <a:noFill/>
          <a:ln/>
        </p:spPr>
        <p:txBody>
          <a:bodyPr wrap="square" lIns="0" tIns="0" rIns="0" bIns="0" rtlCol="0" anchor="t">
            <a:normAutofit/>
          </a:bodyPr>
          <a:lstStyle/>
          <a:p>
            <a:pPr algn="l" indent="0" marL="0">
              <a:buNone/>
            </a:pPr>
            <a:r>
              <a:rPr lang="en-US" sz="800" b="1" spc="70" kern="0" dirty="0">
                <a:solidFill>
                  <a:srgbClr val="6FB3E8"/>
                </a:solidFill>
                <a:latin typeface="Courier New" pitchFamily="34" charset="0"/>
                <a:ea typeface="Courier New" pitchFamily="34" charset="-122"/>
                <a:cs typeface="Courier New" pitchFamily="34" charset="-120"/>
              </a:rPr>
              <a:t>EXTERNAL CORRECTION</a:t>
            </a:r>
            <a:endParaRPr lang="en-US" sz="800" dirty="0"/>
          </a:p>
        </p:txBody>
      </p:sp>
      <p:sp>
        <p:nvSpPr>
          <p:cNvPr id="25" name="Text 23">
            <a:hlinkClick r:id="rId1" tooltip=""/>
          </p:cNvPr>
          <p:cNvSpPr txBox="1"/>
          <p:nvPr/>
        </p:nvSpPr>
        <p:spPr>
          <a:xfrm>
            <a:off x="2578608" y="4645152"/>
            <a:ext cx="3977640" cy="246888"/>
          </a:xfrm>
          <a:prstGeom prst="rect">
            <a:avLst/>
          </a:prstGeom>
          <a:noFill/>
          <a:ln/>
        </p:spPr>
        <p:txBody>
          <a:bodyPr wrap="square" lIns="0" tIns="0" rIns="0" bIns="0" rtlCol="0" anchor="ctr">
            <a:normAutofit/>
          </a:bodyPr>
          <a:lstStyle/>
          <a:p>
            <a:pPr algn="l" indent="0" marL="0">
              <a:buNone/>
            </a:pPr>
            <a:r>
              <a:rPr lang="en-US" sz="780" b="1" u="sng" dirty="0">
                <a:solidFill>
                  <a:srgbClr val="E8E6E0"/>
                </a:solidFill>
                <a:latin typeface="Courier New" pitchFamily="34" charset="0"/>
                <a:ea typeface="Courier New" pitchFamily="34" charset="-122"/>
                <a:cs typeface="Courier New" pitchFamily="34" charset="-120"/>
                <a:hlinkClick r:id="rId1" invalidUrl="" action="" tgtFrame="" tooltip="" history="1" highlightClick="0" endSnd="0">
                  <a:extLst>
                    <a:ext uri="{A12FA001-AC4F-418D-AE19-62706E023703}">
                      <ahyp:hlinkClr xmlns:ahyp="http://schemas.microsoft.com/office/drawing/2018/hyperlinkcolor" val="tx"/>
                    </a:ext>
                  </a:extLst>
                </a:hlinkClick>
              </a:rPr>
              <a:t>Google Business Messages discontinuation notice</a:t>
            </a:r>
            <a:endParaRPr lang="en-US" sz="780" dirty="0"/>
          </a:p>
        </p:txBody>
      </p:sp>
      <p:sp>
        <p:nvSpPr>
          <p:cNvPr id="26" name="Text 24"/>
          <p:cNvSpPr txBox="1"/>
          <p:nvPr/>
        </p:nvSpPr>
        <p:spPr>
          <a:xfrm>
            <a:off x="6748272" y="4654296"/>
            <a:ext cx="4352544" cy="265176"/>
          </a:xfrm>
          <a:prstGeom prst="rect">
            <a:avLst/>
          </a:prstGeom>
          <a:noFill/>
          <a:ln/>
        </p:spPr>
        <p:txBody>
          <a:bodyPr wrap="square" lIns="0" tIns="0" rIns="0" bIns="0" rtlCol="0" anchor="t">
            <a:normAutofit/>
          </a:bodyPr>
          <a:lstStyle/>
          <a:p>
            <a:pPr algn="l" indent="0" marL="0">
              <a:buNone/>
            </a:pPr>
            <a:r>
              <a:rPr lang="en-US" sz="960" dirty="0">
                <a:solidFill>
                  <a:srgbClr val="9A97A3"/>
                </a:solidFill>
                <a:latin typeface="Arial" pitchFamily="34" charset="0"/>
                <a:ea typeface="Arial" pitchFamily="34" charset="-122"/>
                <a:cs typeface="Arial" pitchFamily="34" charset="-120"/>
              </a:rPr>
              <a:t>Official release note; service ended 31 July 2024</a:t>
            </a:r>
            <a:endParaRPr lang="en-US" sz="960" dirty="0"/>
          </a:p>
        </p:txBody>
      </p:sp>
      <p:sp>
        <p:nvSpPr>
          <p:cNvPr id="27" name="Shape 25"/>
          <p:cNvSpPr/>
          <p:nvPr/>
        </p:nvSpPr>
        <p:spPr>
          <a:xfrm>
            <a:off x="749808" y="5120640"/>
            <a:ext cx="10442448" cy="0"/>
          </a:xfrm>
          <a:prstGeom prst="line">
            <a:avLst/>
          </a:prstGeom>
          <a:noFill/>
          <a:ln w="6350">
            <a:solidFill>
              <a:srgbClr val="34323E"/>
            </a:solidFill>
            <a:prstDash val="solid"/>
          </a:ln>
        </p:spPr>
      </p:sp>
      <p:sp>
        <p:nvSpPr>
          <p:cNvPr id="28" name="Shape 26"/>
          <p:cNvSpPr/>
          <p:nvPr/>
        </p:nvSpPr>
        <p:spPr>
          <a:xfrm>
            <a:off x="749808" y="5513832"/>
            <a:ext cx="5056632" cy="548640"/>
          </a:xfrm>
          <a:prstGeom prst="roundRect">
            <a:avLst/>
          </a:prstGeom>
          <a:solidFill>
            <a:srgbClr val="3D3320"/>
          </a:solidFill>
          <a:ln w="10160">
            <a:solidFill>
              <a:srgbClr val="E8A33D"/>
            </a:solidFill>
            <a:prstDash val="solid"/>
          </a:ln>
        </p:spPr>
      </p:sp>
      <p:sp>
        <p:nvSpPr>
          <p:cNvPr id="29" name="Text 27"/>
          <p:cNvSpPr txBox="1"/>
          <p:nvPr/>
        </p:nvSpPr>
        <p:spPr>
          <a:xfrm>
            <a:off x="969264" y="5641848"/>
            <a:ext cx="4617720" cy="283464"/>
          </a:xfrm>
          <a:prstGeom prst="rect">
            <a:avLst/>
          </a:prstGeom>
          <a:noFill/>
          <a:ln/>
        </p:spPr>
        <p:txBody>
          <a:bodyPr wrap="square" lIns="0" tIns="0" rIns="0" bIns="0" rtlCol="0" anchor="t">
            <a:normAutofit/>
          </a:bodyPr>
          <a:lstStyle/>
          <a:p>
            <a:pPr algn="ctr" indent="0" marL="0">
              <a:buNone/>
            </a:pPr>
            <a:r>
              <a:rPr lang="en-US" sz="860" b="1" dirty="0">
                <a:solidFill>
                  <a:srgbClr val="E8E6E0"/>
                </a:solidFill>
                <a:latin typeface="Courier New" pitchFamily="34" charset="0"/>
                <a:ea typeface="Courier New" pitchFamily="34" charset="-122"/>
                <a:cs typeface="Courier New" pitchFamily="34" charset="-120"/>
              </a:rPr>
              <a:t>CURRENT = proven in this repository</a:t>
            </a:r>
            <a:endParaRPr lang="en-US" sz="860" dirty="0"/>
          </a:p>
          <a:p>
            <a:pPr algn="ctr" indent="0" marL="0">
              <a:buNone/>
            </a:pPr>
            <a:r>
              <a:rPr lang="en-US" sz="860" b="1" dirty="0">
                <a:solidFill>
                  <a:srgbClr val="E8E6E0"/>
                </a:solidFill>
                <a:latin typeface="Courier New" pitchFamily="34" charset="0"/>
                <a:ea typeface="Courier New" pitchFamily="34" charset="-122"/>
                <a:cs typeface="Courier New" pitchFamily="34" charset="-120"/>
              </a:rPr>
              <a:t>PROPOSED = recommended new platform work</a:t>
            </a:r>
            <a:endParaRPr lang="en-US" sz="860" dirty="0"/>
          </a:p>
        </p:txBody>
      </p:sp>
      <p:sp>
        <p:nvSpPr>
          <p:cNvPr id="30" name="Shape 28"/>
          <p:cNvSpPr/>
          <p:nvPr/>
        </p:nvSpPr>
        <p:spPr>
          <a:xfrm>
            <a:off x="6163056" y="5513832"/>
            <a:ext cx="5056632" cy="548640"/>
          </a:xfrm>
          <a:prstGeom prst="roundRect">
            <a:avLst/>
          </a:prstGeom>
          <a:solidFill>
            <a:srgbClr val="3D2020"/>
          </a:solidFill>
          <a:ln w="10160">
            <a:solidFill>
              <a:srgbClr val="E86F6F"/>
            </a:solidFill>
            <a:prstDash val="solid"/>
          </a:ln>
        </p:spPr>
      </p:sp>
      <p:sp>
        <p:nvSpPr>
          <p:cNvPr id="31" name="Text 29"/>
          <p:cNvSpPr txBox="1"/>
          <p:nvPr/>
        </p:nvSpPr>
        <p:spPr>
          <a:xfrm>
            <a:off x="6382512" y="5641848"/>
            <a:ext cx="4617720" cy="283464"/>
          </a:xfrm>
          <a:prstGeom prst="rect">
            <a:avLst/>
          </a:prstGeom>
          <a:noFill/>
          <a:ln/>
        </p:spPr>
        <p:txBody>
          <a:bodyPr wrap="square" lIns="0" tIns="0" rIns="0" bIns="0" rtlCol="0" anchor="t">
            <a:normAutofit/>
          </a:bodyPr>
          <a:lstStyle/>
          <a:p>
            <a:pPr algn="ctr" indent="0" marL="0">
              <a:buNone/>
            </a:pPr>
            <a:r>
              <a:rPr lang="en-US" sz="910" b="1" dirty="0">
                <a:solidFill>
                  <a:srgbClr val="E8E6E0"/>
                </a:solidFill>
                <a:latin typeface="Arial" pitchFamily="34" charset="0"/>
                <a:ea typeface="Arial" pitchFamily="34" charset="-122"/>
                <a:cs typeface="Arial" pitchFamily="34" charset="-120"/>
              </a:rPr>
              <a:t>No mock screen, logo, or connector icon should imply</a:t>
            </a:r>
            <a:endParaRPr lang="en-US" sz="910" dirty="0"/>
          </a:p>
          <a:p>
            <a:pPr algn="ctr" indent="0" marL="0">
              <a:buNone/>
            </a:pPr>
            <a:r>
              <a:rPr lang="en-US" sz="910" b="1" dirty="0">
                <a:solidFill>
                  <a:srgbClr val="E8E6E0"/>
                </a:solidFill>
                <a:latin typeface="Arial" pitchFamily="34" charset="0"/>
                <a:ea typeface="Arial" pitchFamily="34" charset="-122"/>
                <a:cs typeface="Arial" pitchFamily="34" charset="-120"/>
              </a:rPr>
              <a:t>a deployed capability that the repository does not contain.</a:t>
            </a:r>
            <a:endParaRPr lang="en-US" sz="910" dirty="0"/>
          </a:p>
        </p:txBody>
      </p:sp>
      <p:sp>
        <p:nvSpPr>
          <p:cNvPr id="25" name="Slide Number Placeholder 0"/>
          <p:cNvSpPr>
            <a:spLocks noGrp="1"/>
          </p:cNvSpPr>
          <p:nvPr>
            <p:ph type="sldNum" sz="quarter" idx="4294967295"/>
          </p:nvPr>
        </p:nvSpPr>
        <p:spPr>
          <a:xfrm>
            <a:off x="11109960" y="6483096"/>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9A97A3"/>
                </a:solidFill>
                <a:latin typeface="Courier New"/>
                <a:ea typeface="Courier New"/>
                <a:cs typeface="Courier New"/>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Cybic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Cybic Voice Intelligence to Agentic AI Customer Engagement</dc:title>
  <dc:subject>Current voice-intelligence capability, selective proposal alignment, and expansion path</dc:subject>
  <dc:creator>Cybic</dc:creator>
  <cp:lastModifiedBy>Cybic</cp:lastModifiedBy>
  <cp:revision>1</cp:revision>
  <dcterms:created xsi:type="dcterms:W3CDTF">2026-08-19T13:07:03Z</dcterms:created>
  <dcterms:modified xsi:type="dcterms:W3CDTF">2026-08-19T13:07:03Z</dcterms:modified>
</cp:coreProperties>
</file>