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Ambient feature overview — current implementation only
Hear both sides: native PipeWire/WASAPI capture, microphone plus system audio, all-endpoint monitoring, automatic active-source selection, silence health warnings, device picker, WebRTC noise suppression and automatic gain control.
Understand selectively: local Faster-Whisper, heuristic fast path, local Ollama semantic gate, direct/indirect/command asks, per-channel policies, VAD-fragment merging, short-session transcript and Q&amp;A context, profiles for Topic/Background/Vocabulary, dedupe, cross-channel echo suppression, rehearsal suppression, and concurrent gate/answer work.
Answer and voice: streaming cue/interview/terse answer styles, selective web lookup for changing facts, multiple answers in flight, local TUI and opt-in local web console, optional Linux Kokoro TTS with espeak fallback, Normal/Conversational delivery, mute, repeat/reuse of the last answer, cross-instance speaking lease, capture muting and answer-echo suppression.
Quality and operations: answer verification when enabled, missed-question sweep, force-answer, live gate decision reasons, JSONL logs with stage latencies, replay, single-pipeline process lock, guarded mode picker, and pinned emergency fallback.
Important boundary: this is a passive desktop agent-assist application. Local voice playback is not telephony integration, inbound/outbound call control, or full-duplex barge-in.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00" cy="199644"/>
          </a:xfrm>
          <a:prstGeom prst="rect">
            <a:avLst/>
          </a:prstGeom>
          <a:solidFill>
            <a:srgbClr val="3E6DF5"/>
          </a:solidFill>
          <a:ln w="12700">
            <a:solidFill>
              <a:srgbClr val="3E6D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0500"/>
            <a:ext cx="2971800" cy="199644"/>
          </a:xfrm>
          <a:prstGeom prst="rect">
            <a:avLst/>
          </a:prstGeom>
          <a:solidFill>
            <a:srgbClr val="486AF5"/>
          </a:solidFill>
          <a:ln w="12700">
            <a:solidFill>
              <a:srgbClr val="486A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1000"/>
            <a:ext cx="2971800" cy="199644"/>
          </a:xfrm>
          <a:prstGeom prst="rect">
            <a:avLst/>
          </a:prstGeom>
          <a:solidFill>
            <a:srgbClr val="5267F5"/>
          </a:solidFill>
          <a:ln w="12700">
            <a:solidFill>
              <a:srgbClr val="526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71500"/>
            <a:ext cx="2971800" cy="199644"/>
          </a:xfrm>
          <a:prstGeom prst="rect">
            <a:avLst/>
          </a:prstGeom>
          <a:solidFill>
            <a:srgbClr val="5C64F4"/>
          </a:solidFill>
          <a:ln w="12700">
            <a:solidFill>
              <a:srgbClr val="5C64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62000"/>
            <a:ext cx="2971800" cy="199644"/>
          </a:xfrm>
          <a:prstGeom prst="rect">
            <a:avLst/>
          </a:prstGeom>
          <a:solidFill>
            <a:srgbClr val="6661F4"/>
          </a:solidFill>
          <a:ln w="12700">
            <a:solidFill>
              <a:srgbClr val="666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952500"/>
            <a:ext cx="2971800" cy="199644"/>
          </a:xfrm>
          <a:prstGeom prst="rect">
            <a:avLst/>
          </a:prstGeom>
          <a:solidFill>
            <a:srgbClr val="715EF4"/>
          </a:solidFill>
          <a:ln w="12700">
            <a:solidFill>
              <a:srgbClr val="715E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143000"/>
            <a:ext cx="2971800" cy="199644"/>
          </a:xfrm>
          <a:prstGeom prst="rect">
            <a:avLst/>
          </a:prstGeom>
          <a:solidFill>
            <a:srgbClr val="7B5BF4"/>
          </a:solidFill>
          <a:ln w="12700">
            <a:solidFill>
              <a:srgbClr val="7B5B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33500"/>
            <a:ext cx="2971800" cy="199644"/>
          </a:xfrm>
          <a:prstGeom prst="rect">
            <a:avLst/>
          </a:prstGeom>
          <a:solidFill>
            <a:srgbClr val="8558F4"/>
          </a:solidFill>
          <a:ln w="12700">
            <a:solidFill>
              <a:srgbClr val="855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524000"/>
            <a:ext cx="2971800" cy="199644"/>
          </a:xfrm>
          <a:prstGeom prst="rect">
            <a:avLst/>
          </a:prstGeom>
          <a:solidFill>
            <a:srgbClr val="8F55F4"/>
          </a:solidFill>
          <a:ln w="12700">
            <a:solidFill>
              <a:srgbClr val="8F55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714500"/>
            <a:ext cx="2971800" cy="199644"/>
          </a:xfrm>
          <a:prstGeom prst="rect">
            <a:avLst/>
          </a:prstGeom>
          <a:solidFill>
            <a:srgbClr val="9952F3"/>
          </a:solidFill>
          <a:ln w="12700">
            <a:solidFill>
              <a:srgbClr val="9952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905000"/>
            <a:ext cx="2971800" cy="199644"/>
          </a:xfrm>
          <a:prstGeom prst="rect">
            <a:avLst/>
          </a:prstGeom>
          <a:solidFill>
            <a:srgbClr val="A34FF3"/>
          </a:solidFill>
          <a:ln w="12700">
            <a:solidFill>
              <a:srgbClr val="A34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095500"/>
            <a:ext cx="2971800" cy="199644"/>
          </a:xfrm>
          <a:prstGeom prst="rect">
            <a:avLst/>
          </a:prstGeom>
          <a:solidFill>
            <a:srgbClr val="AD4CF3"/>
          </a:solidFill>
          <a:ln w="12700">
            <a:solidFill>
              <a:srgbClr val="AD4C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286000"/>
            <a:ext cx="2971800" cy="199644"/>
          </a:xfrm>
          <a:prstGeom prst="rect">
            <a:avLst/>
          </a:prstGeom>
          <a:solidFill>
            <a:srgbClr val="B749F3"/>
          </a:solidFill>
          <a:ln w="12700">
            <a:solidFill>
              <a:srgbClr val="B749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476500"/>
            <a:ext cx="2971800" cy="199644"/>
          </a:xfrm>
          <a:prstGeom prst="rect">
            <a:avLst/>
          </a:prstGeom>
          <a:solidFill>
            <a:srgbClr val="C146F3"/>
          </a:solidFill>
          <a:ln w="12700">
            <a:solidFill>
              <a:srgbClr val="C146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667000"/>
            <a:ext cx="2971800" cy="199644"/>
          </a:xfrm>
          <a:prstGeom prst="rect">
            <a:avLst/>
          </a:prstGeom>
          <a:solidFill>
            <a:srgbClr val="CC43F3"/>
          </a:solidFill>
          <a:ln w="12700">
            <a:solidFill>
              <a:srgbClr val="CC43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857500"/>
            <a:ext cx="2971800" cy="199644"/>
          </a:xfrm>
          <a:prstGeom prst="rect">
            <a:avLst/>
          </a:prstGeom>
          <a:solidFill>
            <a:srgbClr val="D640F2"/>
          </a:solidFill>
          <a:ln w="12700">
            <a:solidFill>
              <a:srgbClr val="D640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048000"/>
            <a:ext cx="2971800" cy="199644"/>
          </a:xfrm>
          <a:prstGeom prst="rect">
            <a:avLst/>
          </a:prstGeom>
          <a:solidFill>
            <a:srgbClr val="E03DF2"/>
          </a:solidFill>
          <a:ln w="12700">
            <a:solidFill>
              <a:srgbClr val="E03D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238500"/>
            <a:ext cx="2971800" cy="199644"/>
          </a:xfrm>
          <a:prstGeom prst="rect">
            <a:avLst/>
          </a:prstGeom>
          <a:solidFill>
            <a:srgbClr val="EA3AF2"/>
          </a:solidFill>
          <a:ln w="12700">
            <a:solidFill>
              <a:srgbClr val="EA3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429000"/>
            <a:ext cx="2971800" cy="199644"/>
          </a:xfrm>
          <a:prstGeom prst="rect">
            <a:avLst/>
          </a:prstGeom>
          <a:solidFill>
            <a:srgbClr val="E937F0"/>
          </a:solidFill>
          <a:ln w="12700">
            <a:solidFill>
              <a:srgbClr val="E93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619500"/>
            <a:ext cx="2971800" cy="199644"/>
          </a:xfrm>
          <a:prstGeom prst="rect">
            <a:avLst/>
          </a:prstGeom>
          <a:solidFill>
            <a:srgbClr val="DE35ED"/>
          </a:solidFill>
          <a:ln w="12700">
            <a:solidFill>
              <a:srgbClr val="DE35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810000"/>
            <a:ext cx="2971800" cy="199644"/>
          </a:xfrm>
          <a:prstGeom prst="rect">
            <a:avLst/>
          </a:prstGeom>
          <a:solidFill>
            <a:srgbClr val="D233EA"/>
          </a:solidFill>
          <a:ln w="12700">
            <a:solidFill>
              <a:srgbClr val="D23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000500"/>
            <a:ext cx="2971800" cy="199644"/>
          </a:xfrm>
          <a:prstGeom prst="rect">
            <a:avLst/>
          </a:prstGeom>
          <a:solidFill>
            <a:srgbClr val="C631E6"/>
          </a:solidFill>
          <a:ln w="12700">
            <a:solidFill>
              <a:srgbClr val="C631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191000"/>
            <a:ext cx="2971800" cy="199644"/>
          </a:xfrm>
          <a:prstGeom prst="rect">
            <a:avLst/>
          </a:prstGeom>
          <a:solidFill>
            <a:srgbClr val="BB2FE3"/>
          </a:solidFill>
          <a:ln w="12700">
            <a:solidFill>
              <a:srgbClr val="BB2F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1500"/>
            <a:ext cx="2971800" cy="199644"/>
          </a:xfrm>
          <a:prstGeom prst="rect">
            <a:avLst/>
          </a:prstGeom>
          <a:solidFill>
            <a:srgbClr val="AF2DE0"/>
          </a:solidFill>
          <a:ln w="12700">
            <a:solidFill>
              <a:srgbClr val="AF2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572000"/>
            <a:ext cx="2971800" cy="199644"/>
          </a:xfrm>
          <a:prstGeom prst="rect">
            <a:avLst/>
          </a:prstGeom>
          <a:solidFill>
            <a:srgbClr val="A42BDC"/>
          </a:solidFill>
          <a:ln w="12700">
            <a:solidFill>
              <a:srgbClr val="A42B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762500"/>
            <a:ext cx="2971800" cy="199644"/>
          </a:xfrm>
          <a:prstGeom prst="rect">
            <a:avLst/>
          </a:prstGeom>
          <a:solidFill>
            <a:srgbClr val="9829D9"/>
          </a:solidFill>
          <a:ln w="12700">
            <a:solidFill>
              <a:srgbClr val="982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53000"/>
            <a:ext cx="2971800" cy="199644"/>
          </a:xfrm>
          <a:prstGeom prst="rect">
            <a:avLst/>
          </a:prstGeom>
          <a:solidFill>
            <a:srgbClr val="8C27D6"/>
          </a:solidFill>
          <a:ln w="12700">
            <a:solidFill>
              <a:srgbClr val="8C27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143500"/>
            <a:ext cx="2971800" cy="199644"/>
          </a:xfrm>
          <a:prstGeom prst="rect">
            <a:avLst/>
          </a:prstGeom>
          <a:solidFill>
            <a:srgbClr val="8126D3"/>
          </a:solidFill>
          <a:ln w="12700">
            <a:solidFill>
              <a:srgbClr val="8126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334000"/>
            <a:ext cx="2971800" cy="199644"/>
          </a:xfrm>
          <a:prstGeom prst="rect">
            <a:avLst/>
          </a:prstGeom>
          <a:solidFill>
            <a:srgbClr val="7524CF"/>
          </a:solidFill>
          <a:ln w="12700">
            <a:solidFill>
              <a:srgbClr val="7524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5524500"/>
            <a:ext cx="2971800" cy="199644"/>
          </a:xfrm>
          <a:prstGeom prst="rect">
            <a:avLst/>
          </a:prstGeom>
          <a:solidFill>
            <a:srgbClr val="6A22CC"/>
          </a:solidFill>
          <a:ln w="12700">
            <a:solidFill>
              <a:srgbClr val="6A22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715000"/>
            <a:ext cx="2971800" cy="199644"/>
          </a:xfrm>
          <a:prstGeom prst="rect">
            <a:avLst/>
          </a:prstGeom>
          <a:solidFill>
            <a:srgbClr val="5E20C9"/>
          </a:solidFill>
          <a:ln w="12700">
            <a:solidFill>
              <a:srgbClr val="5E20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05500"/>
            <a:ext cx="2971800" cy="199644"/>
          </a:xfrm>
          <a:prstGeom prst="rect">
            <a:avLst/>
          </a:prstGeom>
          <a:solidFill>
            <a:srgbClr val="521EC5"/>
          </a:solidFill>
          <a:ln w="12700">
            <a:solidFill>
              <a:srgbClr val="521EC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096000"/>
            <a:ext cx="2971800" cy="199644"/>
          </a:xfrm>
          <a:prstGeom prst="rect">
            <a:avLst/>
          </a:prstGeom>
          <a:solidFill>
            <a:srgbClr val="471CC2"/>
          </a:solidFill>
          <a:ln w="12700">
            <a:solidFill>
              <a:srgbClr val="471C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86500"/>
            <a:ext cx="2971800" cy="199644"/>
          </a:xfrm>
          <a:prstGeom prst="rect">
            <a:avLst/>
          </a:prstGeom>
          <a:solidFill>
            <a:srgbClr val="3B1ABF"/>
          </a:solidFill>
          <a:ln w="12700">
            <a:solidFill>
              <a:srgbClr val="3B1A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477000"/>
            <a:ext cx="2971800" cy="199644"/>
          </a:xfrm>
          <a:prstGeom prst="rect">
            <a:avLst/>
          </a:prstGeom>
          <a:solidFill>
            <a:srgbClr val="3018BB"/>
          </a:solidFill>
          <a:ln w="12700">
            <a:solidFill>
              <a:srgbClr val="3018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67500"/>
            <a:ext cx="2971800" cy="190500"/>
          </a:xfrm>
          <a:prstGeom prst="rect">
            <a:avLst/>
          </a:prstGeom>
          <a:solidFill>
            <a:srgbClr val="2416B8"/>
          </a:solidFill>
          <a:ln w="12700">
            <a:solidFill>
              <a:srgbClr val="2416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66944"/>
            <a:ext cx="2971800" cy="1591056"/>
          </a:xfrm>
          <a:prstGeom prst="rect">
            <a:avLst/>
          </a:prstGeom>
          <a:solidFill>
            <a:srgbClr val="17237A">
              <a:alpha val="84000"/>
            </a:srgbClr>
          </a:solidFill>
          <a:ln w="12700">
            <a:solidFill>
              <a:srgbClr val="17237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0040" y="141732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voice intelligence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hears both sides, filters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genuine information needs,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delivers contextual guidance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 or by voice.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384048" y="5577840"/>
            <a:ext cx="512064" cy="804672"/>
          </a:xfrm>
          <a:prstGeom prst="roundRect">
            <a:avLst/>
          </a:prstGeom>
          <a:solidFill>
            <a:srgbClr val="5DC6FF"/>
          </a:solidFill>
          <a:ln w="25400">
            <a:solidFill>
              <a:srgbClr val="E89B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" y="5669280"/>
            <a:ext cx="292608" cy="512064"/>
          </a:xfrm>
          <a:prstGeom prst="roundRect">
            <a:avLst/>
          </a:prstGeom>
          <a:solidFill>
            <a:srgbClr val="2416B8"/>
          </a:solidFill>
          <a:ln w="12700">
            <a:solidFill>
              <a:srgbClr val="2416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" y="6135624"/>
            <a:ext cx="0" cy="201168"/>
          </a:xfrm>
          <a:prstGeom prst="line">
            <a:avLst/>
          </a:prstGeom>
          <a:noFill/>
          <a:ln w="25400">
            <a:solidFill>
              <a:srgbClr val="5DC6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" y="6135624"/>
            <a:ext cx="0" cy="201168"/>
          </a:xfrm>
          <a:prstGeom prst="line">
            <a:avLst/>
          </a:prstGeom>
          <a:noFill/>
          <a:ln w="25400">
            <a:solidFill>
              <a:srgbClr val="5DC6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6336792"/>
            <a:ext cx="512064" cy="0"/>
          </a:xfrm>
          <a:prstGeom prst="line">
            <a:avLst/>
          </a:prstGeom>
          <a:noFill/>
          <a:ln w="25400">
            <a:solidFill>
              <a:srgbClr val="5DC6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6345936"/>
            <a:ext cx="0" cy="228600"/>
          </a:xfrm>
          <a:prstGeom prst="line">
            <a:avLst/>
          </a:prstGeom>
          <a:noFill/>
          <a:ln w="25400">
            <a:solidFill>
              <a:srgbClr val="5DC6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6565392"/>
            <a:ext cx="365760" cy="0"/>
          </a:xfrm>
          <a:prstGeom prst="line">
            <a:avLst/>
          </a:prstGeom>
          <a:noFill/>
          <a:ln w="25400">
            <a:solidFill>
              <a:srgbClr val="5DC6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8992" y="6071616"/>
            <a:ext cx="0" cy="219456"/>
          </a:xfrm>
          <a:prstGeom prst="line">
            <a:avLst/>
          </a:prstGeom>
          <a:noFill/>
          <a:ln w="26670">
            <a:solidFill>
              <a:srgbClr val="5DC6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84148" y="5989320"/>
            <a:ext cx="0" cy="384048"/>
          </a:xfrm>
          <a:prstGeom prst="line">
            <a:avLst/>
          </a:prstGeom>
          <a:noFill/>
          <a:ln w="26670">
            <a:solidFill>
              <a:srgbClr val="F58A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89304" y="5870448"/>
            <a:ext cx="0" cy="621792"/>
          </a:xfrm>
          <a:prstGeom prst="line">
            <a:avLst/>
          </a:prstGeom>
          <a:noFill/>
          <a:ln w="26670">
            <a:solidFill>
              <a:srgbClr val="5DC6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94460" y="5756148"/>
            <a:ext cx="0" cy="850392"/>
          </a:xfrm>
          <a:prstGeom prst="line">
            <a:avLst/>
          </a:prstGeom>
          <a:noFill/>
          <a:ln w="26670">
            <a:solidFill>
              <a:srgbClr val="F58A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99616" y="5916168"/>
            <a:ext cx="0" cy="530352"/>
          </a:xfrm>
          <a:prstGeom prst="line">
            <a:avLst/>
          </a:prstGeom>
          <a:noFill/>
          <a:ln w="26670">
            <a:solidFill>
              <a:srgbClr val="5DC6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04772" y="6025896"/>
            <a:ext cx="0" cy="310896"/>
          </a:xfrm>
          <a:prstGeom prst="line">
            <a:avLst/>
          </a:prstGeom>
          <a:noFill/>
          <a:ln w="26670">
            <a:solidFill>
              <a:srgbClr val="F58AF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09928" y="5897880"/>
            <a:ext cx="0" cy="566928"/>
          </a:xfrm>
          <a:prstGeom prst="line">
            <a:avLst/>
          </a:prstGeom>
          <a:noFill/>
          <a:ln w="26670">
            <a:solidFill>
              <a:srgbClr val="5DC6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5788152"/>
            <a:ext cx="0" cy="786384"/>
          </a:xfrm>
          <a:prstGeom prst="line">
            <a:avLst/>
          </a:prstGeom>
          <a:noFill/>
          <a:ln w="26670">
            <a:solidFill>
              <a:srgbClr val="F58AF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5961888"/>
            <a:ext cx="0" cy="438912"/>
          </a:xfrm>
          <a:prstGeom prst="line">
            <a:avLst/>
          </a:prstGeom>
          <a:noFill/>
          <a:ln w="26670">
            <a:solidFill>
              <a:srgbClr val="5DC6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25396" y="6067044"/>
            <a:ext cx="0" cy="228600"/>
          </a:xfrm>
          <a:prstGeom prst="line">
            <a:avLst/>
          </a:prstGeom>
          <a:noFill/>
          <a:ln w="26670">
            <a:solidFill>
              <a:srgbClr val="F58AF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30552" y="5929884"/>
            <a:ext cx="0" cy="502920"/>
          </a:xfrm>
          <a:prstGeom prst="line">
            <a:avLst/>
          </a:prstGeom>
          <a:noFill/>
          <a:ln w="26670">
            <a:solidFill>
              <a:srgbClr val="5DC6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35708" y="5833872"/>
            <a:ext cx="0" cy="694944"/>
          </a:xfrm>
          <a:prstGeom prst="line">
            <a:avLst/>
          </a:prstGeom>
          <a:noFill/>
          <a:ln w="26670">
            <a:solidFill>
              <a:srgbClr val="F58AF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40864" y="6007608"/>
            <a:ext cx="0" cy="347472"/>
          </a:xfrm>
          <a:prstGeom prst="line">
            <a:avLst/>
          </a:prstGeom>
          <a:noFill/>
          <a:ln w="26670">
            <a:solidFill>
              <a:srgbClr val="5DC6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46020" y="6089904"/>
            <a:ext cx="0" cy="182880"/>
          </a:xfrm>
          <a:prstGeom prst="line">
            <a:avLst/>
          </a:prstGeom>
          <a:noFill/>
          <a:ln w="26670">
            <a:solidFill>
              <a:srgbClr val="F58AF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685032" y="265176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140" kern="0" dirty="0">
                <a:solidFill>
                  <a:srgbClr val="36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</a:t>
            </a:r>
            <a:endParaRPr lang="en-US" sz="3000" dirty="0"/>
          </a:p>
        </p:txBody>
      </p:sp>
      <p:sp>
        <p:nvSpPr>
          <p:cNvPr id="62" name="Text 60"/>
          <p:cNvSpPr txBox="1"/>
          <p:nvPr/>
        </p:nvSpPr>
        <p:spPr>
          <a:xfrm>
            <a:off x="3685032" y="82296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6E6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Real-time, context-aware voice intelligence for live conversations</a:t>
            </a:r>
            <a:endParaRPr lang="en-US" sz="1550" dirty="0"/>
          </a:p>
        </p:txBody>
      </p:sp>
      <p:sp>
        <p:nvSpPr>
          <p:cNvPr id="63" name="Shape 61"/>
          <p:cNvSpPr/>
          <p:nvPr/>
        </p:nvSpPr>
        <p:spPr>
          <a:xfrm>
            <a:off x="9628632" y="347472"/>
            <a:ext cx="1993392" cy="292608"/>
          </a:xfrm>
          <a:prstGeom prst="roundRect">
            <a:avLst/>
          </a:prstGeom>
          <a:solidFill>
            <a:srgbClr val="F5EEFF"/>
          </a:solidFill>
          <a:ln w="10160">
            <a:solidFill>
              <a:srgbClr val="7A42E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683496" y="411480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7A4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PRODUCT CAPABILITIES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3675888" y="1417320"/>
            <a:ext cx="6812280" cy="12070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AE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75888" y="1417320"/>
            <a:ext cx="109728" cy="1207008"/>
          </a:xfrm>
          <a:prstGeom prst="roundRect">
            <a:avLst/>
          </a:prstGeom>
          <a:solidFill>
            <a:srgbClr val="3E6DF5"/>
          </a:solidFill>
          <a:ln w="12700">
            <a:solidFill>
              <a:srgbClr val="3E6DF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13632" y="1645920"/>
            <a:ext cx="420624" cy="420624"/>
          </a:xfrm>
          <a:prstGeom prst="ellipse">
            <a:avLst/>
          </a:prstGeom>
          <a:solidFill>
            <a:srgbClr val="EDF3FF"/>
          </a:solidFill>
          <a:ln w="13970">
            <a:solidFill>
              <a:srgbClr val="3E6DF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991356" y="1755648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E6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30" dirty="0"/>
          </a:p>
        </p:txBody>
      </p:sp>
      <p:sp>
        <p:nvSpPr>
          <p:cNvPr id="69" name="Text 67"/>
          <p:cNvSpPr txBox="1"/>
          <p:nvPr/>
        </p:nvSpPr>
        <p:spPr>
          <a:xfrm>
            <a:off x="4498848" y="1600200"/>
            <a:ext cx="5596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spc="40" kern="0" dirty="0">
                <a:solidFill>
                  <a:srgbClr val="3E6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BOTH SIDES — RELIABLY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4498848" y="192938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E6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the microphone and every active system-audio endpoint through PipeWire or WASAPI. WebRTC noise suppression and automatic gain control improve microphone quality; live device meters, automatic endpoint handoff, and silence warnings expose capture problems instead of hiding them.</a:t>
            </a:r>
            <a:endParaRPr lang="en-US" sz="1060" dirty="0"/>
          </a:p>
        </p:txBody>
      </p:sp>
      <p:sp>
        <p:nvSpPr>
          <p:cNvPr id="71" name="Shape 69"/>
          <p:cNvSpPr/>
          <p:nvPr/>
        </p:nvSpPr>
        <p:spPr>
          <a:xfrm>
            <a:off x="3675888" y="2761488"/>
            <a:ext cx="6812280" cy="1353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AE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75888" y="2761488"/>
            <a:ext cx="109728" cy="1353312"/>
          </a:xfrm>
          <a:prstGeom prst="roundRect">
            <a:avLst/>
          </a:prstGeom>
          <a:solidFill>
            <a:srgbClr val="7A42EF"/>
          </a:solidFill>
          <a:ln w="12700">
            <a:solidFill>
              <a:srgbClr val="7A42E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913632" y="2990088"/>
            <a:ext cx="420624" cy="420624"/>
          </a:xfrm>
          <a:prstGeom prst="ellipse">
            <a:avLst/>
          </a:prstGeom>
          <a:solidFill>
            <a:srgbClr val="F5EEFF"/>
          </a:solidFill>
          <a:ln w="13970">
            <a:solidFill>
              <a:srgbClr val="7A42E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991356" y="3099816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7A4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30" dirty="0"/>
          </a:p>
        </p:txBody>
      </p:sp>
      <p:sp>
        <p:nvSpPr>
          <p:cNvPr id="75" name="Text 73"/>
          <p:cNvSpPr txBox="1"/>
          <p:nvPr/>
        </p:nvSpPr>
        <p:spPr>
          <a:xfrm>
            <a:off x="4498848" y="2944368"/>
            <a:ext cx="5596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spc="40" kern="0" dirty="0">
                <a:solidFill>
                  <a:srgbClr val="7A4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SELECTIVELY — WITH CONTEXT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4498848" y="3273552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E6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Faster-Whisper transcription feeds fast heuristics plus a local semantic gate for direct questions, indirect information requests, and command-style asks. Fragment merging, per-channel policies, deduplication, echo/rehearsal suppression, short-session history, configurable profiles, and concurrent gating keep answers relevant.</a:t>
            </a:r>
            <a:endParaRPr lang="en-US" sz="1060" dirty="0"/>
          </a:p>
        </p:txBody>
      </p:sp>
      <p:sp>
        <p:nvSpPr>
          <p:cNvPr id="77" name="Shape 75"/>
          <p:cNvSpPr/>
          <p:nvPr/>
        </p:nvSpPr>
        <p:spPr>
          <a:xfrm>
            <a:off x="3675888" y="4251960"/>
            <a:ext cx="6812280" cy="15179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AE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75888" y="4251960"/>
            <a:ext cx="109728" cy="1517904"/>
          </a:xfrm>
          <a:prstGeom prst="roundRect">
            <a:avLst/>
          </a:prstGeom>
          <a:solidFill>
            <a:srgbClr val="EF38F2"/>
          </a:solidFill>
          <a:ln w="12700">
            <a:solidFill>
              <a:srgbClr val="EF38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13632" y="4480560"/>
            <a:ext cx="420624" cy="420624"/>
          </a:xfrm>
          <a:prstGeom prst="ellipse">
            <a:avLst/>
          </a:prstGeom>
          <a:solidFill>
            <a:srgbClr val="ECFAFF"/>
          </a:solidFill>
          <a:ln w="13970">
            <a:solidFill>
              <a:srgbClr val="EF38F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991356" y="4590288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EF3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30" dirty="0"/>
          </a:p>
        </p:txBody>
      </p:sp>
      <p:sp>
        <p:nvSpPr>
          <p:cNvPr id="81" name="Text 79"/>
          <p:cNvSpPr txBox="1"/>
          <p:nvPr/>
        </p:nvSpPr>
        <p:spPr>
          <a:xfrm>
            <a:off x="4498848" y="4434840"/>
            <a:ext cx="5596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spc="40" kern="0" dirty="0">
                <a:solidFill>
                  <a:srgbClr val="EF3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ANSWER, SPEAK, VERIFY, AND REPLAY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4498848" y="4764024"/>
            <a:ext cx="5623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E6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concise cue cards to the terminal pane or local web console, with selective web lookup for changing facts and parallel answers for multiple questions. Optional local Kokoro/espeak voice adds Normal, Conversational, mute, repeat, and echo-control behavior. Audit, missed-question recovery, JSONL logs, badges, session replay, and a guarded emergency fallback support dependable demos and review.</a:t>
            </a:r>
            <a:endParaRPr lang="en-US" sz="1060" dirty="0"/>
          </a:p>
        </p:txBody>
      </p:sp>
      <p:sp>
        <p:nvSpPr>
          <p:cNvPr id="83" name="Shape 81"/>
          <p:cNvSpPr/>
          <p:nvPr/>
        </p:nvSpPr>
        <p:spPr>
          <a:xfrm>
            <a:off x="3675888" y="6007608"/>
            <a:ext cx="1234440" cy="292608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3E6DF5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730752" y="6071616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3E6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+ LINUX</a:t>
            </a:r>
            <a:endParaRPr lang="en-US" sz="720" dirty="0"/>
          </a:p>
        </p:txBody>
      </p:sp>
      <p:sp>
        <p:nvSpPr>
          <p:cNvPr id="85" name="Shape 83"/>
          <p:cNvSpPr/>
          <p:nvPr/>
        </p:nvSpPr>
        <p:spPr>
          <a:xfrm>
            <a:off x="5047488" y="6007608"/>
            <a:ext cx="1426464" cy="292608"/>
          </a:xfrm>
          <a:prstGeom prst="roundRect">
            <a:avLst/>
          </a:prstGeom>
          <a:solidFill>
            <a:srgbClr val="F5EEFF"/>
          </a:solidFill>
          <a:ln w="10160">
            <a:solidFill>
              <a:srgbClr val="7A42E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102352" y="6071616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7A4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 + WEB CONSOLE</a:t>
            </a:r>
            <a:endParaRPr lang="en-US" sz="720" dirty="0"/>
          </a:p>
        </p:txBody>
      </p:sp>
      <p:sp>
        <p:nvSpPr>
          <p:cNvPr id="87" name="Shape 85"/>
          <p:cNvSpPr/>
          <p:nvPr/>
        </p:nvSpPr>
        <p:spPr>
          <a:xfrm>
            <a:off x="6611112" y="6007608"/>
            <a:ext cx="1225296" cy="292608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3E6DF5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665976" y="607161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3E6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Q&amp;A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7973568" y="6007608"/>
            <a:ext cx="1298448" cy="292608"/>
          </a:xfrm>
          <a:prstGeom prst="roundRect">
            <a:avLst/>
          </a:prstGeom>
          <a:solidFill>
            <a:srgbClr val="F5EEFF"/>
          </a:solidFill>
          <a:ln w="10160">
            <a:solidFill>
              <a:srgbClr val="7A42E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028432" y="607161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7A4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PROFILES</a:t>
            </a:r>
            <a:endParaRPr lang="en-US" sz="720" dirty="0"/>
          </a:p>
        </p:txBody>
      </p:sp>
      <p:sp>
        <p:nvSpPr>
          <p:cNvPr id="91" name="Shape 89"/>
          <p:cNvSpPr/>
          <p:nvPr/>
        </p:nvSpPr>
        <p:spPr>
          <a:xfrm>
            <a:off x="9418320" y="6007608"/>
            <a:ext cx="1033272" cy="292608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3E6DF5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473184" y="6071616"/>
            <a:ext cx="923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3E6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MODES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10588752" y="6007608"/>
            <a:ext cx="1051560" cy="292608"/>
          </a:xfrm>
          <a:prstGeom prst="roundRect">
            <a:avLst/>
          </a:prstGeom>
          <a:solidFill>
            <a:srgbClr val="F5EEFF"/>
          </a:solidFill>
          <a:ln w="10160">
            <a:solidFill>
              <a:srgbClr val="7A42E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643616" y="6071616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7A4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+ REPLAY</a:t>
            </a:r>
            <a:endParaRPr lang="en-US" sz="720" dirty="0"/>
          </a:p>
        </p:txBody>
      </p:sp>
      <p:sp>
        <p:nvSpPr>
          <p:cNvPr id="95" name="Text 93"/>
          <p:cNvSpPr txBox="1"/>
          <p:nvPr/>
        </p:nvSpPr>
        <p:spPr>
          <a:xfrm>
            <a:off x="3703320" y="6446520"/>
            <a:ext cx="7827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i="1" dirty="0">
                <a:solidFill>
                  <a:srgbClr val="6E6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agent-assist system  •  Voice playback is currently Linux-only  •  No telephony call control or media injection</a:t>
            </a:r>
            <a:endParaRPr lang="en-US" sz="770" dirty="0"/>
          </a:p>
        </p:txBody>
      </p:sp>
      <p:sp>
        <p:nvSpPr>
          <p:cNvPr id="96" name="Text 94"/>
          <p:cNvSpPr txBox="1"/>
          <p:nvPr/>
        </p:nvSpPr>
        <p:spPr>
          <a:xfrm>
            <a:off x="11155680" y="664768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50" b="1" spc="120" kern="0" dirty="0">
                <a:solidFill>
                  <a:srgbClr val="6E6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CYBIC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Ambient — Real-Time Voice Intelligence</dc:title>
  <dc:subject>Ambient current product capabilities</dc:subject>
  <dc:creator>Cybic</dc:creator>
  <cp:lastModifiedBy>Cybic</cp:lastModifiedBy>
  <cp:revision>1</cp:revision>
  <dcterms:created xsi:type="dcterms:W3CDTF">2026-08-19T14:47:35Z</dcterms:created>
  <dcterms:modified xsi:type="dcterms:W3CDTF">2026-08-19T14:47:35Z</dcterms:modified>
</cp:coreProperties>
</file>